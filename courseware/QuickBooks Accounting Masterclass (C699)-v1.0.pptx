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8" r:id="rId9"/>
    <p:sldId id="259" r:id="rId10"/>
    <p:sldId id="260" r:id="rId11"/>
    <p:sldId id="261" r:id="rId12"/>
    <p:sldId id="264" r:id="rId15"/>
    <p:sldId id="265" r:id="rId16"/>
    <p:sldId id="266" r:id="rId17"/>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9" r:id="rId140"/>
    <p:sldId id="392" r:id="rId143"/>
    <p:sldId id="393" r:id="rId1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 Id="rId49" Type="http://schemas.openxmlformats.org/officeDocument/2006/relationships/slide" Target="slides/slide37.xml"/><Relationship Id="rId50" Type="http://schemas.openxmlformats.org/officeDocument/2006/relationships/slide" Target="slides/slide38.xml"/><Relationship Id="rId51" Type="http://schemas.openxmlformats.org/officeDocument/2006/relationships/slide" Target="slides/slide39.xml"/><Relationship Id="rId52" Type="http://schemas.openxmlformats.org/officeDocument/2006/relationships/slide" Target="slides/slide40.xml"/><Relationship Id="rId53" Type="http://schemas.openxmlformats.org/officeDocument/2006/relationships/slide" Target="slides/slide41.xml"/><Relationship Id="rId54" Type="http://schemas.openxmlformats.org/officeDocument/2006/relationships/slide" Target="slides/slide42.xml"/><Relationship Id="rId55" Type="http://schemas.openxmlformats.org/officeDocument/2006/relationships/slide" Target="slides/slide43.xml"/><Relationship Id="rId56" Type="http://schemas.openxmlformats.org/officeDocument/2006/relationships/slide" Target="slides/slide44.xml"/><Relationship Id="rId57" Type="http://schemas.openxmlformats.org/officeDocument/2006/relationships/slide" Target="slides/slide45.xml"/><Relationship Id="rId58" Type="http://schemas.openxmlformats.org/officeDocument/2006/relationships/slide" Target="slides/slide46.xml"/><Relationship Id="rId59" Type="http://schemas.openxmlformats.org/officeDocument/2006/relationships/slide" Target="slides/slide47.xml"/><Relationship Id="rId60" Type="http://schemas.openxmlformats.org/officeDocument/2006/relationships/slide" Target="slides/slide48.xml"/><Relationship Id="rId61" Type="http://schemas.openxmlformats.org/officeDocument/2006/relationships/slide" Target="slides/slide49.xml"/><Relationship Id="rId62" Type="http://schemas.openxmlformats.org/officeDocument/2006/relationships/slide" Target="slides/slide50.xml"/><Relationship Id="rId63" Type="http://schemas.openxmlformats.org/officeDocument/2006/relationships/slide" Target="slides/slide51.xml"/><Relationship Id="rId64" Type="http://schemas.openxmlformats.org/officeDocument/2006/relationships/slide" Target="slides/slide52.xml"/><Relationship Id="rId65" Type="http://schemas.openxmlformats.org/officeDocument/2006/relationships/slide" Target="slides/slide53.xml"/><Relationship Id="rId66" Type="http://schemas.openxmlformats.org/officeDocument/2006/relationships/slide" Target="slides/slide54.xml"/><Relationship Id="rId67" Type="http://schemas.openxmlformats.org/officeDocument/2006/relationships/slide" Target="slides/slide55.xml"/><Relationship Id="rId68" Type="http://schemas.openxmlformats.org/officeDocument/2006/relationships/slide" Target="slides/slide56.xml"/><Relationship Id="rId69" Type="http://schemas.openxmlformats.org/officeDocument/2006/relationships/slide" Target="slides/slide57.xml"/><Relationship Id="rId70" Type="http://schemas.openxmlformats.org/officeDocument/2006/relationships/slide" Target="slides/slide58.xml"/><Relationship Id="rId71" Type="http://schemas.openxmlformats.org/officeDocument/2006/relationships/slide" Target="slides/slide59.xml"/><Relationship Id="rId72" Type="http://schemas.openxmlformats.org/officeDocument/2006/relationships/slide" Target="slides/slide60.xml"/><Relationship Id="rId73" Type="http://schemas.openxmlformats.org/officeDocument/2006/relationships/slide" Target="slides/slide61.xml"/><Relationship Id="rId74" Type="http://schemas.openxmlformats.org/officeDocument/2006/relationships/slide" Target="slides/slide62.xml"/><Relationship Id="rId75" Type="http://schemas.openxmlformats.org/officeDocument/2006/relationships/slide" Target="slides/slide63.xml"/><Relationship Id="rId76" Type="http://schemas.openxmlformats.org/officeDocument/2006/relationships/slide" Target="slides/slide64.xml"/><Relationship Id="rId77" Type="http://schemas.openxmlformats.org/officeDocument/2006/relationships/slide" Target="slides/slide65.xml"/><Relationship Id="rId78" Type="http://schemas.openxmlformats.org/officeDocument/2006/relationships/slide" Target="slides/slide66.xml"/><Relationship Id="rId79" Type="http://schemas.openxmlformats.org/officeDocument/2006/relationships/slide" Target="slides/slide67.xml"/><Relationship Id="rId80" Type="http://schemas.openxmlformats.org/officeDocument/2006/relationships/slide" Target="slides/slide68.xml"/><Relationship Id="rId81" Type="http://schemas.openxmlformats.org/officeDocument/2006/relationships/slide" Target="slides/slide69.xml"/><Relationship Id="rId82" Type="http://schemas.openxmlformats.org/officeDocument/2006/relationships/slide" Target="slides/slide70.xml"/><Relationship Id="rId83" Type="http://schemas.openxmlformats.org/officeDocument/2006/relationships/slide" Target="slides/slide71.xml"/><Relationship Id="rId84" Type="http://schemas.openxmlformats.org/officeDocument/2006/relationships/slide" Target="slides/slide72.xml"/><Relationship Id="rId85" Type="http://schemas.openxmlformats.org/officeDocument/2006/relationships/slide" Target="slides/slide73.xml"/><Relationship Id="rId86" Type="http://schemas.openxmlformats.org/officeDocument/2006/relationships/slide" Target="slides/slide74.xml"/><Relationship Id="rId87" Type="http://schemas.openxmlformats.org/officeDocument/2006/relationships/slide" Target="slides/slide75.xml"/><Relationship Id="rId88" Type="http://schemas.openxmlformats.org/officeDocument/2006/relationships/slide" Target="slides/slide76.xml"/><Relationship Id="rId89" Type="http://schemas.openxmlformats.org/officeDocument/2006/relationships/slide" Target="slides/slide77.xml"/><Relationship Id="rId90" Type="http://schemas.openxmlformats.org/officeDocument/2006/relationships/slide" Target="slides/slide78.xml"/><Relationship Id="rId91" Type="http://schemas.openxmlformats.org/officeDocument/2006/relationships/slide" Target="slides/slide79.xml"/><Relationship Id="rId92" Type="http://schemas.openxmlformats.org/officeDocument/2006/relationships/slide" Target="slides/slide80.xml"/><Relationship Id="rId93" Type="http://schemas.openxmlformats.org/officeDocument/2006/relationships/slide" Target="slides/slide81.xml"/><Relationship Id="rId94" Type="http://schemas.openxmlformats.org/officeDocument/2006/relationships/slide" Target="slides/slide82.xml"/><Relationship Id="rId95" Type="http://schemas.openxmlformats.org/officeDocument/2006/relationships/slide" Target="slides/slide83.xml"/><Relationship Id="rId96" Type="http://schemas.openxmlformats.org/officeDocument/2006/relationships/slide" Target="slides/slide84.xml"/><Relationship Id="rId97" Type="http://schemas.openxmlformats.org/officeDocument/2006/relationships/slide" Target="slides/slide85.xml"/><Relationship Id="rId98" Type="http://schemas.openxmlformats.org/officeDocument/2006/relationships/slide" Target="slides/slide86.xml"/><Relationship Id="rId99" Type="http://schemas.openxmlformats.org/officeDocument/2006/relationships/slide" Target="slides/slide87.xml"/><Relationship Id="rId100" Type="http://schemas.openxmlformats.org/officeDocument/2006/relationships/slide" Target="slides/slide88.xml"/><Relationship Id="rId101" Type="http://schemas.openxmlformats.org/officeDocument/2006/relationships/slide" Target="slides/slide89.xml"/><Relationship Id="rId102" Type="http://schemas.openxmlformats.org/officeDocument/2006/relationships/slide" Target="slides/slide90.xml"/><Relationship Id="rId103" Type="http://schemas.openxmlformats.org/officeDocument/2006/relationships/slide" Target="slides/slide91.xml"/><Relationship Id="rId104" Type="http://schemas.openxmlformats.org/officeDocument/2006/relationships/slide" Target="slides/slide92.xml"/><Relationship Id="rId105" Type="http://schemas.openxmlformats.org/officeDocument/2006/relationships/slide" Target="slides/slide93.xml"/><Relationship Id="rId106" Type="http://schemas.openxmlformats.org/officeDocument/2006/relationships/slide" Target="slides/slide94.xml"/><Relationship Id="rId107" Type="http://schemas.openxmlformats.org/officeDocument/2006/relationships/slide" Target="slides/slide95.xml"/><Relationship Id="rId108" Type="http://schemas.openxmlformats.org/officeDocument/2006/relationships/slide" Target="slides/slide96.xml"/><Relationship Id="rId109" Type="http://schemas.openxmlformats.org/officeDocument/2006/relationships/slide" Target="slides/slide97.xml"/><Relationship Id="rId110" Type="http://schemas.openxmlformats.org/officeDocument/2006/relationships/slide" Target="slides/slide98.xml"/><Relationship Id="rId111" Type="http://schemas.openxmlformats.org/officeDocument/2006/relationships/slide" Target="slides/slide99.xml"/><Relationship Id="rId112" Type="http://schemas.openxmlformats.org/officeDocument/2006/relationships/slide" Target="slides/slide100.xml"/><Relationship Id="rId113" Type="http://schemas.openxmlformats.org/officeDocument/2006/relationships/slide" Target="slides/slide101.xml"/><Relationship Id="rId114" Type="http://schemas.openxmlformats.org/officeDocument/2006/relationships/slide" Target="slides/slide102.xml"/><Relationship Id="rId115" Type="http://schemas.openxmlformats.org/officeDocument/2006/relationships/slide" Target="slides/slide103.xml"/><Relationship Id="rId116" Type="http://schemas.openxmlformats.org/officeDocument/2006/relationships/slide" Target="slides/slide104.xml"/><Relationship Id="rId117" Type="http://schemas.openxmlformats.org/officeDocument/2006/relationships/slide" Target="slides/slide105.xml"/><Relationship Id="rId118" Type="http://schemas.openxmlformats.org/officeDocument/2006/relationships/slide" Target="slides/slide106.xml"/><Relationship Id="rId119" Type="http://schemas.openxmlformats.org/officeDocument/2006/relationships/slide" Target="slides/slide107.xml"/><Relationship Id="rId120" Type="http://schemas.openxmlformats.org/officeDocument/2006/relationships/slide" Target="slides/slide108.xml"/><Relationship Id="rId121" Type="http://schemas.openxmlformats.org/officeDocument/2006/relationships/slide" Target="slides/slide109.xml"/><Relationship Id="rId122" Type="http://schemas.openxmlformats.org/officeDocument/2006/relationships/slide" Target="slides/slide110.xml"/><Relationship Id="rId123" Type="http://schemas.openxmlformats.org/officeDocument/2006/relationships/slide" Target="slides/slide111.xml"/><Relationship Id="rId124" Type="http://schemas.openxmlformats.org/officeDocument/2006/relationships/slide" Target="slides/slide112.xml"/><Relationship Id="rId125" Type="http://schemas.openxmlformats.org/officeDocument/2006/relationships/slide" Target="slides/slide113.xml"/><Relationship Id="rId126" Type="http://schemas.openxmlformats.org/officeDocument/2006/relationships/slide" Target="slides/slide114.xml"/><Relationship Id="rId127" Type="http://schemas.openxmlformats.org/officeDocument/2006/relationships/slide" Target="slides/slide115.xml"/><Relationship Id="rId128" Type="http://schemas.openxmlformats.org/officeDocument/2006/relationships/slide" Target="slides/slide116.xml"/><Relationship Id="rId129" Type="http://schemas.openxmlformats.org/officeDocument/2006/relationships/slide" Target="slides/slide117.xml"/><Relationship Id="rId130" Type="http://schemas.openxmlformats.org/officeDocument/2006/relationships/slide" Target="slides/slide118.xml"/><Relationship Id="rId131" Type="http://schemas.openxmlformats.org/officeDocument/2006/relationships/slide" Target="slides/slide119.xml"/><Relationship Id="rId132" Type="http://schemas.openxmlformats.org/officeDocument/2006/relationships/slide" Target="slides/slide120.xml"/><Relationship Id="rId133" Type="http://schemas.openxmlformats.org/officeDocument/2006/relationships/slide" Target="slides/slide121.xml"/><Relationship Id="rId134" Type="http://schemas.openxmlformats.org/officeDocument/2006/relationships/slide" Target="slides/slide122.xml"/><Relationship Id="rId135" Type="http://schemas.openxmlformats.org/officeDocument/2006/relationships/slide" Target="slides/slide123.xml"/><Relationship Id="rId136" Type="http://schemas.openxmlformats.org/officeDocument/2006/relationships/slide" Target="slides/slide124.xml"/><Relationship Id="rId137" Type="http://schemas.openxmlformats.org/officeDocument/2006/relationships/slide" Target="slides/slide125.xml"/><Relationship Id="rId138" Type="http://schemas.openxmlformats.org/officeDocument/2006/relationships/slide" Target="slides/slide126.xml"/><Relationship Id="rId140" Type="http://schemas.openxmlformats.org/officeDocument/2006/relationships/slide" Target="slides/slide127.xml"/><Relationship Id="rId143" Type="http://schemas.openxmlformats.org/officeDocument/2006/relationships/slide" Target="slides/slide128.xml"/><Relationship Id="rId144" Type="http://schemas.openxmlformats.org/officeDocument/2006/relationships/slide" Target="slides/slide12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Revenue</c:v>
                </c:pt>
              </c:strCache>
            </c:strRef>
          </c:tx>
          <c:spPr>
            <a:solidFill>
              <a:srgbClr val="1F6FEB"/>
            </a:solidFill>
          </c:spPr>
          <c:cat>
            <c:strRef>
              <c:f>Sheet1!$A$2:$A$4</c:f>
              <c:strCache>
                <c:ptCount val="3"/>
                <c:pt idx="0">
                  <c:v>April</c:v>
                </c:pt>
                <c:pt idx="1">
                  <c:v>May</c:v>
                </c:pt>
                <c:pt idx="2">
                  <c:v>June</c:v>
                </c:pt>
              </c:strCache>
            </c:strRef>
          </c:cat>
          <c:val>
            <c:numRef>
              <c:f>Sheet1!$B$2:$B$4</c:f>
              <c:numCache>
                <c:formatCode>General</c:formatCode>
                <c:ptCount val="3"/>
                <c:pt idx="0">
                  <c:v>168000</c:v>
                </c:pt>
                <c:pt idx="1">
                  <c:v>192000</c:v>
                </c:pt>
                <c:pt idx="2">
                  <c:v>215000</c:v>
                </c:pt>
              </c:numCache>
            </c:numRef>
          </c:val>
          <c:smooth val="0"/>
        </c:ser>
        <c:ser>
          <c:idx val="1"/>
          <c:order val="1"/>
          <c:tx>
            <c:strRef>
              <c:f>Sheet1!$C$1</c:f>
              <c:strCache>
                <c:ptCount val="1"/>
                <c:pt idx="0">
                  <c:v>Net profit</c:v>
                </c:pt>
              </c:strCache>
            </c:strRef>
          </c:tx>
          <c:spPr>
            <a:solidFill>
              <a:srgbClr val="008E8E"/>
            </a:solidFill>
          </c:spPr>
          <c:cat>
            <c:strRef>
              <c:f>Sheet1!$A$2:$A$4</c:f>
              <c:strCache>
                <c:ptCount val="3"/>
                <c:pt idx="0">
                  <c:v>April</c:v>
                </c:pt>
                <c:pt idx="1">
                  <c:v>May</c:v>
                </c:pt>
                <c:pt idx="2">
                  <c:v>June</c:v>
                </c:pt>
              </c:strCache>
            </c:strRef>
          </c:cat>
          <c:val>
            <c:numRef>
              <c:f>Sheet1!$C$2:$C$4</c:f>
              <c:numCache>
                <c:formatCode>General</c:formatCode>
                <c:ptCount val="3"/>
                <c:pt idx="0">
                  <c:v>29500</c:v>
                </c:pt>
                <c:pt idx="1">
                  <c:v>38400</c:v>
                </c:pt>
                <c:pt idx="2">
                  <c:v>44600</c:v>
                </c:pt>
              </c:numCache>
            </c:numRef>
          </c:val>
          <c:smooth val="0"/>
        </c:ser>
        <c:ser>
          <c:idx val="2"/>
          <c:order val="2"/>
          <c:tx>
            <c:strRef>
              <c:f>Sheet1!$D$1</c:f>
              <c:strCache>
                <c:ptCount val="1"/>
                <c:pt idx="0">
                  <c:v>Operating cash</c:v>
                </c:pt>
              </c:strCache>
            </c:strRef>
          </c:tx>
          <c:spPr>
            <a:solidFill>
              <a:srgbClr val="7C3AED"/>
            </a:solidFill>
          </c:spPr>
          <c:cat>
            <c:strRef>
              <c:f>Sheet1!$A$2:$A$4</c:f>
              <c:strCache>
                <c:ptCount val="3"/>
                <c:pt idx="0">
                  <c:v>April</c:v>
                </c:pt>
                <c:pt idx="1">
                  <c:v>May</c:v>
                </c:pt>
                <c:pt idx="2">
                  <c:v>June</c:v>
                </c:pt>
              </c:strCache>
            </c:strRef>
          </c:cat>
          <c:val>
            <c:numRef>
              <c:f>Sheet1!$D$2:$D$4</c:f>
              <c:numCache>
                <c:formatCode>General</c:formatCode>
                <c:ptCount val="3"/>
                <c:pt idx="0">
                  <c:v>41000</c:v>
                </c:pt>
                <c:pt idx="1">
                  <c:v>23800</c:v>
                </c:pt>
                <c:pt idx="2">
                  <c:v>17100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100">
                <a:latin typeface="Arial"/>
              </a:defRPr>
            </a:pPr>
          </a:p>
        </c:txPr>
        <c:crossAx val="2140495176"/>
        <c:crosses val="autoZero"/>
        <c:auto val="1"/>
        <c:lblAlgn val="ctr"/>
        <c:lblOffset val="100"/>
        <c:noMultiLvlLbl val="0"/>
      </c:catAx>
      <c:valAx>
        <c:axId val="2140495176"/>
        <c:scaling/>
        <c:delete val="0"/>
        <c:axPos val="l"/>
        <c:majorGridlines>
          <c:spPr>
            <a:ln>
              <a:solidFill>
                <a:srgbClr val="DFE6ED"/>
              </a:solidFill>
            </a:ln>
          </c:spPr>
        </c:majorGridlines>
        <c:majorTickMark val="out"/>
        <c:minorTickMark val="none"/>
        <c:tickLblPos val="nextTo"/>
        <c:txPr>
          <a:bodyPr/>
          <a:lstStyle/>
          <a:p>
            <a:pPr>
              <a:defRPr sz="1000">
                <a:latin typeface="Arial"/>
              </a:defRPr>
            </a:pPr>
          </a:p>
        </c:txPr>
        <c:crossAx val="2118791784"/>
        <c:crosses val="autoZero"/>
      </c:valAx>
    </c:plotArea>
    <c:legend>
      <c:legendPos val="b"/>
      <c:layout/>
      <c:overlay val="0"/>
    </c:legend>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AR</c:v>
                </c:pt>
              </c:strCache>
            </c:strRef>
          </c:tx>
          <c:spPr>
            <a:solidFill>
              <a:srgbClr val="1F6FEB"/>
            </a:solidFill>
          </c:spPr>
          <c:cat>
            <c:strRef>
              <c:f>Sheet1!$A$2:$A$6</c:f>
              <c:strCache>
                <c:ptCount val="5"/>
                <c:pt idx="0">
                  <c:v>Current</c:v>
                </c:pt>
                <c:pt idx="1">
                  <c:v>1–30</c:v>
                </c:pt>
                <c:pt idx="2">
                  <c:v>31–60</c:v>
                </c:pt>
                <c:pt idx="3">
                  <c:v>61–90</c:v>
                </c:pt>
                <c:pt idx="4">
                  <c:v>90+</c:v>
                </c:pt>
              </c:strCache>
            </c:strRef>
          </c:cat>
          <c:val>
            <c:numRef>
              <c:f>Sheet1!$B$2:$B$6</c:f>
              <c:numCache>
                <c:formatCode>General</c:formatCode>
                <c:ptCount val="5"/>
                <c:pt idx="0">
                  <c:v>27500</c:v>
                </c:pt>
                <c:pt idx="1">
                  <c:v>25000</c:v>
                </c:pt>
                <c:pt idx="2">
                  <c:v>20500</c:v>
                </c:pt>
                <c:pt idx="3">
                  <c:v>6500</c:v>
                </c:pt>
                <c:pt idx="4">
                  <c:v>9000</c:v>
                </c:pt>
              </c:numCache>
            </c:numRef>
          </c:val>
        </c:ser>
        <c:ser>
          <c:idx val="1"/>
          <c:order val="1"/>
          <c:tx>
            <c:strRef>
              <c:f>Sheet1!$C$1</c:f>
              <c:strCache>
                <c:ptCount val="1"/>
                <c:pt idx="0">
                  <c:v>AP</c:v>
                </c:pt>
              </c:strCache>
            </c:strRef>
          </c:tx>
          <c:spPr>
            <a:solidFill>
              <a:srgbClr val="008E8E"/>
            </a:solidFill>
          </c:spPr>
          <c:cat>
            <c:strRef>
              <c:f>Sheet1!$A$2:$A$6</c:f>
              <c:strCache>
                <c:ptCount val="5"/>
                <c:pt idx="0">
                  <c:v>Current</c:v>
                </c:pt>
                <c:pt idx="1">
                  <c:v>1–30</c:v>
                </c:pt>
                <c:pt idx="2">
                  <c:v>31–60</c:v>
                </c:pt>
                <c:pt idx="3">
                  <c:v>61–90</c:v>
                </c:pt>
                <c:pt idx="4">
                  <c:v>90+</c:v>
                </c:pt>
              </c:strCache>
            </c:strRef>
          </c:cat>
          <c:val>
            <c:numRef>
              <c:f>Sheet1!$C$2:$C$6</c:f>
              <c:numCache>
                <c:formatCode>General</c:formatCode>
                <c:ptCount val="5"/>
                <c:pt idx="0">
                  <c:v>30500</c:v>
                </c:pt>
                <c:pt idx="1">
                  <c:v>12957</c:v>
                </c:pt>
                <c:pt idx="2">
                  <c:v>3200</c:v>
                </c:pt>
                <c:pt idx="3">
                  <c:v>0</c:v>
                </c:pt>
                <c:pt idx="4">
                  <c:v>0</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100">
                <a:latin typeface="Arial"/>
              </a:defRPr>
            </a:pPr>
          </a:p>
        </c:txPr>
        <c:crossAx val="-2113994440"/>
        <c:crosses val="autoZero"/>
        <c:auto val="1"/>
        <c:lblAlgn val="ctr"/>
        <c:lblOffset val="100"/>
        <c:noMultiLvlLbl val="0"/>
      </c:catAx>
      <c:valAx>
        <c:axId val="-2113994440"/>
        <c:scaling/>
        <c:delete val="0"/>
        <c:axPos val="l"/>
        <c:majorGridlines>
          <c:spPr>
            <a:ln>
              <a:solidFill>
                <a:srgbClr val="DFE6ED"/>
              </a:solidFill>
            </a:ln>
          </c:spPr>
        </c:majorGridlines>
        <c:majorTickMark val="out"/>
        <c:minorTickMark val="none"/>
        <c:tickLblPos val="nextTo"/>
        <c:txPr>
          <a:bodyPr/>
          <a:lstStyle/>
          <a:p>
            <a:pPr>
              <a:defRPr sz="1000">
                <a:latin typeface="Arial"/>
              </a:defRPr>
            </a:pPr>
          </a:p>
        </c:txPr>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Revenue</c:v>
                </c:pt>
              </c:strCache>
            </c:strRef>
          </c:tx>
          <c:spPr>
            <a:solidFill>
              <a:srgbClr val="1F6FEB"/>
            </a:solidFill>
          </c:spPr>
          <c:cat>
            <c:strRef>
              <c:f>Sheet1!$A$2:$A$4</c:f>
              <c:strCache>
                <c:ptCount val="3"/>
                <c:pt idx="0">
                  <c:v>Atlas</c:v>
                </c:pt>
                <c:pt idx="1">
                  <c:v>Clinic</c:v>
                </c:pt>
                <c:pt idx="2">
                  <c:v>Retainer</c:v>
                </c:pt>
              </c:strCache>
            </c:strRef>
          </c:cat>
          <c:val>
            <c:numRef>
              <c:f>Sheet1!$B$2:$B$4</c:f>
              <c:numCache>
                <c:formatCode>General</c:formatCode>
                <c:ptCount val="3"/>
                <c:pt idx="0">
                  <c:v>42000</c:v>
                </c:pt>
                <c:pt idx="1">
                  <c:v>22000</c:v>
                </c:pt>
                <c:pt idx="2">
                  <c:v>18000</c:v>
                </c:pt>
              </c:numCache>
            </c:numRef>
          </c:val>
        </c:ser>
        <c:ser>
          <c:idx val="1"/>
          <c:order val="1"/>
          <c:tx>
            <c:strRef>
              <c:f>Sheet1!$C$1</c:f>
              <c:strCache>
                <c:ptCount val="1"/>
                <c:pt idx="0">
                  <c:v>Cost</c:v>
                </c:pt>
              </c:strCache>
            </c:strRef>
          </c:tx>
          <c:spPr>
            <a:solidFill>
              <a:srgbClr val="008E8E"/>
            </a:solidFill>
          </c:spPr>
          <c:cat>
            <c:strRef>
              <c:f>Sheet1!$A$2:$A$4</c:f>
              <c:strCache>
                <c:ptCount val="3"/>
                <c:pt idx="0">
                  <c:v>Atlas</c:v>
                </c:pt>
                <c:pt idx="1">
                  <c:v>Clinic</c:v>
                </c:pt>
                <c:pt idx="2">
                  <c:v>Retainer</c:v>
                </c:pt>
              </c:strCache>
            </c:strRef>
          </c:cat>
          <c:val>
            <c:numRef>
              <c:f>Sheet1!$C$2:$C$4</c:f>
              <c:numCache>
                <c:formatCode>General</c:formatCode>
                <c:ptCount val="3"/>
                <c:pt idx="0">
                  <c:v>24800</c:v>
                </c:pt>
                <c:pt idx="1">
                  <c:v>14800</c:v>
                </c:pt>
                <c:pt idx="2">
                  <c:v>10300</c:v>
                </c:pt>
              </c:numCache>
            </c:numRef>
          </c:val>
        </c:ser>
        <c:ser>
          <c:idx val="2"/>
          <c:order val="2"/>
          <c:tx>
            <c:strRef>
              <c:f>Sheet1!$D$1</c:f>
              <c:strCache>
                <c:ptCount val="1"/>
                <c:pt idx="0">
                  <c:v>Profit</c:v>
                </c:pt>
              </c:strCache>
            </c:strRef>
          </c:tx>
          <c:spPr>
            <a:solidFill>
              <a:srgbClr val="7C3AED"/>
            </a:solidFill>
          </c:spPr>
          <c:cat>
            <c:strRef>
              <c:f>Sheet1!$A$2:$A$4</c:f>
              <c:strCache>
                <c:ptCount val="3"/>
                <c:pt idx="0">
                  <c:v>Atlas</c:v>
                </c:pt>
                <c:pt idx="1">
                  <c:v>Clinic</c:v>
                </c:pt>
                <c:pt idx="2">
                  <c:v>Retainer</c:v>
                </c:pt>
              </c:strCache>
            </c:strRef>
          </c:cat>
          <c:val>
            <c:numRef>
              <c:f>Sheet1!$D$2:$D$4</c:f>
              <c:numCache>
                <c:formatCode>General</c:formatCode>
                <c:ptCount val="3"/>
                <c:pt idx="0">
                  <c:v>17200</c:v>
                </c:pt>
                <c:pt idx="1">
                  <c:v>7200</c:v>
                </c:pt>
                <c:pt idx="2">
                  <c:v>7700</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100">
                <a:latin typeface="Arial"/>
              </a:defRPr>
            </a:pPr>
          </a:p>
        </c:txPr>
        <c:crossAx val="-2113994440"/>
        <c:crosses val="autoZero"/>
        <c:auto val="1"/>
        <c:lblAlgn val="ctr"/>
        <c:lblOffset val="100"/>
        <c:noMultiLvlLbl val="0"/>
      </c:catAx>
      <c:valAx>
        <c:axId val="-2113994440"/>
        <c:scaling/>
        <c:delete val="0"/>
        <c:axPos val="l"/>
        <c:majorGridlines>
          <c:spPr>
            <a:ln>
              <a:solidFill>
                <a:srgbClr val="DFE6ED"/>
              </a:solidFill>
            </a:ln>
          </c:spPr>
        </c:majorGridlines>
        <c:majorTickMark val="out"/>
        <c:minorTickMark val="none"/>
        <c:tickLblPos val="nextTo"/>
        <c:txPr>
          <a:bodyPr/>
          <a:lstStyle/>
          <a:p>
            <a:pPr>
              <a:defRPr sz="1000">
                <a:latin typeface="Arial"/>
              </a:defRPr>
            </a:pPr>
          </a:p>
        </c:txPr>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Output tax</c:v>
                </c:pt>
              </c:strCache>
            </c:strRef>
          </c:tx>
          <c:spPr>
            <a:solidFill>
              <a:srgbClr val="1F6FEB"/>
            </a:solidFill>
          </c:spPr>
          <c:cat>
            <c:strRef>
              <c:f>Sheet1!$A$2:$A$4</c:f>
              <c:strCache>
                <c:ptCount val="3"/>
                <c:pt idx="0">
                  <c:v>April</c:v>
                </c:pt>
                <c:pt idx="1">
                  <c:v>May</c:v>
                </c:pt>
                <c:pt idx="2">
                  <c:v>June</c:v>
                </c:pt>
              </c:strCache>
            </c:strRef>
          </c:cat>
          <c:val>
            <c:numRef>
              <c:f>Sheet1!$B$2:$B$4</c:f>
              <c:numCache>
                <c:formatCode>General</c:formatCode>
                <c:ptCount val="3"/>
                <c:pt idx="0">
                  <c:v>12600</c:v>
                </c:pt>
                <c:pt idx="1">
                  <c:v>14940</c:v>
                </c:pt>
                <c:pt idx="2">
                  <c:v>16740</c:v>
                </c:pt>
              </c:numCache>
            </c:numRef>
          </c:val>
        </c:ser>
        <c:ser>
          <c:idx val="1"/>
          <c:order val="1"/>
          <c:tx>
            <c:strRef>
              <c:f>Sheet1!$C$1</c:f>
              <c:strCache>
                <c:ptCount val="1"/>
                <c:pt idx="0">
                  <c:v>Input tax</c:v>
                </c:pt>
              </c:strCache>
            </c:strRef>
          </c:tx>
          <c:spPr>
            <a:solidFill>
              <a:srgbClr val="008E8E"/>
            </a:solidFill>
          </c:spPr>
          <c:cat>
            <c:strRef>
              <c:f>Sheet1!$A$2:$A$4</c:f>
              <c:strCache>
                <c:ptCount val="3"/>
                <c:pt idx="0">
                  <c:v>April</c:v>
                </c:pt>
                <c:pt idx="1">
                  <c:v>May</c:v>
                </c:pt>
                <c:pt idx="2">
                  <c:v>June</c:v>
                </c:pt>
              </c:strCache>
            </c:strRef>
          </c:cat>
          <c:val>
            <c:numRef>
              <c:f>Sheet1!$C$2:$C$4</c:f>
              <c:numCache>
                <c:formatCode>General</c:formatCode>
                <c:ptCount val="3"/>
                <c:pt idx="0">
                  <c:v>8120</c:v>
                </c:pt>
                <c:pt idx="1">
                  <c:v>9450</c:v>
                </c:pt>
                <c:pt idx="2">
                  <c:v>10280</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100">
                <a:latin typeface="Arial"/>
              </a:defRPr>
            </a:pPr>
          </a:p>
        </c:txPr>
        <c:crossAx val="-2113994440"/>
        <c:crosses val="autoZero"/>
        <c:auto val="1"/>
        <c:lblAlgn val="ctr"/>
        <c:lblOffset val="100"/>
        <c:noMultiLvlLbl val="0"/>
      </c:catAx>
      <c:valAx>
        <c:axId val="-2113994440"/>
        <c:scaling/>
        <c:delete val="0"/>
        <c:axPos val="l"/>
        <c:majorGridlines>
          <c:spPr>
            <a:ln>
              <a:solidFill>
                <a:srgbClr val="DFE6ED"/>
              </a:solidFill>
            </a:ln>
          </c:spPr>
        </c:majorGridlines>
        <c:majorTickMark val="out"/>
        <c:minorTickMark val="none"/>
        <c:tickLblPos val="nextTo"/>
        <c:txPr>
          <a:bodyPr/>
          <a:lstStyle/>
          <a:p>
            <a:pPr>
              <a:defRPr sz="1000">
                <a:latin typeface="Arial"/>
              </a:defRPr>
            </a:pPr>
          </a:p>
        </c:txPr>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ms-tms.tertiaryinfotech.com/"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tertiarycourses/C699-QuickBooks-Accounting-Masterclass"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over-hero-v1.png"/>
          <p:cNvPicPr>
            <a:picLocks noChangeAspect="1"/>
          </p:cNvPicPr>
          <p:nvPr/>
        </p:nvPicPr>
        <p:blipFill>
          <a:blip r:embed="rId2"/>
          <a:stretch>
            <a:fillRect/>
          </a:stretch>
        </p:blipFill>
        <p:spPr>
          <a:xfrm>
            <a:off x="5166360" y="0"/>
            <a:ext cx="7022592" cy="6858000"/>
          </a:xfrm>
          <a:prstGeom prst="rect">
            <a:avLst/>
          </a:prstGeom>
        </p:spPr>
      </p:pic>
      <p:sp>
        <p:nvSpPr>
          <p:cNvPr id="4" name="Rectangle 3"/>
          <p:cNvSpPr/>
          <p:nvPr/>
        </p:nvSpPr>
        <p:spPr>
          <a:xfrm>
            <a:off x="4754880" y="0"/>
            <a:ext cx="155448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6459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75120"/>
            <a:ext cx="12191695" cy="18288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ertiary-infotech-logo.png"/>
          <p:cNvPicPr>
            <a:picLocks noChangeAspect="1"/>
          </p:cNvPicPr>
          <p:nvPr/>
        </p:nvPicPr>
        <p:blipFill>
          <a:blip r:embed="rId3"/>
          <a:stretch>
            <a:fillRect/>
          </a:stretch>
        </p:blipFill>
        <p:spPr>
          <a:xfrm>
            <a:off x="658368" y="438912"/>
            <a:ext cx="1325880" cy="1325880"/>
          </a:xfrm>
          <a:prstGeom prst="rect">
            <a:avLst/>
          </a:prstGeom>
        </p:spPr>
      </p:pic>
      <p:sp>
        <p:nvSpPr>
          <p:cNvPr id="8" name="TextBox 7"/>
          <p:cNvSpPr txBox="1"/>
          <p:nvPr/>
        </p:nvSpPr>
        <p:spPr>
          <a:xfrm>
            <a:off x="713232" y="1536192"/>
            <a:ext cx="4480560" cy="320040"/>
          </a:xfrm>
          <a:prstGeom prst="rect">
            <a:avLst/>
          </a:prstGeom>
          <a:noFill/>
        </p:spPr>
        <p:txBody>
          <a:bodyPr wrap="square" anchor="t" lIns="54864" rIns="54864" tIns="54864" bIns="54864">
            <a:spAutoFit/>
          </a:bodyPr>
          <a:lstStyle/>
          <a:p>
            <a:pPr algn="l">
              <a:spcAft>
                <a:spcPts val="400"/>
              </a:spcAft>
            </a:pPr>
            <a:r>
              <a:rPr sz="1200" b="1">
                <a:solidFill>
                  <a:srgbClr val="008E8E"/>
                </a:solidFill>
                <a:latin typeface="Arial"/>
              </a:rPr>
              <a:t>NON-WSQ COURSE SLIDES</a:t>
            </a:r>
          </a:p>
        </p:txBody>
      </p:sp>
      <p:sp>
        <p:nvSpPr>
          <p:cNvPr id="9" name="TextBox 8"/>
          <p:cNvSpPr txBox="1"/>
          <p:nvPr/>
        </p:nvSpPr>
        <p:spPr>
          <a:xfrm>
            <a:off x="713232" y="1901952"/>
            <a:ext cx="4572000" cy="2011680"/>
          </a:xfrm>
          <a:prstGeom prst="rect">
            <a:avLst/>
          </a:prstGeom>
          <a:noFill/>
        </p:spPr>
        <p:txBody>
          <a:bodyPr wrap="square" anchor="ctr" lIns="54864" rIns="54864" tIns="54864" bIns="54864">
            <a:spAutoFit/>
          </a:bodyPr>
          <a:lstStyle/>
          <a:p>
            <a:pPr algn="l">
              <a:spcAft>
                <a:spcPts val="400"/>
              </a:spcAft>
            </a:pPr>
            <a:r>
              <a:rPr sz="3100" b="1">
                <a:solidFill>
                  <a:srgbClr val="17242B"/>
                </a:solidFill>
                <a:latin typeface="Arial"/>
              </a:rPr>
              <a:t>QuickBooks Accounting Masterclass</a:t>
            </a:r>
          </a:p>
        </p:txBody>
      </p:sp>
      <p:sp>
        <p:nvSpPr>
          <p:cNvPr id="10" name="Rectangle 9"/>
          <p:cNvSpPr/>
          <p:nvPr/>
        </p:nvSpPr>
        <p:spPr>
          <a:xfrm>
            <a:off x="731520" y="4069080"/>
            <a:ext cx="173736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4315968"/>
            <a:ext cx="4480560" cy="1143000"/>
          </a:xfrm>
          <a:prstGeom prst="rect">
            <a:avLst/>
          </a:prstGeom>
          <a:noFill/>
        </p:spPr>
        <p:txBody>
          <a:bodyPr wrap="square" anchor="t" lIns="54864" rIns="54864" tIns="54864" bIns="54864">
            <a:spAutoFit/>
          </a:bodyPr>
          <a:lstStyle/>
          <a:p>
            <a:pPr algn="l">
              <a:spcAft>
                <a:spcPts val="400"/>
              </a:spcAft>
            </a:pPr>
            <a:r>
              <a:rPr sz="1400" b="1">
                <a:solidFill>
                  <a:srgbClr val="5B6573"/>
                </a:solidFill>
                <a:latin typeface="Arial"/>
              </a:rPr>
              <a:t>Course Code: C699</a:t>
            </a:r>
          </a:p>
          <a:p>
            <a:pPr algn="l">
              <a:spcAft>
                <a:spcPts val="400"/>
              </a:spcAft>
            </a:pPr>
            <a:r>
              <a:rPr sz="1100" b="0">
                <a:solidFill>
                  <a:srgbClr val="5B6573"/>
                </a:solidFill>
                <a:latin typeface="Arial"/>
              </a:rPr>
              <a:t>Tertiary Infotech Academy Pte Ltd · UEN 201200696W</a:t>
            </a:r>
          </a:p>
        </p:txBody>
      </p:sp>
      <p:sp>
        <p:nvSpPr>
          <p:cNvPr id="12" name="TextBox 11"/>
          <p:cNvSpPr txBox="1"/>
          <p:nvPr/>
        </p:nvSpPr>
        <p:spPr>
          <a:xfrm>
            <a:off x="713232" y="5806440"/>
            <a:ext cx="4480560" cy="411480"/>
          </a:xfrm>
          <a:prstGeom prst="rect">
            <a:avLst/>
          </a:prstGeom>
          <a:noFill/>
        </p:spPr>
        <p:txBody>
          <a:bodyPr wrap="square" anchor="t" lIns="54864" rIns="54864" tIns="54864" bIns="54864">
            <a:spAutoFit/>
          </a:bodyPr>
          <a:lstStyle/>
          <a:p>
            <a:pPr algn="l">
              <a:spcAft>
                <a:spcPts val="400"/>
              </a:spcAft>
            </a:pPr>
            <a:r>
              <a:rPr sz="1100" b="0">
                <a:solidFill>
                  <a:srgbClr val="5B6573"/>
                </a:solidFill>
                <a:latin typeface="Arial"/>
              </a:rPr>
              <a:t>Version v1.0 · 1 October 2026</a:t>
            </a:r>
          </a:p>
        </p:txBody>
      </p:sp>
      <p:sp>
        <p:nvSpPr>
          <p:cNvPr id="13" name="TextBox 12"/>
          <p:cNvSpPr txBox="1"/>
          <p:nvPr/>
        </p:nvSpPr>
        <p:spPr>
          <a:xfrm>
            <a:off x="713232" y="6245352"/>
            <a:ext cx="4480560" cy="228600"/>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 Tertiary Infotech Academy Pte Ltd</a:t>
            </a:r>
          </a:p>
        </p:txBody>
      </p:sp>
    </p:spTree>
  </p:cSld>
  <p:transition spd="slow">
    <p:fade/>
  </p:transition>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94A3B8"/>
                </a:solidFill>
                <a:latin typeface="Arial"/>
              </a:rPr>
              <a:t>GENERAL TRAINER TEMPLATE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About the Trainer</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3200400" cy="4315968"/>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700784" y="2148840"/>
            <a:ext cx="1234440" cy="1234440"/>
          </a:xfrm>
          <a:prstGeom prst="ellipse">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700784" y="2267712"/>
            <a:ext cx="1234440" cy="804672"/>
          </a:xfrm>
          <a:prstGeom prst="rect">
            <a:avLst/>
          </a:prstGeom>
          <a:noFill/>
        </p:spPr>
        <p:txBody>
          <a:bodyPr wrap="square" anchor="ctr" lIns="54864" rIns="54864" tIns="54864" bIns="54864">
            <a:spAutoFit/>
          </a:bodyPr>
          <a:lstStyle/>
          <a:p>
            <a:pPr algn="ctr">
              <a:spcAft>
                <a:spcPts val="400"/>
              </a:spcAft>
            </a:pPr>
            <a:r>
              <a:rPr sz="3700" b="1">
                <a:solidFill>
                  <a:srgbClr val="FFFFFF"/>
                </a:solidFill>
                <a:latin typeface="Arial"/>
              </a:rPr>
              <a:t>?</a:t>
            </a:r>
          </a:p>
        </p:txBody>
      </p:sp>
      <p:sp>
        <p:nvSpPr>
          <p:cNvPr id="10" name="TextBox 9"/>
          <p:cNvSpPr txBox="1"/>
          <p:nvPr/>
        </p:nvSpPr>
        <p:spPr>
          <a:xfrm>
            <a:off x="914400" y="3712463"/>
            <a:ext cx="2788920" cy="548640"/>
          </a:xfrm>
          <a:prstGeom prst="rect">
            <a:avLst/>
          </a:prstGeom>
          <a:noFill/>
        </p:spPr>
        <p:txBody>
          <a:bodyPr wrap="square" anchor="t" lIns="54864" rIns="54864" tIns="54864" bIns="54864">
            <a:spAutoFit/>
          </a:bodyPr>
          <a:lstStyle/>
          <a:p>
            <a:pPr algn="ctr">
              <a:spcAft>
                <a:spcPts val="400"/>
              </a:spcAft>
            </a:pPr>
            <a:r>
              <a:rPr sz="2000" b="1">
                <a:solidFill>
                  <a:srgbClr val="17242B"/>
                </a:solidFill>
                <a:latin typeface="Arial"/>
              </a:rPr>
              <a:t>General Trainer</a:t>
            </a:r>
          </a:p>
        </p:txBody>
      </p:sp>
      <p:sp>
        <p:nvSpPr>
          <p:cNvPr id="11" name="TextBox 10"/>
          <p:cNvSpPr txBox="1"/>
          <p:nvPr/>
        </p:nvSpPr>
        <p:spPr>
          <a:xfrm>
            <a:off x="914400" y="4370832"/>
            <a:ext cx="2788920" cy="749808"/>
          </a:xfrm>
          <a:prstGeom prst="rect">
            <a:avLst/>
          </a:prstGeom>
          <a:noFill/>
        </p:spPr>
        <p:txBody>
          <a:bodyPr wrap="square" anchor="t" lIns="54864" rIns="54864" tIns="54864" bIns="54864">
            <a:spAutoFit/>
          </a:bodyPr>
          <a:lstStyle/>
          <a:p>
            <a:pPr algn="ctr">
              <a:spcAft>
                <a:spcPts val="400"/>
              </a:spcAft>
            </a:pPr>
            <a:r>
              <a:rPr sz="1250" b="0">
                <a:solidFill>
                  <a:srgbClr val="5B6573"/>
                </a:solidFill>
                <a:latin typeface="Arial"/>
              </a:rPr>
              <a:t>Complete before class</a:t>
            </a:r>
          </a:p>
        </p:txBody>
      </p:sp>
      <p:sp>
        <p:nvSpPr>
          <p:cNvPr id="12" name="Rounded Rectangle 11"/>
          <p:cNvSpPr/>
          <p:nvPr/>
        </p:nvSpPr>
        <p:spPr>
          <a:xfrm>
            <a:off x="4297680" y="1783080"/>
            <a:ext cx="7178040" cy="603504"/>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783080"/>
            <a:ext cx="73152" cy="603504"/>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53712" y="1837943"/>
            <a:ext cx="6629400" cy="438912"/>
          </a:xfrm>
          <a:prstGeom prst="rect">
            <a:avLst/>
          </a:prstGeom>
          <a:noFill/>
        </p:spPr>
        <p:txBody>
          <a:bodyPr wrap="square" anchor="ctr" lIns="54864" rIns="54864" tIns="54864" bIns="54864">
            <a:spAutoFit/>
          </a:bodyPr>
          <a:lstStyle/>
          <a:p>
            <a:pPr algn="l">
              <a:spcAft>
                <a:spcPts val="400"/>
              </a:spcAft>
            </a:pPr>
            <a:r>
              <a:rPr sz="1250" b="0">
                <a:solidFill>
                  <a:srgbClr val="17242B"/>
                </a:solidFill>
                <a:latin typeface="Arial"/>
              </a:rPr>
              <a:t>Name: ______________________________</a:t>
            </a:r>
          </a:p>
        </p:txBody>
      </p:sp>
      <p:sp>
        <p:nvSpPr>
          <p:cNvPr id="15" name="Rounded Rectangle 14"/>
          <p:cNvSpPr/>
          <p:nvPr/>
        </p:nvSpPr>
        <p:spPr>
          <a:xfrm>
            <a:off x="4297680" y="2514600"/>
            <a:ext cx="7178040" cy="603504"/>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97680" y="2514600"/>
            <a:ext cx="73152" cy="603504"/>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53712" y="2569464"/>
            <a:ext cx="6629400" cy="438912"/>
          </a:xfrm>
          <a:prstGeom prst="rect">
            <a:avLst/>
          </a:prstGeom>
          <a:noFill/>
        </p:spPr>
        <p:txBody>
          <a:bodyPr wrap="square" anchor="ctr" lIns="54864" rIns="54864" tIns="54864" bIns="54864">
            <a:spAutoFit/>
          </a:bodyPr>
          <a:lstStyle/>
          <a:p>
            <a:pPr algn="l">
              <a:spcAft>
                <a:spcPts val="400"/>
              </a:spcAft>
            </a:pPr>
            <a:r>
              <a:rPr sz="1250" b="0">
                <a:solidFill>
                  <a:srgbClr val="17242B"/>
                </a:solidFill>
                <a:latin typeface="Arial"/>
              </a:rPr>
              <a:t>Title / designation: ______________________________</a:t>
            </a:r>
          </a:p>
        </p:txBody>
      </p:sp>
      <p:sp>
        <p:nvSpPr>
          <p:cNvPr id="18" name="Rounded Rectangle 17"/>
          <p:cNvSpPr/>
          <p:nvPr/>
        </p:nvSpPr>
        <p:spPr>
          <a:xfrm>
            <a:off x="4297680" y="3246120"/>
            <a:ext cx="7178040" cy="603504"/>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297680" y="3246120"/>
            <a:ext cx="73152" cy="60350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53712" y="3300984"/>
            <a:ext cx="6629400" cy="438912"/>
          </a:xfrm>
          <a:prstGeom prst="rect">
            <a:avLst/>
          </a:prstGeom>
          <a:noFill/>
        </p:spPr>
        <p:txBody>
          <a:bodyPr wrap="square" anchor="ctr" lIns="54864" rIns="54864" tIns="54864" bIns="54864">
            <a:spAutoFit/>
          </a:bodyPr>
          <a:lstStyle/>
          <a:p>
            <a:pPr algn="l">
              <a:spcAft>
                <a:spcPts val="400"/>
              </a:spcAft>
            </a:pPr>
            <a:r>
              <a:rPr sz="1250" b="0">
                <a:solidFill>
                  <a:srgbClr val="17242B"/>
                </a:solidFill>
                <a:latin typeface="Arial"/>
              </a:rPr>
              <a:t>Qualifications: ______________________________</a:t>
            </a:r>
          </a:p>
        </p:txBody>
      </p:sp>
      <p:sp>
        <p:nvSpPr>
          <p:cNvPr id="21" name="Rounded Rectangle 20"/>
          <p:cNvSpPr/>
          <p:nvPr/>
        </p:nvSpPr>
        <p:spPr>
          <a:xfrm>
            <a:off x="4297680" y="3977639"/>
            <a:ext cx="7178040" cy="603504"/>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297680" y="3977639"/>
            <a:ext cx="73152" cy="60350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53712" y="4032503"/>
            <a:ext cx="6629400" cy="438912"/>
          </a:xfrm>
          <a:prstGeom prst="rect">
            <a:avLst/>
          </a:prstGeom>
          <a:noFill/>
        </p:spPr>
        <p:txBody>
          <a:bodyPr wrap="square" anchor="ctr" lIns="54864" rIns="54864" tIns="54864" bIns="54864">
            <a:spAutoFit/>
          </a:bodyPr>
          <a:lstStyle/>
          <a:p>
            <a:pPr algn="l">
              <a:spcAft>
                <a:spcPts val="400"/>
              </a:spcAft>
            </a:pPr>
            <a:r>
              <a:rPr sz="1250" b="0">
                <a:solidFill>
                  <a:srgbClr val="17242B"/>
                </a:solidFill>
                <a:latin typeface="Arial"/>
              </a:rPr>
              <a:t>Areas of expertise: ______________________________</a:t>
            </a:r>
          </a:p>
        </p:txBody>
      </p:sp>
      <p:sp>
        <p:nvSpPr>
          <p:cNvPr id="24" name="Rounded Rectangle 23"/>
          <p:cNvSpPr/>
          <p:nvPr/>
        </p:nvSpPr>
        <p:spPr>
          <a:xfrm>
            <a:off x="4297680" y="4709159"/>
            <a:ext cx="7178040" cy="603504"/>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97680" y="4709159"/>
            <a:ext cx="73152" cy="603504"/>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53712" y="4764023"/>
            <a:ext cx="6629400" cy="438912"/>
          </a:xfrm>
          <a:prstGeom prst="rect">
            <a:avLst/>
          </a:prstGeom>
          <a:noFill/>
        </p:spPr>
        <p:txBody>
          <a:bodyPr wrap="square" anchor="ctr" lIns="54864" rIns="54864" tIns="54864" bIns="54864">
            <a:spAutoFit/>
          </a:bodyPr>
          <a:lstStyle/>
          <a:p>
            <a:pPr algn="l">
              <a:spcAft>
                <a:spcPts val="400"/>
              </a:spcAft>
            </a:pPr>
            <a:r>
              <a:rPr sz="1250" b="0">
                <a:solidFill>
                  <a:srgbClr val="17242B"/>
                </a:solidFill>
                <a:latin typeface="Arial"/>
              </a:rPr>
              <a:t>Training &amp; industry experience: ______________________________</a:t>
            </a:r>
          </a:p>
        </p:txBody>
      </p:sp>
      <p:sp>
        <p:nvSpPr>
          <p:cNvPr id="27" name="Rounded Rectangle 26"/>
          <p:cNvSpPr/>
          <p:nvPr/>
        </p:nvSpPr>
        <p:spPr>
          <a:xfrm>
            <a:off x="4297680" y="5440679"/>
            <a:ext cx="7178040" cy="603504"/>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297680" y="5440679"/>
            <a:ext cx="73152" cy="603504"/>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53712" y="5495543"/>
            <a:ext cx="6629400" cy="438912"/>
          </a:xfrm>
          <a:prstGeom prst="rect">
            <a:avLst/>
          </a:prstGeom>
          <a:noFill/>
        </p:spPr>
        <p:txBody>
          <a:bodyPr wrap="square" anchor="ctr" lIns="54864" rIns="54864" tIns="54864" bIns="54864">
            <a:spAutoFit/>
          </a:bodyPr>
          <a:lstStyle/>
          <a:p>
            <a:pPr algn="l">
              <a:spcAft>
                <a:spcPts val="400"/>
              </a:spcAft>
            </a:pPr>
            <a:r>
              <a:rPr sz="1250" b="0">
                <a:solidFill>
                  <a:srgbClr val="17242B"/>
                </a:solidFill>
                <a:latin typeface="Arial"/>
              </a:rPr>
              <a:t>Contact: ______________________________</a:t>
            </a:r>
          </a:p>
        </p:txBody>
      </p:sp>
      <p:sp>
        <p:nvSpPr>
          <p:cNvPr id="30" name="TextBox 29"/>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31" name="TextBox 30"/>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32" name="TextBox 31"/>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2</a:t>
            </a:r>
          </a:p>
        </p:txBody>
      </p:sp>
    </p:spTree>
  </p:cSld>
  <p:transition spd="slow">
    <p:fade/>
  </p:transition>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NAMED TRAINER</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About the Trainer</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3200400" cy="4315968"/>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700784" y="2148840"/>
            <a:ext cx="1234440" cy="1234440"/>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700784" y="2267712"/>
            <a:ext cx="1234440" cy="804672"/>
          </a:xfrm>
          <a:prstGeom prst="rect">
            <a:avLst/>
          </a:prstGeom>
          <a:noFill/>
        </p:spPr>
        <p:txBody>
          <a:bodyPr wrap="square" anchor="ctr" lIns="54864" rIns="54864" tIns="54864" bIns="54864">
            <a:spAutoFit/>
          </a:bodyPr>
          <a:lstStyle/>
          <a:p>
            <a:pPr algn="ctr">
              <a:spcAft>
                <a:spcPts val="400"/>
              </a:spcAft>
            </a:pPr>
            <a:r>
              <a:rPr sz="3700" b="1">
                <a:solidFill>
                  <a:srgbClr val="FFFFFF"/>
                </a:solidFill>
                <a:latin typeface="Arial"/>
              </a:rPr>
              <a:t>AA</a:t>
            </a:r>
          </a:p>
        </p:txBody>
      </p:sp>
      <p:sp>
        <p:nvSpPr>
          <p:cNvPr id="10" name="TextBox 9"/>
          <p:cNvSpPr txBox="1"/>
          <p:nvPr/>
        </p:nvSpPr>
        <p:spPr>
          <a:xfrm>
            <a:off x="914400" y="3712463"/>
            <a:ext cx="2788920" cy="548640"/>
          </a:xfrm>
          <a:prstGeom prst="rect">
            <a:avLst/>
          </a:prstGeom>
          <a:noFill/>
        </p:spPr>
        <p:txBody>
          <a:bodyPr wrap="square" anchor="t" lIns="54864" rIns="54864" tIns="54864" bIns="54864">
            <a:spAutoFit/>
          </a:bodyPr>
          <a:lstStyle/>
          <a:p>
            <a:pPr algn="ctr">
              <a:spcAft>
                <a:spcPts val="400"/>
              </a:spcAft>
            </a:pPr>
            <a:r>
              <a:rPr sz="2000" b="1">
                <a:solidFill>
                  <a:srgbClr val="17242B"/>
                </a:solidFill>
                <a:latin typeface="Arial"/>
              </a:rPr>
              <a:t>Dr Alfred Ang</a:t>
            </a:r>
          </a:p>
        </p:txBody>
      </p:sp>
      <p:sp>
        <p:nvSpPr>
          <p:cNvPr id="11" name="TextBox 10"/>
          <p:cNvSpPr txBox="1"/>
          <p:nvPr/>
        </p:nvSpPr>
        <p:spPr>
          <a:xfrm>
            <a:off x="914400" y="4370832"/>
            <a:ext cx="2788920" cy="749808"/>
          </a:xfrm>
          <a:prstGeom prst="rect">
            <a:avLst/>
          </a:prstGeom>
          <a:noFill/>
        </p:spPr>
        <p:txBody>
          <a:bodyPr wrap="square" anchor="t" lIns="54864" rIns="54864" tIns="54864" bIns="54864">
            <a:spAutoFit/>
          </a:bodyPr>
          <a:lstStyle/>
          <a:p>
            <a:pPr algn="ctr">
              <a:spcAft>
                <a:spcPts val="400"/>
              </a:spcAft>
            </a:pPr>
            <a:r>
              <a:rPr sz="1250" b="0">
                <a:solidFill>
                  <a:srgbClr val="5B6573"/>
                </a:solidFill>
                <a:latin typeface="Arial"/>
              </a:rPr>
              <a:t>Principal Trainer · Tertiary Infotech Academy</a:t>
            </a:r>
          </a:p>
        </p:txBody>
      </p:sp>
      <p:sp>
        <p:nvSpPr>
          <p:cNvPr id="12" name="Rounded Rectangle 11"/>
          <p:cNvSpPr/>
          <p:nvPr/>
        </p:nvSpPr>
        <p:spPr>
          <a:xfrm>
            <a:off x="4297680" y="1783080"/>
            <a:ext cx="7178040" cy="603504"/>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783080"/>
            <a:ext cx="73152" cy="603504"/>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53712" y="1837943"/>
            <a:ext cx="6629400" cy="438912"/>
          </a:xfrm>
          <a:prstGeom prst="rect">
            <a:avLst/>
          </a:prstGeom>
          <a:noFill/>
        </p:spPr>
        <p:txBody>
          <a:bodyPr wrap="square" anchor="ctr" lIns="54864" rIns="54864" tIns="54864" bIns="54864">
            <a:spAutoFit/>
          </a:bodyPr>
          <a:lstStyle/>
          <a:p>
            <a:pPr algn="l">
              <a:spcAft>
                <a:spcPts val="400"/>
              </a:spcAft>
            </a:pPr>
            <a:r>
              <a:rPr sz="1250" b="0">
                <a:solidFill>
                  <a:srgbClr val="17242B"/>
                </a:solidFill>
                <a:latin typeface="Arial"/>
              </a:rPr>
              <a:t>Role · Principal trainer and courseware lead</a:t>
            </a:r>
          </a:p>
        </p:txBody>
      </p:sp>
      <p:sp>
        <p:nvSpPr>
          <p:cNvPr id="15" name="Rounded Rectangle 14"/>
          <p:cNvSpPr/>
          <p:nvPr/>
        </p:nvSpPr>
        <p:spPr>
          <a:xfrm>
            <a:off x="4297680" y="2514600"/>
            <a:ext cx="7178040" cy="603504"/>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97680" y="2514600"/>
            <a:ext cx="73152" cy="603504"/>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53712" y="2569464"/>
            <a:ext cx="6629400" cy="438912"/>
          </a:xfrm>
          <a:prstGeom prst="rect">
            <a:avLst/>
          </a:prstGeom>
          <a:noFill/>
        </p:spPr>
        <p:txBody>
          <a:bodyPr wrap="square" anchor="ctr" lIns="54864" rIns="54864" tIns="54864" bIns="54864">
            <a:spAutoFit/>
          </a:bodyPr>
          <a:lstStyle/>
          <a:p>
            <a:pPr algn="l">
              <a:spcAft>
                <a:spcPts val="400"/>
              </a:spcAft>
            </a:pPr>
            <a:r>
              <a:rPr sz="1250" b="0">
                <a:solidFill>
                  <a:srgbClr val="17242B"/>
                </a:solidFill>
                <a:latin typeface="Arial"/>
              </a:rPr>
              <a:t>Certification · Adult education and technology credentials</a:t>
            </a:r>
          </a:p>
        </p:txBody>
      </p:sp>
      <p:sp>
        <p:nvSpPr>
          <p:cNvPr id="18" name="Rounded Rectangle 17"/>
          <p:cNvSpPr/>
          <p:nvPr/>
        </p:nvSpPr>
        <p:spPr>
          <a:xfrm>
            <a:off x="4297680" y="3246120"/>
            <a:ext cx="7178040" cy="603504"/>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297680" y="3246120"/>
            <a:ext cx="73152" cy="60350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53712" y="3300984"/>
            <a:ext cx="6629400" cy="438912"/>
          </a:xfrm>
          <a:prstGeom prst="rect">
            <a:avLst/>
          </a:prstGeom>
          <a:noFill/>
        </p:spPr>
        <p:txBody>
          <a:bodyPr wrap="square" anchor="ctr" lIns="54864" rIns="54864" tIns="54864" bIns="54864">
            <a:spAutoFit/>
          </a:bodyPr>
          <a:lstStyle/>
          <a:p>
            <a:pPr algn="l">
              <a:spcAft>
                <a:spcPts val="400"/>
              </a:spcAft>
            </a:pPr>
            <a:r>
              <a:rPr sz="1250" b="0">
                <a:solidFill>
                  <a:srgbClr val="17242B"/>
                </a:solidFill>
                <a:latin typeface="Arial"/>
              </a:rPr>
              <a:t>Delivers · Accounting, automation, AI, data and digital productivity</a:t>
            </a:r>
          </a:p>
        </p:txBody>
      </p:sp>
      <p:sp>
        <p:nvSpPr>
          <p:cNvPr id="21" name="Rounded Rectangle 20"/>
          <p:cNvSpPr/>
          <p:nvPr/>
        </p:nvSpPr>
        <p:spPr>
          <a:xfrm>
            <a:off x="4297680" y="3977639"/>
            <a:ext cx="7178040" cy="603504"/>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297680" y="3977639"/>
            <a:ext cx="73152" cy="60350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53712" y="4032503"/>
            <a:ext cx="6629400" cy="438912"/>
          </a:xfrm>
          <a:prstGeom prst="rect">
            <a:avLst/>
          </a:prstGeom>
          <a:noFill/>
        </p:spPr>
        <p:txBody>
          <a:bodyPr wrap="square" anchor="ctr" lIns="54864" rIns="54864" tIns="54864" bIns="54864">
            <a:spAutoFit/>
          </a:bodyPr>
          <a:lstStyle/>
          <a:p>
            <a:pPr algn="l">
              <a:spcAft>
                <a:spcPts val="400"/>
              </a:spcAft>
            </a:pPr>
            <a:r>
              <a:rPr sz="1250" b="0">
                <a:solidFill>
                  <a:srgbClr val="17242B"/>
                </a:solidFill>
                <a:latin typeface="Arial"/>
              </a:rPr>
              <a:t>Founder · Tertiary Infotech Academy</a:t>
            </a:r>
          </a:p>
        </p:txBody>
      </p:sp>
      <p:sp>
        <p:nvSpPr>
          <p:cNvPr id="24" name="Rounded Rectangle 23"/>
          <p:cNvSpPr/>
          <p:nvPr/>
        </p:nvSpPr>
        <p:spPr>
          <a:xfrm>
            <a:off x="4297680" y="4709159"/>
            <a:ext cx="7178040" cy="603504"/>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97680" y="4709159"/>
            <a:ext cx="73152" cy="603504"/>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53712" y="4764023"/>
            <a:ext cx="6629400" cy="438912"/>
          </a:xfrm>
          <a:prstGeom prst="rect">
            <a:avLst/>
          </a:prstGeom>
          <a:noFill/>
        </p:spPr>
        <p:txBody>
          <a:bodyPr wrap="square" anchor="ctr" lIns="54864" rIns="54864" tIns="54864" bIns="54864">
            <a:spAutoFit/>
          </a:bodyPr>
          <a:lstStyle/>
          <a:p>
            <a:pPr algn="l">
              <a:spcAft>
                <a:spcPts val="400"/>
              </a:spcAft>
            </a:pPr>
            <a:r>
              <a:rPr sz="1250" b="0">
                <a:solidFill>
                  <a:srgbClr val="17242B"/>
                </a:solidFill>
                <a:latin typeface="Arial"/>
              </a:rPr>
              <a:t>Approach · Concept-led, evidence-based, hands-on</a:t>
            </a:r>
          </a:p>
        </p:txBody>
      </p:sp>
      <p:sp>
        <p:nvSpPr>
          <p:cNvPr id="27" name="Rounded Rectangle 26"/>
          <p:cNvSpPr/>
          <p:nvPr/>
        </p:nvSpPr>
        <p:spPr>
          <a:xfrm>
            <a:off x="4297680" y="5440679"/>
            <a:ext cx="7178040" cy="603504"/>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297680" y="5440679"/>
            <a:ext cx="73152" cy="603504"/>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53712" y="5495543"/>
            <a:ext cx="6629400" cy="438912"/>
          </a:xfrm>
          <a:prstGeom prst="rect">
            <a:avLst/>
          </a:prstGeom>
          <a:noFill/>
        </p:spPr>
        <p:txBody>
          <a:bodyPr wrap="square" anchor="ctr" lIns="54864" rIns="54864" tIns="54864" bIns="54864">
            <a:spAutoFit/>
          </a:bodyPr>
          <a:lstStyle/>
          <a:p>
            <a:pPr algn="l">
              <a:spcAft>
                <a:spcPts val="400"/>
              </a:spcAft>
            </a:pPr>
            <a:r>
              <a:rPr sz="1250" b="0">
                <a:solidFill>
                  <a:srgbClr val="17242B"/>
                </a:solidFill>
                <a:latin typeface="Arial"/>
              </a:rPr>
              <a:t>Contact · enquiry@tertiaryinfotech.com</a:t>
            </a:r>
          </a:p>
        </p:txBody>
      </p:sp>
      <p:sp>
        <p:nvSpPr>
          <p:cNvPr id="30" name="TextBox 29"/>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31" name="TextBox 30"/>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32" name="TextBox 31"/>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3</a:t>
            </a:r>
          </a:p>
        </p:txBody>
      </p:sp>
    </p:spTree>
  </p:cSld>
  <p:transition spd="slow">
    <p:fade/>
  </p:transition>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LEARNER INTRODUCTION</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Let's Know Each Other</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68680" y="1828800"/>
            <a:ext cx="429768" cy="42976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47088"/>
            <a:ext cx="429768" cy="365760"/>
          </a:xfrm>
          <a:prstGeom prst="rect">
            <a:avLst/>
          </a:prstGeom>
          <a:noFill/>
        </p:spPr>
        <p:txBody>
          <a:bodyPr wrap="square" anchor="ctr" lIns="54864" rIns="54864" tIns="54864" bIns="54864">
            <a:spAutoFit/>
          </a:bodyPr>
          <a:lstStyle/>
          <a:p>
            <a:pPr algn="ctr">
              <a:spcAft>
                <a:spcPts val="400"/>
              </a:spcAft>
            </a:pPr>
            <a:r>
              <a:rPr sz="1400" b="1">
                <a:solidFill>
                  <a:srgbClr val="FFFFFF"/>
                </a:solidFill>
                <a:latin typeface="Arial"/>
              </a:rPr>
              <a:t>1</a:t>
            </a:r>
          </a:p>
        </p:txBody>
      </p:sp>
      <p:sp>
        <p:nvSpPr>
          <p:cNvPr id="9" name="TextBox 8"/>
          <p:cNvSpPr txBox="1"/>
          <p:nvPr/>
        </p:nvSpPr>
        <p:spPr>
          <a:xfrm>
            <a:off x="1508760" y="1810512"/>
            <a:ext cx="9784080" cy="594360"/>
          </a:xfrm>
          <a:prstGeom prst="rect">
            <a:avLst/>
          </a:prstGeom>
          <a:noFill/>
        </p:spPr>
        <p:txBody>
          <a:bodyPr wrap="square" anchor="ctr" lIns="54864" rIns="54864" tIns="54864" bIns="54864">
            <a:spAutoFit/>
          </a:bodyPr>
          <a:lstStyle/>
          <a:p>
            <a:pPr algn="l">
              <a:spcAft>
                <a:spcPts val="400"/>
              </a:spcAft>
            </a:pPr>
            <a:r>
              <a:rPr sz="1700" b="0">
                <a:solidFill>
                  <a:srgbClr val="17242B"/>
                </a:solidFill>
                <a:latin typeface="Arial"/>
              </a:rPr>
              <a:t>Name and role</a:t>
            </a:r>
          </a:p>
        </p:txBody>
      </p:sp>
      <p:sp>
        <p:nvSpPr>
          <p:cNvPr id="10" name="Oval 9"/>
          <p:cNvSpPr/>
          <p:nvPr/>
        </p:nvSpPr>
        <p:spPr>
          <a:xfrm>
            <a:off x="868680" y="2761488"/>
            <a:ext cx="429768" cy="429768"/>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779776"/>
            <a:ext cx="429768" cy="365760"/>
          </a:xfrm>
          <a:prstGeom prst="rect">
            <a:avLst/>
          </a:prstGeom>
          <a:noFill/>
        </p:spPr>
        <p:txBody>
          <a:bodyPr wrap="square" anchor="ctr" lIns="54864" rIns="54864" tIns="54864" bIns="54864">
            <a:spAutoFit/>
          </a:bodyPr>
          <a:lstStyle/>
          <a:p>
            <a:pPr algn="ctr">
              <a:spcAft>
                <a:spcPts val="400"/>
              </a:spcAft>
            </a:pPr>
            <a:r>
              <a:rPr sz="1400" b="1">
                <a:solidFill>
                  <a:srgbClr val="FFFFFF"/>
                </a:solidFill>
                <a:latin typeface="Arial"/>
              </a:rPr>
              <a:t>2</a:t>
            </a:r>
          </a:p>
        </p:txBody>
      </p:sp>
      <p:sp>
        <p:nvSpPr>
          <p:cNvPr id="12" name="TextBox 11"/>
          <p:cNvSpPr txBox="1"/>
          <p:nvPr/>
        </p:nvSpPr>
        <p:spPr>
          <a:xfrm>
            <a:off x="1508760" y="2743200"/>
            <a:ext cx="9784080" cy="594360"/>
          </a:xfrm>
          <a:prstGeom prst="rect">
            <a:avLst/>
          </a:prstGeom>
          <a:noFill/>
        </p:spPr>
        <p:txBody>
          <a:bodyPr wrap="square" anchor="ctr" lIns="54864" rIns="54864" tIns="54864" bIns="54864">
            <a:spAutoFit/>
          </a:bodyPr>
          <a:lstStyle/>
          <a:p>
            <a:pPr algn="l">
              <a:spcAft>
                <a:spcPts val="400"/>
              </a:spcAft>
            </a:pPr>
            <a:r>
              <a:rPr sz="1700" b="0">
                <a:solidFill>
                  <a:srgbClr val="17242B"/>
                </a:solidFill>
                <a:latin typeface="Arial"/>
              </a:rPr>
              <a:t>Accounting and QuickBooks experience</a:t>
            </a:r>
          </a:p>
        </p:txBody>
      </p:sp>
      <p:sp>
        <p:nvSpPr>
          <p:cNvPr id="13" name="Oval 12"/>
          <p:cNvSpPr/>
          <p:nvPr/>
        </p:nvSpPr>
        <p:spPr>
          <a:xfrm>
            <a:off x="868680" y="3694176"/>
            <a:ext cx="429768" cy="429768"/>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12463"/>
            <a:ext cx="429768" cy="365760"/>
          </a:xfrm>
          <a:prstGeom prst="rect">
            <a:avLst/>
          </a:prstGeom>
          <a:noFill/>
        </p:spPr>
        <p:txBody>
          <a:bodyPr wrap="square" anchor="ctr" lIns="54864" rIns="54864" tIns="54864" bIns="54864">
            <a:spAutoFit/>
          </a:bodyPr>
          <a:lstStyle/>
          <a:p>
            <a:pPr algn="ctr">
              <a:spcAft>
                <a:spcPts val="400"/>
              </a:spcAft>
            </a:pPr>
            <a:r>
              <a:rPr sz="1400" b="1">
                <a:solidFill>
                  <a:srgbClr val="FFFFFF"/>
                </a:solidFill>
                <a:latin typeface="Arial"/>
              </a:rPr>
              <a:t>3</a:t>
            </a:r>
          </a:p>
        </p:txBody>
      </p:sp>
      <p:sp>
        <p:nvSpPr>
          <p:cNvPr id="15" name="TextBox 14"/>
          <p:cNvSpPr txBox="1"/>
          <p:nvPr/>
        </p:nvSpPr>
        <p:spPr>
          <a:xfrm>
            <a:off x="1508760" y="3675888"/>
            <a:ext cx="9784080" cy="594360"/>
          </a:xfrm>
          <a:prstGeom prst="rect">
            <a:avLst/>
          </a:prstGeom>
          <a:noFill/>
        </p:spPr>
        <p:txBody>
          <a:bodyPr wrap="square" anchor="ctr" lIns="54864" rIns="54864" tIns="54864" bIns="54864">
            <a:spAutoFit/>
          </a:bodyPr>
          <a:lstStyle/>
          <a:p>
            <a:pPr algn="l">
              <a:spcAft>
                <a:spcPts val="400"/>
              </a:spcAft>
            </a:pPr>
            <a:r>
              <a:rPr sz="1700" b="0">
                <a:solidFill>
                  <a:srgbClr val="17242B"/>
                </a:solidFill>
                <a:latin typeface="Arial"/>
              </a:rPr>
              <a:t>One advanced transaction or reporting challenge</a:t>
            </a:r>
          </a:p>
        </p:txBody>
      </p:sp>
      <p:sp>
        <p:nvSpPr>
          <p:cNvPr id="16" name="Oval 15"/>
          <p:cNvSpPr/>
          <p:nvPr/>
        </p:nvSpPr>
        <p:spPr>
          <a:xfrm>
            <a:off x="868680" y="4626864"/>
            <a:ext cx="429768" cy="42976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645152"/>
            <a:ext cx="429768" cy="365760"/>
          </a:xfrm>
          <a:prstGeom prst="rect">
            <a:avLst/>
          </a:prstGeom>
          <a:noFill/>
        </p:spPr>
        <p:txBody>
          <a:bodyPr wrap="square" anchor="ctr" lIns="54864" rIns="54864" tIns="54864" bIns="54864">
            <a:spAutoFit/>
          </a:bodyPr>
          <a:lstStyle/>
          <a:p>
            <a:pPr algn="ctr">
              <a:spcAft>
                <a:spcPts val="400"/>
              </a:spcAft>
            </a:pPr>
            <a:r>
              <a:rPr sz="1400" b="1">
                <a:solidFill>
                  <a:srgbClr val="FFFFFF"/>
                </a:solidFill>
                <a:latin typeface="Arial"/>
              </a:rPr>
              <a:t>4</a:t>
            </a:r>
          </a:p>
        </p:txBody>
      </p:sp>
      <p:sp>
        <p:nvSpPr>
          <p:cNvPr id="18" name="TextBox 17"/>
          <p:cNvSpPr txBox="1"/>
          <p:nvPr/>
        </p:nvSpPr>
        <p:spPr>
          <a:xfrm>
            <a:off x="1508760" y="4608576"/>
            <a:ext cx="9784080" cy="594360"/>
          </a:xfrm>
          <a:prstGeom prst="rect">
            <a:avLst/>
          </a:prstGeom>
          <a:noFill/>
        </p:spPr>
        <p:txBody>
          <a:bodyPr wrap="square" anchor="ctr" lIns="54864" rIns="54864" tIns="54864" bIns="54864">
            <a:spAutoFit/>
          </a:bodyPr>
          <a:lstStyle/>
          <a:p>
            <a:pPr algn="l">
              <a:spcAft>
                <a:spcPts val="400"/>
              </a:spcAft>
            </a:pPr>
            <a:r>
              <a:rPr sz="1700" b="0">
                <a:solidFill>
                  <a:srgbClr val="17242B"/>
                </a:solidFill>
                <a:latin typeface="Arial"/>
              </a:rPr>
              <a:t>What success looks like after two days</a:t>
            </a:r>
          </a:p>
        </p:txBody>
      </p:sp>
      <p:sp>
        <p:nvSpPr>
          <p:cNvPr id="19" name="TextBox 18"/>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0" name="TextBox 19"/>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1" name="TextBox 20"/>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4</a:t>
            </a:r>
          </a:p>
        </p:txBody>
      </p:sp>
    </p:spTree>
  </p:cSld>
  <p:transition spd="slow">
    <p:fade/>
  </p:transition>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LEARNING ENVIRONMENT</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Ground Rules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Participate</a:t>
            </a:r>
          </a:p>
          <a:p>
            <a:pPr algn="l">
              <a:spcAft>
                <a:spcPts val="400"/>
              </a:spcAft>
            </a:pPr>
            <a:r>
              <a:rPr sz="1250" b="0">
                <a:solidFill>
                  <a:srgbClr val="5B6573"/>
                </a:solidFill>
                <a:latin typeface="Arial"/>
              </a:rPr>
              <a:t>Practise, question, and explain your accounting choices.</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Protect data</a:t>
            </a:r>
          </a:p>
          <a:p>
            <a:pPr algn="l">
              <a:spcAft>
                <a:spcPts val="400"/>
              </a:spcAft>
            </a:pPr>
            <a:r>
              <a:rPr sz="1250" b="0">
                <a:solidFill>
                  <a:srgbClr val="5B6573"/>
                </a:solidFill>
                <a:latin typeface="Arial"/>
              </a:rPr>
              <a:t>Use only the fictional activity data—never real customer, payroll, tax, or bank credentials.</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Evidence matters</a:t>
            </a:r>
          </a:p>
          <a:p>
            <a:pPr algn="l">
              <a:spcAft>
                <a:spcPts val="400"/>
              </a:spcAft>
            </a:pPr>
            <a:r>
              <a:rPr sz="1250" b="0">
                <a:solidFill>
                  <a:srgbClr val="5B6573"/>
                </a:solidFill>
                <a:latin typeface="Arial"/>
              </a:rPr>
              <a:t>Keep the workbook, report, screenshot/export, and approval trail together.</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Return on time</a:t>
            </a:r>
          </a:p>
          <a:p>
            <a:pPr algn="l">
              <a:spcAft>
                <a:spcPts val="400"/>
              </a:spcAft>
            </a:pPr>
            <a:r>
              <a:rPr sz="1250" b="0">
                <a:solidFill>
                  <a:srgbClr val="5B6573"/>
                </a:solidFill>
                <a:latin typeface="Arial"/>
              </a:rPr>
              <a:t>Respect start, break, and submission times.</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5</a:t>
            </a:r>
          </a:p>
        </p:txBody>
      </p:sp>
    </p:spTree>
  </p:cSld>
  <p:transition spd="slow">
    <p:fade/>
  </p:transition>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TWO-DAY LEARNING ARC</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Course Outline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874519"/>
            <a:ext cx="3401568" cy="12801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1F6FEB"/>
                </a:solidFill>
                <a:latin typeface="Arial"/>
              </a:rPr>
              <a:t>01 · Transactions</a:t>
            </a:r>
          </a:p>
        </p:txBody>
      </p:sp>
      <p:sp>
        <p:nvSpPr>
          <p:cNvPr id="10" name="TextBox 9"/>
          <p:cNvSpPr txBox="1"/>
          <p:nvPr/>
        </p:nvSpPr>
        <p:spPr>
          <a:xfrm>
            <a:off x="9509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Advanced AR/AP, inventory, projects, bank rules, reconciliation, adjustments, close, roles, and audit trail.</a:t>
            </a:r>
          </a:p>
        </p:txBody>
      </p:sp>
      <p:sp>
        <p:nvSpPr>
          <p:cNvPr id="11" name="Rounded Rectangle 10"/>
          <p:cNvSpPr/>
          <p:nvPr/>
        </p:nvSpPr>
        <p:spPr>
          <a:xfrm>
            <a:off x="43708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2" y="1874519"/>
            <a:ext cx="3401568" cy="128016"/>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008E8E"/>
                </a:solidFill>
                <a:latin typeface="Arial"/>
              </a:rPr>
              <a:t>02 · Reporting</a:t>
            </a:r>
          </a:p>
        </p:txBody>
      </p:sp>
      <p:sp>
        <p:nvSpPr>
          <p:cNvPr id="14" name="TextBox 13"/>
          <p:cNvSpPr txBox="1"/>
          <p:nvPr/>
        </p:nvSpPr>
        <p:spPr>
          <a:xfrm>
            <a:off x="46085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Statements, subledgers, custom reports, ageing, profitability, cash flow, GST, and management action.</a:t>
            </a:r>
          </a:p>
        </p:txBody>
      </p:sp>
      <p:sp>
        <p:nvSpPr>
          <p:cNvPr id="15" name="Rounded Rectangle 14"/>
          <p:cNvSpPr/>
          <p:nvPr/>
        </p:nvSpPr>
        <p:spPr>
          <a:xfrm>
            <a:off x="8028431"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28431" y="1874519"/>
            <a:ext cx="3401568" cy="12801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6175"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7C3AED"/>
                </a:solidFill>
                <a:latin typeface="Arial"/>
              </a:rPr>
              <a:t>03 · Standards</a:t>
            </a:r>
          </a:p>
        </p:txBody>
      </p:sp>
      <p:sp>
        <p:nvSpPr>
          <p:cNvPr id="18" name="TextBox 17"/>
          <p:cNvSpPr txBox="1"/>
          <p:nvPr/>
        </p:nvSpPr>
        <p:spPr>
          <a:xfrm>
            <a:off x="8266175"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Singapore reporting framework, accrual, revenue, inventory, PPE, FX, estimates, and qualitative characteristics.</a:t>
            </a:r>
          </a:p>
        </p:txBody>
      </p:sp>
      <p:sp>
        <p:nvSpPr>
          <p:cNvPr id="19" name="TextBox 18"/>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0" name="TextBox 19"/>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1" name="TextBox 20"/>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6</a:t>
            </a:r>
          </a:p>
        </p:txBody>
      </p:sp>
    </p:spTree>
  </p:cSld>
  <p:transition spd="slow">
    <p:fade/>
  </p:transition>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9:30 AM–5:30 PM · 7.5 HOURS</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Lesson Plan · Day 1</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09:30–11:00</a:t>
            </a:r>
          </a:p>
          <a:p>
            <a:pPr algn="l">
              <a:spcAft>
                <a:spcPts val="400"/>
              </a:spcAft>
            </a:pPr>
            <a:r>
              <a:rPr sz="1250" b="0">
                <a:solidFill>
                  <a:srgbClr val="5B6573"/>
                </a:solidFill>
                <a:latin typeface="Arial"/>
              </a:rPr>
              <a:t>Admin, prerequisite bridge, control-ready company file, double-entry decision model</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11:00–13:15</a:t>
            </a:r>
          </a:p>
          <a:p>
            <a:pPr algn="l">
              <a:spcAft>
                <a:spcPts val="400"/>
              </a:spcAft>
            </a:pPr>
            <a:r>
              <a:rPr sz="1250" b="0">
                <a:solidFill>
                  <a:srgbClr val="5B6573"/>
                </a:solidFill>
                <a:latin typeface="Arial"/>
              </a:rPr>
              <a:t>Advanced order-to-cash, procure-to-pay, Activities 1–3</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13:45–16:00</a:t>
            </a:r>
          </a:p>
          <a:p>
            <a:pPr algn="l">
              <a:spcAft>
                <a:spcPts val="400"/>
              </a:spcAft>
            </a:pPr>
            <a:r>
              <a:rPr sz="1250" b="0">
                <a:solidFill>
                  <a:srgbClr val="5B6573"/>
                </a:solidFill>
                <a:latin typeface="Arial"/>
              </a:rPr>
              <a:t>Recurring transactions, inventory, projects, billable time and costs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16:00–17:30</a:t>
            </a:r>
          </a:p>
          <a:p>
            <a:pPr algn="l">
              <a:spcAft>
                <a:spcPts val="400"/>
              </a:spcAft>
            </a:pPr>
            <a:r>
              <a:rPr sz="1250" b="0">
                <a:solidFill>
                  <a:srgbClr val="5B6573"/>
                </a:solidFill>
                <a:latin typeface="Arial"/>
              </a:rPr>
              <a:t>Bank rules, reconciliation, month-end adjustments, close and audit controls</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7</a:t>
            </a:r>
          </a:p>
        </p:txBody>
      </p:sp>
    </p:spTree>
  </p:cSld>
  <p:transition spd="slow">
    <p:fade/>
  </p:transition>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9:30 AM–5:30 PM · 7.5 HOURS</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Lesson Plan · Day 2</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09:30–11:30</a:t>
            </a:r>
          </a:p>
          <a:p>
            <a:pPr algn="l">
              <a:spcAft>
                <a:spcPts val="400"/>
              </a:spcAft>
            </a:pPr>
            <a:r>
              <a:rPr sz="1250" b="0">
                <a:solidFill>
                  <a:srgbClr val="5B6573"/>
                </a:solidFill>
                <a:latin typeface="Arial"/>
              </a:rPr>
              <a:t>Statement architecture, subledger ties, report dimensions and custom reports</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11:30–13:10</a:t>
            </a:r>
          </a:p>
          <a:p>
            <a:pPr algn="l">
              <a:spcAft>
                <a:spcPts val="400"/>
              </a:spcAft>
            </a:pPr>
            <a:r>
              <a:rPr sz="1250" b="0">
                <a:solidFill>
                  <a:srgbClr val="5B6573"/>
                </a:solidFill>
                <a:latin typeface="Arial"/>
              </a:rPr>
              <a:t>Ageing, profitability, cash flow, GST, management reporting</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13:40–16:15</a:t>
            </a:r>
          </a:p>
          <a:p>
            <a:pPr algn="l">
              <a:spcAft>
                <a:spcPts val="400"/>
              </a:spcAft>
            </a:pPr>
            <a:r>
              <a:rPr sz="1250" b="0">
                <a:solidFill>
                  <a:srgbClr val="5B6573"/>
                </a:solidFill>
                <a:latin typeface="Arial"/>
              </a:rPr>
              <a:t>Activities 10–11; Singapore framework, accrual, revenue, inventory, PPE and FX</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16:15–17:30</a:t>
            </a:r>
          </a:p>
          <a:p>
            <a:pPr algn="l">
              <a:spcAft>
                <a:spcPts val="400"/>
              </a:spcAft>
            </a:pPr>
            <a:r>
              <a:rPr sz="1250" b="0">
                <a:solidFill>
                  <a:srgbClr val="5B6573"/>
                </a:solidFill>
                <a:latin typeface="Arial"/>
              </a:rPr>
              <a:t>Estimates, qualitative characteristics, Activity 12 capstone and course review</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8</a:t>
            </a:r>
          </a:p>
        </p:txBody>
      </p:sp>
    </p:spTree>
  </p:cSld>
  <p:transition spd="slow">
    <p:fade/>
  </p:transition>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LMS · CURRENT VERSION</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Download Course Material</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577340" y="2414016"/>
            <a:ext cx="731520" cy="73152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77340"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1</a:t>
            </a:r>
          </a:p>
        </p:txBody>
      </p:sp>
      <p:sp>
        <p:nvSpPr>
          <p:cNvPr id="10" name="TextBox 9"/>
          <p:cNvSpPr txBox="1"/>
          <p:nvPr/>
        </p:nvSpPr>
        <p:spPr>
          <a:xfrm>
            <a:off x="768096" y="3346704"/>
            <a:ext cx="2350008" cy="1481328"/>
          </a:xfrm>
          <a:prstGeom prst="rect">
            <a:avLst/>
          </a:prstGeom>
          <a:noFill/>
        </p:spPr>
        <p:txBody>
          <a:bodyPr wrap="square" anchor="ctr" lIns="54864" rIns="54864" tIns="54864" bIns="54864">
            <a:spAutoFit/>
          </a:bodyPr>
          <a:lstStyle/>
          <a:p>
            <a:pPr algn="ctr">
              <a:spcAft>
                <a:spcPts val="400"/>
              </a:spcAft>
            </a:pPr>
            <a:r>
              <a:rPr sz="1300" b="0">
                <a:solidFill>
                  <a:srgbClr val="17242B"/>
                </a:solidFill>
                <a:latin typeface="Arial"/>
              </a:rPr>
              <a:t>Sign in to the LMS</a:t>
            </a:r>
          </a:p>
        </p:txBody>
      </p:sp>
      <p:sp>
        <p:nvSpPr>
          <p:cNvPr id="11" name="TextBox 10"/>
          <p:cNvSpPr txBox="1"/>
          <p:nvPr/>
        </p:nvSpPr>
        <p:spPr>
          <a:xfrm>
            <a:off x="3209544"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1F6FEB"/>
                </a:solidFill>
                <a:latin typeface="Arial"/>
              </a:rPr>
              <a:t>▶</a:t>
            </a:r>
          </a:p>
        </p:txBody>
      </p:sp>
      <p:sp>
        <p:nvSpPr>
          <p:cNvPr id="12" name="Rounded Rectangle 11"/>
          <p:cNvSpPr/>
          <p:nvPr/>
        </p:nvSpPr>
        <p:spPr>
          <a:xfrm>
            <a:off x="3429000"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347972" y="2414016"/>
            <a:ext cx="731520" cy="731520"/>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47972"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2</a:t>
            </a:r>
          </a:p>
        </p:txBody>
      </p:sp>
      <p:sp>
        <p:nvSpPr>
          <p:cNvPr id="15" name="TextBox 14"/>
          <p:cNvSpPr txBox="1"/>
          <p:nvPr/>
        </p:nvSpPr>
        <p:spPr>
          <a:xfrm>
            <a:off x="3538728" y="3346704"/>
            <a:ext cx="2350008" cy="1481328"/>
          </a:xfrm>
          <a:prstGeom prst="rect">
            <a:avLst/>
          </a:prstGeom>
          <a:noFill/>
        </p:spPr>
        <p:txBody>
          <a:bodyPr wrap="square" anchor="ctr" lIns="54864" rIns="54864" tIns="54864" bIns="54864">
            <a:spAutoFit/>
          </a:bodyPr>
          <a:lstStyle/>
          <a:p>
            <a:pPr algn="ctr">
              <a:spcAft>
                <a:spcPts val="400"/>
              </a:spcAft>
            </a:pPr>
            <a:r>
              <a:rPr sz="1300" b="0">
                <a:solidFill>
                  <a:srgbClr val="17242B"/>
                </a:solidFill>
                <a:latin typeface="Arial"/>
              </a:rPr>
              <a:t>Open this course</a:t>
            </a:r>
          </a:p>
        </p:txBody>
      </p:sp>
      <p:sp>
        <p:nvSpPr>
          <p:cNvPr id="16" name="TextBox 15"/>
          <p:cNvSpPr txBox="1"/>
          <p:nvPr/>
        </p:nvSpPr>
        <p:spPr>
          <a:xfrm>
            <a:off x="5980176"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008E8E"/>
                </a:solidFill>
                <a:latin typeface="Arial"/>
              </a:rPr>
              <a:t>▶</a:t>
            </a:r>
          </a:p>
        </p:txBody>
      </p:sp>
      <p:sp>
        <p:nvSpPr>
          <p:cNvPr id="17" name="Rounded Rectangle 16"/>
          <p:cNvSpPr/>
          <p:nvPr/>
        </p:nvSpPr>
        <p:spPr>
          <a:xfrm>
            <a:off x="6199632"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18604" y="2414016"/>
            <a:ext cx="731520" cy="73152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18604"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3</a:t>
            </a:r>
          </a:p>
        </p:txBody>
      </p:sp>
      <p:sp>
        <p:nvSpPr>
          <p:cNvPr id="20" name="TextBox 19"/>
          <p:cNvSpPr txBox="1"/>
          <p:nvPr/>
        </p:nvSpPr>
        <p:spPr>
          <a:xfrm>
            <a:off x="6309360" y="3346704"/>
            <a:ext cx="2350008" cy="1481328"/>
          </a:xfrm>
          <a:prstGeom prst="rect">
            <a:avLst/>
          </a:prstGeom>
          <a:noFill/>
        </p:spPr>
        <p:txBody>
          <a:bodyPr wrap="square" anchor="ctr" lIns="54864" rIns="54864" tIns="54864" bIns="54864">
            <a:spAutoFit/>
          </a:bodyPr>
          <a:lstStyle/>
          <a:p>
            <a:pPr algn="ctr">
              <a:spcAft>
                <a:spcPts val="400"/>
              </a:spcAft>
            </a:pPr>
            <a:r>
              <a:rPr sz="1300" b="0">
                <a:solidFill>
                  <a:srgbClr val="17242B"/>
                </a:solidFill>
                <a:latin typeface="Arial"/>
              </a:rPr>
              <a:t>Choose Courseware</a:t>
            </a:r>
          </a:p>
        </p:txBody>
      </p:sp>
      <p:sp>
        <p:nvSpPr>
          <p:cNvPr id="21" name="TextBox 20"/>
          <p:cNvSpPr txBox="1"/>
          <p:nvPr/>
        </p:nvSpPr>
        <p:spPr>
          <a:xfrm>
            <a:off x="8750808"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7C3AED"/>
                </a:solidFill>
                <a:latin typeface="Arial"/>
              </a:rPr>
              <a:t>▶</a:t>
            </a:r>
          </a:p>
        </p:txBody>
      </p:sp>
      <p:sp>
        <p:nvSpPr>
          <p:cNvPr id="22" name="Rounded Rectangle 21"/>
          <p:cNvSpPr/>
          <p:nvPr/>
        </p:nvSpPr>
        <p:spPr>
          <a:xfrm>
            <a:off x="8970264"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889236" y="2414016"/>
            <a:ext cx="731520" cy="73152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89236"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4</a:t>
            </a:r>
          </a:p>
        </p:txBody>
      </p:sp>
      <p:sp>
        <p:nvSpPr>
          <p:cNvPr id="25" name="TextBox 24"/>
          <p:cNvSpPr txBox="1"/>
          <p:nvPr/>
        </p:nvSpPr>
        <p:spPr>
          <a:xfrm>
            <a:off x="9079992" y="3346704"/>
            <a:ext cx="2350008" cy="1481328"/>
          </a:xfrm>
          <a:prstGeom prst="rect">
            <a:avLst/>
          </a:prstGeom>
          <a:noFill/>
        </p:spPr>
        <p:txBody>
          <a:bodyPr wrap="square" anchor="ctr" lIns="54864" rIns="54864" tIns="54864" bIns="54864">
            <a:spAutoFit/>
          </a:bodyPr>
          <a:lstStyle/>
          <a:p>
            <a:pPr algn="ctr">
              <a:spcAft>
                <a:spcPts val="400"/>
              </a:spcAft>
            </a:pPr>
            <a:r>
              <a:rPr sz="1300" b="0">
                <a:solidFill>
                  <a:srgbClr val="17242B"/>
                </a:solidFill>
                <a:latin typeface="Arial"/>
              </a:rPr>
              <a:t>Download the current files</a:t>
            </a:r>
          </a:p>
        </p:txBody>
      </p:sp>
      <p:sp>
        <p:nvSpPr>
          <p:cNvPr id="26" name="TextBox 25"/>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7" name="TextBox 26"/>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8" name="TextBox 27"/>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9</a:t>
            </a:r>
          </a:p>
        </p:txBody>
      </p:sp>
      <p:sp>
        <p:nvSpPr>
          <p:cNvPr id="29" name="TextBox 28"/>
          <p:cNvSpPr txBox="1"/>
          <p:nvPr/>
        </p:nvSpPr>
        <p:spPr>
          <a:xfrm>
            <a:off x="822960" y="5897880"/>
            <a:ext cx="10607040" cy="384048"/>
          </a:xfrm>
          <a:prstGeom prst="rect">
            <a:avLst/>
          </a:prstGeom>
          <a:noFill/>
        </p:spPr>
        <p:txBody>
          <a:bodyPr wrap="none">
            <a:spAutoFit/>
          </a:bodyPr>
          <a:lstStyle/>
          <a:p>
            <a:pPr algn="ctr"/>
            <a:r>
              <a:rPr sz="1200">
                <a:solidFill>
                  <a:srgbClr val="1F6FEB"/>
                </a:solidFill>
                <a:latin typeface="Arial"/>
                <a:hlinkClick r:id="rId2"/>
              </a:rPr>
              <a:t>https://lms-tms.tertiaryinfotech.com/</a:t>
            </a:r>
          </a:p>
        </p:txBody>
      </p:sp>
    </p:spTree>
  </p:cSld>
  <p:transition spd="slow">
    <p:fade/>
  </p:transition>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CLICKABLE REPOSITORY</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Access the Course Activities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874519"/>
            <a:ext cx="3401568" cy="12801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1F6FEB"/>
                </a:solidFill>
                <a:latin typeface="Arial"/>
              </a:rPr>
              <a:t>OPTION A · CLONE</a:t>
            </a:r>
          </a:p>
        </p:txBody>
      </p:sp>
      <p:sp>
        <p:nvSpPr>
          <p:cNvPr id="10" name="TextBox 9"/>
          <p:cNvSpPr txBox="1"/>
          <p:nvPr/>
        </p:nvSpPr>
        <p:spPr>
          <a:xfrm>
            <a:off x="9509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git clone https://github.com/tertiarycourses/C699-QuickBooks-Accounting-Masterclass.git</a:t>
            </a:r>
          </a:p>
        </p:txBody>
      </p:sp>
      <p:sp>
        <p:nvSpPr>
          <p:cNvPr id="11" name="Rounded Rectangle 10"/>
          <p:cNvSpPr/>
          <p:nvPr/>
        </p:nvSpPr>
        <p:spPr>
          <a:xfrm>
            <a:off x="43708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2" y="1874519"/>
            <a:ext cx="3401568" cy="128016"/>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008E8E"/>
                </a:solidFill>
                <a:latin typeface="Arial"/>
              </a:rPr>
              <a:t>OPTION B · ZIP</a:t>
            </a:r>
          </a:p>
        </p:txBody>
      </p:sp>
      <p:sp>
        <p:nvSpPr>
          <p:cNvPr id="14" name="TextBox 13"/>
          <p:cNvSpPr txBox="1"/>
          <p:nvPr/>
        </p:nvSpPr>
        <p:spPr>
          <a:xfrm>
            <a:off x="46085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Open the GitHub repository, choose Code, then Download ZIP.</a:t>
            </a:r>
          </a:p>
        </p:txBody>
      </p:sp>
      <p:sp>
        <p:nvSpPr>
          <p:cNvPr id="15" name="Rounded Rectangle 14"/>
          <p:cNvSpPr/>
          <p:nvPr/>
        </p:nvSpPr>
        <p:spPr>
          <a:xfrm>
            <a:off x="8028431"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28431" y="1874519"/>
            <a:ext cx="3401568" cy="12801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6175"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7C3AED"/>
                </a:solidFill>
                <a:latin typeface="Arial"/>
              </a:rPr>
              <a:t>WORK SAFELY</a:t>
            </a:r>
          </a:p>
        </p:txBody>
      </p:sp>
      <p:sp>
        <p:nvSpPr>
          <p:cNvPr id="18" name="TextBox 17"/>
          <p:cNvSpPr txBox="1"/>
          <p:nvPr/>
        </p:nvSpPr>
        <p:spPr>
          <a:xfrm>
            <a:off x="8266175"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Use the fictional datasets and a QuickBooks Online practice company. Keep confidential data out of the repository.</a:t>
            </a:r>
          </a:p>
        </p:txBody>
      </p:sp>
      <p:sp>
        <p:nvSpPr>
          <p:cNvPr id="19" name="TextBox 18"/>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0" name="TextBox 19"/>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1" name="TextBox 20"/>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10</a:t>
            </a:r>
          </a:p>
        </p:txBody>
      </p:sp>
      <p:sp>
        <p:nvSpPr>
          <p:cNvPr id="22" name="TextBox 21"/>
          <p:cNvSpPr txBox="1"/>
          <p:nvPr/>
        </p:nvSpPr>
        <p:spPr>
          <a:xfrm>
            <a:off x="822960" y="5989320"/>
            <a:ext cx="10607040" cy="320040"/>
          </a:xfrm>
          <a:prstGeom prst="rect">
            <a:avLst/>
          </a:prstGeom>
          <a:noFill/>
        </p:spPr>
        <p:txBody>
          <a:bodyPr wrap="none">
            <a:spAutoFit/>
          </a:bodyPr>
          <a:lstStyle/>
          <a:p>
            <a:pPr algn="ctr"/>
            <a:r>
              <a:rPr sz="1100">
                <a:solidFill>
                  <a:srgbClr val="1F6FEB"/>
                </a:solidFill>
                <a:latin typeface="Arial"/>
                <a:hlinkClick r:id="rId2"/>
              </a:rPr>
              <a:t>https://github.com/tertiarycourses/C699-QuickBooks-Accounting-Masterclass</a:t>
            </a:r>
          </a:p>
        </p:txBody>
      </p:sp>
    </p:spTree>
  </p:cSld>
  <p:transition spd="slow">
    <p:fade/>
  </p:transition>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8" y="1920240"/>
            <a:ext cx="9326880" cy="347472"/>
          </a:xfrm>
          <a:prstGeom prst="rect">
            <a:avLst/>
          </a:prstGeom>
          <a:noFill/>
        </p:spPr>
        <p:txBody>
          <a:bodyPr wrap="square" anchor="t" lIns="54864" rIns="54864" tIns="54864" bIns="54864">
            <a:spAutoFit/>
          </a:bodyPr>
          <a:lstStyle/>
          <a:p>
            <a:pPr algn="l">
              <a:spcAft>
                <a:spcPts val="400"/>
              </a:spcAft>
            </a:pPr>
            <a:r>
              <a:rPr sz="1300" b="1">
                <a:solidFill>
                  <a:srgbClr val="1F6FEB"/>
                </a:solidFill>
                <a:latin typeface="Arial"/>
              </a:rPr>
              <a:t>TOPIC 1</a:t>
            </a:r>
          </a:p>
        </p:txBody>
      </p:sp>
      <p:sp>
        <p:nvSpPr>
          <p:cNvPr id="5" name="TextBox 4"/>
          <p:cNvSpPr txBox="1"/>
          <p:nvPr/>
        </p:nvSpPr>
        <p:spPr>
          <a:xfrm>
            <a:off x="841248" y="2359152"/>
            <a:ext cx="9875520" cy="1234440"/>
          </a:xfrm>
          <a:prstGeom prst="rect">
            <a:avLst/>
          </a:prstGeom>
          <a:noFill/>
        </p:spPr>
        <p:txBody>
          <a:bodyPr wrap="square" anchor="ctr" lIns="54864" rIns="54864" tIns="54864" bIns="54864">
            <a:spAutoFit/>
          </a:bodyPr>
          <a:lstStyle/>
          <a:p>
            <a:pPr algn="l">
              <a:spcAft>
                <a:spcPts val="400"/>
              </a:spcAft>
            </a:pPr>
            <a:r>
              <a:rPr sz="3900" b="1">
                <a:solidFill>
                  <a:srgbClr val="17242B"/>
                </a:solidFill>
                <a:latin typeface="Arial"/>
              </a:rPr>
              <a:t>Advanced Transactional Accounting</a:t>
            </a:r>
          </a:p>
        </p:txBody>
      </p:sp>
      <p:sp>
        <p:nvSpPr>
          <p:cNvPr id="6" name="TextBox 5"/>
          <p:cNvSpPr txBox="1"/>
          <p:nvPr/>
        </p:nvSpPr>
        <p:spPr>
          <a:xfrm>
            <a:off x="859536" y="3858768"/>
            <a:ext cx="9692640" cy="713232"/>
          </a:xfrm>
          <a:prstGeom prst="rect">
            <a:avLst/>
          </a:prstGeom>
          <a:noFill/>
        </p:spPr>
        <p:txBody>
          <a:bodyPr wrap="square" anchor="t" lIns="54864" rIns="54864" tIns="54864" bIns="54864">
            <a:spAutoFit/>
          </a:bodyPr>
          <a:lstStyle/>
          <a:p>
            <a:pPr algn="l">
              <a:spcAft>
                <a:spcPts val="400"/>
              </a:spcAft>
            </a:pPr>
            <a:r>
              <a:rPr sz="1600" b="0">
                <a:solidFill>
                  <a:srgbClr val="5B6573"/>
                </a:solidFill>
                <a:latin typeface="Arial"/>
              </a:rPr>
              <a:t>Control-ready masters · complex AR/AP · inventory · projects · bank feeds · month-end close</a:t>
            </a:r>
          </a:p>
        </p:txBody>
      </p:sp>
      <p:sp>
        <p:nvSpPr>
          <p:cNvPr id="7" name="TextBox 6"/>
          <p:cNvSpPr txBox="1"/>
          <p:nvPr/>
        </p:nvSpPr>
        <p:spPr>
          <a:xfrm>
            <a:off x="9784080" y="566928"/>
            <a:ext cx="1645920" cy="1097280"/>
          </a:xfrm>
          <a:prstGeom prst="rect">
            <a:avLst/>
          </a:prstGeom>
          <a:noFill/>
        </p:spPr>
        <p:txBody>
          <a:bodyPr wrap="square" anchor="t" lIns="54864" rIns="54864" tIns="54864" bIns="54864">
            <a:spAutoFit/>
          </a:bodyPr>
          <a:lstStyle/>
          <a:p>
            <a:pPr algn="r">
              <a:spcAft>
                <a:spcPts val="400"/>
              </a:spcAft>
            </a:pPr>
            <a:r>
              <a:rPr sz="5800" b="1">
                <a:solidFill>
                  <a:srgbClr val="DFE6ED"/>
                </a:solidFill>
                <a:latin typeface="Arial"/>
              </a:rPr>
              <a:t>01</a:t>
            </a:r>
          </a:p>
        </p:txBody>
      </p:sp>
      <p:sp>
        <p:nvSpPr>
          <p:cNvPr id="8" name="TextBox 7"/>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9" name="TextBox 8"/>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0" name="TextBox 9"/>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11</a:t>
            </a:r>
          </a:p>
        </p:txBody>
      </p:sp>
    </p:spTree>
  </p:cSld>
  <p:transition spd="slow">
    <p:fade/>
  </p:transition>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TOPIC 1</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Key Concepts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Control before speed</a:t>
            </a:r>
          </a:p>
          <a:p>
            <a:pPr algn="l">
              <a:spcAft>
                <a:spcPts val="400"/>
              </a:spcAft>
            </a:pPr>
            <a:r>
              <a:rPr sz="1250" b="0">
                <a:solidFill>
                  <a:srgbClr val="5B6573"/>
                </a:solidFill>
                <a:latin typeface="Arial"/>
              </a:rPr>
              <a:t>Automation scales both good coding and bad coding; design approval, evidence, and exception paths first.</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Subledger discipline</a:t>
            </a:r>
          </a:p>
          <a:p>
            <a:pPr algn="l">
              <a:spcAft>
                <a:spcPts val="400"/>
              </a:spcAft>
            </a:pPr>
            <a:r>
              <a:rPr sz="1250" b="0">
                <a:solidFill>
                  <a:srgbClr val="5B6573"/>
                </a:solidFill>
                <a:latin typeface="Arial"/>
              </a:rPr>
              <a:t>Customer, supplier, inventory, project, bank, and tax subledgers must reconcile to the general ledger.</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Event-to-entry reasoning</a:t>
            </a:r>
          </a:p>
          <a:p>
            <a:pPr algn="l">
              <a:spcAft>
                <a:spcPts val="400"/>
              </a:spcAft>
            </a:pPr>
            <a:r>
              <a:rPr sz="1250" b="0">
                <a:solidFill>
                  <a:srgbClr val="5B6573"/>
                </a:solidFill>
                <a:latin typeface="Arial"/>
              </a:rPr>
              <a:t>Identify the event, recognition point, accounts, debit/credit, tax treatment, and evidence before posting.</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Period integrity</a:t>
            </a:r>
          </a:p>
          <a:p>
            <a:pPr algn="l">
              <a:spcAft>
                <a:spcPts val="400"/>
              </a:spcAft>
            </a:pPr>
            <a:r>
              <a:rPr sz="1250" b="0">
                <a:solidFill>
                  <a:srgbClr val="5B6573"/>
                </a:solidFill>
                <a:latin typeface="Arial"/>
              </a:rPr>
              <a:t>Cut-off, accruals, prepayments, depreciation, FX, and reconciliations protect the reporting period.</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12</a:t>
            </a:r>
          </a:p>
        </p:txBody>
      </p:sp>
    </p:spTree>
  </p:cSld>
  <p:transition spd="slow">
    <p:fade/>
  </p:transition>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PREREQUISITE BRIDGE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From basic bookkeeping to advanced control</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Basic course boundary: navigation, simple invoices, bills, receipts, and standard reports are assumed.</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Advanced work adds estimates and judgements, linked documents, subledger controls, period-end entries, and evidence.</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A correct screen entry is not enough: it must post to the right period, account, tax code, project, and counterparty.</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Every workflow ends with a reconciliation or report-based acceptance test.</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13</a:t>
            </a:r>
          </a:p>
        </p:txBody>
      </p:sp>
    </p:spTree>
  </p:cSld>
  <p:transition spd="slow">
    <p:fade/>
  </p:transition>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PREREQUISITE BRIDGE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400" b="1">
                <a:solidFill>
                  <a:srgbClr val="17242B"/>
                </a:solidFill>
                <a:latin typeface="Arial"/>
              </a:rPr>
              <a:t>From basic bookkeeping to advanced control · Design vs evidence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303520" cy="432511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5303520" cy="10972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 y="2029968"/>
            <a:ext cx="4800600" cy="384048"/>
          </a:xfrm>
          <a:prstGeom prst="rect">
            <a:avLst/>
          </a:prstGeom>
          <a:noFill/>
        </p:spPr>
        <p:txBody>
          <a:bodyPr wrap="square" anchor="t" lIns="54864" rIns="54864" tIns="54864" bIns="54864">
            <a:spAutoFit/>
          </a:bodyPr>
          <a:lstStyle/>
          <a:p>
            <a:pPr algn="l">
              <a:spcAft>
                <a:spcPts val="400"/>
              </a:spcAft>
            </a:pPr>
            <a:r>
              <a:rPr sz="1700" b="1">
                <a:solidFill>
                  <a:srgbClr val="1F6FEB"/>
                </a:solidFill>
                <a:latin typeface="Arial"/>
              </a:rPr>
              <a:t>DESIGN / DECIDE</a:t>
            </a:r>
          </a:p>
        </p:txBody>
      </p:sp>
      <p:sp>
        <p:nvSpPr>
          <p:cNvPr id="10" name="Oval 9"/>
          <p:cNvSpPr/>
          <p:nvPr/>
        </p:nvSpPr>
        <p:spPr>
          <a:xfrm>
            <a:off x="969264" y="2606040"/>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2615184"/>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2" name="TextBox 11"/>
          <p:cNvSpPr txBox="1"/>
          <p:nvPr/>
        </p:nvSpPr>
        <p:spPr>
          <a:xfrm>
            <a:off x="1426464" y="2578608"/>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Basic course boundary: navigation, simple invoices, bills, receipts, and standard reports are assumed.</a:t>
            </a:r>
          </a:p>
        </p:txBody>
      </p:sp>
      <p:sp>
        <p:nvSpPr>
          <p:cNvPr id="13" name="Oval 12"/>
          <p:cNvSpPr/>
          <p:nvPr/>
        </p:nvSpPr>
        <p:spPr>
          <a:xfrm>
            <a:off x="969264" y="3438144"/>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47288"/>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15" name="TextBox 14"/>
          <p:cNvSpPr txBox="1"/>
          <p:nvPr/>
        </p:nvSpPr>
        <p:spPr>
          <a:xfrm>
            <a:off x="1426464" y="3410712"/>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Advanced work adds estimates and judgements, linked documents, subledger controls, period-end entries, and evidence.</a:t>
            </a:r>
          </a:p>
        </p:txBody>
      </p:sp>
      <p:sp>
        <p:nvSpPr>
          <p:cNvPr id="16" name="Rounded Rectangle 15"/>
          <p:cNvSpPr/>
          <p:nvPr/>
        </p:nvSpPr>
        <p:spPr>
          <a:xfrm>
            <a:off x="6199632" y="1783080"/>
            <a:ext cx="5303520" cy="432511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9632" y="1783080"/>
            <a:ext cx="5303520" cy="109728"/>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55664" y="2029968"/>
            <a:ext cx="4800600" cy="384048"/>
          </a:xfrm>
          <a:prstGeom prst="rect">
            <a:avLst/>
          </a:prstGeom>
          <a:noFill/>
        </p:spPr>
        <p:txBody>
          <a:bodyPr wrap="square" anchor="t" lIns="54864" rIns="54864" tIns="54864" bIns="54864">
            <a:spAutoFit/>
          </a:bodyPr>
          <a:lstStyle/>
          <a:p>
            <a:pPr algn="l">
              <a:spcAft>
                <a:spcPts val="400"/>
              </a:spcAft>
            </a:pPr>
            <a:r>
              <a:rPr sz="1700" b="1">
                <a:solidFill>
                  <a:srgbClr val="008E8E"/>
                </a:solidFill>
                <a:latin typeface="Arial"/>
              </a:rPr>
              <a:t>VERIFY / CONTROL</a:t>
            </a:r>
          </a:p>
        </p:txBody>
      </p:sp>
      <p:sp>
        <p:nvSpPr>
          <p:cNvPr id="19" name="Oval 18"/>
          <p:cNvSpPr/>
          <p:nvPr/>
        </p:nvSpPr>
        <p:spPr>
          <a:xfrm>
            <a:off x="6455664" y="2606040"/>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55664" y="2615184"/>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21" name="TextBox 20"/>
          <p:cNvSpPr txBox="1"/>
          <p:nvPr/>
        </p:nvSpPr>
        <p:spPr>
          <a:xfrm>
            <a:off x="6912864" y="2578608"/>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A correct screen entry is not enough: it must post to the right period, account, tax code, project, and counterparty.</a:t>
            </a:r>
          </a:p>
        </p:txBody>
      </p:sp>
      <p:sp>
        <p:nvSpPr>
          <p:cNvPr id="22" name="Oval 21"/>
          <p:cNvSpPr/>
          <p:nvPr/>
        </p:nvSpPr>
        <p:spPr>
          <a:xfrm>
            <a:off x="6455664" y="3438144"/>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5664" y="3447288"/>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4" name="TextBox 23"/>
          <p:cNvSpPr txBox="1"/>
          <p:nvPr/>
        </p:nvSpPr>
        <p:spPr>
          <a:xfrm>
            <a:off x="6912864" y="3410712"/>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Every workflow ends with a reconciliation or report-based acceptance test.</a:t>
            </a:r>
          </a:p>
        </p:txBody>
      </p:sp>
      <p:sp>
        <p:nvSpPr>
          <p:cNvPr id="25" name="TextBox 24"/>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6" name="TextBox 25"/>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7" name="TextBox 26"/>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14</a:t>
            </a:r>
          </a:p>
        </p:txBody>
      </p:sp>
    </p:spTree>
  </p:cSld>
  <p:transition spd="slow">
    <p:fade/>
  </p:transition>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MASTER DATA ARCHITECTURE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Control-ready company file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Design a numbered chart of accounts with control accounts, clearing accounts, and reporting-friendly subaccounts.</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Separate trade receivables/payables, GST input/output, inventory asset/COGS, fixed assets/accumulated depreciation, and suspense.</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Govern customer, supplier, product/service, payment term, project, class/location, and custom-field masters.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Prevent duplicates through naming conventions, ownership, change approval, and periodic inactive-master review.</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15</a:t>
            </a:r>
          </a:p>
        </p:txBody>
      </p:sp>
    </p:spTree>
  </p:cSld>
  <p:transition spd="slow">
    <p:fade/>
  </p:transition>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MASTER DATA ARCHITECTURE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Control-ready company file · Control flow</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577340" y="2414016"/>
            <a:ext cx="731520" cy="73152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77340"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1</a:t>
            </a:r>
          </a:p>
        </p:txBody>
      </p:sp>
      <p:sp>
        <p:nvSpPr>
          <p:cNvPr id="10" name="TextBox 9"/>
          <p:cNvSpPr txBox="1"/>
          <p:nvPr/>
        </p:nvSpPr>
        <p:spPr>
          <a:xfrm>
            <a:off x="768096"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Design a numbered chart of accounts with control accounts, clearing accounts, and reporting-friendly subaccounts.</a:t>
            </a:r>
          </a:p>
        </p:txBody>
      </p:sp>
      <p:sp>
        <p:nvSpPr>
          <p:cNvPr id="11" name="TextBox 10"/>
          <p:cNvSpPr txBox="1"/>
          <p:nvPr/>
        </p:nvSpPr>
        <p:spPr>
          <a:xfrm>
            <a:off x="3209544"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1F6FEB"/>
                </a:solidFill>
                <a:latin typeface="Arial"/>
              </a:rPr>
              <a:t>▶</a:t>
            </a:r>
          </a:p>
        </p:txBody>
      </p:sp>
      <p:sp>
        <p:nvSpPr>
          <p:cNvPr id="12" name="Rounded Rectangle 11"/>
          <p:cNvSpPr/>
          <p:nvPr/>
        </p:nvSpPr>
        <p:spPr>
          <a:xfrm>
            <a:off x="3429000"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347972" y="2414016"/>
            <a:ext cx="731520" cy="731520"/>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47972"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2</a:t>
            </a:r>
          </a:p>
        </p:txBody>
      </p:sp>
      <p:sp>
        <p:nvSpPr>
          <p:cNvPr id="15" name="TextBox 14"/>
          <p:cNvSpPr txBox="1"/>
          <p:nvPr/>
        </p:nvSpPr>
        <p:spPr>
          <a:xfrm>
            <a:off x="3538728"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Separate trade receivables/payables, GST input/output, inventory asset/COGS, fixed assets/accumulated depreciation, and suspense.</a:t>
            </a:r>
          </a:p>
        </p:txBody>
      </p:sp>
      <p:sp>
        <p:nvSpPr>
          <p:cNvPr id="16" name="TextBox 15"/>
          <p:cNvSpPr txBox="1"/>
          <p:nvPr/>
        </p:nvSpPr>
        <p:spPr>
          <a:xfrm>
            <a:off x="5980176"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008E8E"/>
                </a:solidFill>
                <a:latin typeface="Arial"/>
              </a:rPr>
              <a:t>▶</a:t>
            </a:r>
          </a:p>
        </p:txBody>
      </p:sp>
      <p:sp>
        <p:nvSpPr>
          <p:cNvPr id="17" name="Rounded Rectangle 16"/>
          <p:cNvSpPr/>
          <p:nvPr/>
        </p:nvSpPr>
        <p:spPr>
          <a:xfrm>
            <a:off x="6199632"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18604" y="2414016"/>
            <a:ext cx="731520" cy="73152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18604"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3</a:t>
            </a:r>
          </a:p>
        </p:txBody>
      </p:sp>
      <p:sp>
        <p:nvSpPr>
          <p:cNvPr id="20" name="TextBox 19"/>
          <p:cNvSpPr txBox="1"/>
          <p:nvPr/>
        </p:nvSpPr>
        <p:spPr>
          <a:xfrm>
            <a:off x="6309360"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Govern customer, supplier, product/service, payment term, project, class/location, and custom-field masters.</a:t>
            </a:r>
          </a:p>
        </p:txBody>
      </p:sp>
      <p:sp>
        <p:nvSpPr>
          <p:cNvPr id="21" name="TextBox 20"/>
          <p:cNvSpPr txBox="1"/>
          <p:nvPr/>
        </p:nvSpPr>
        <p:spPr>
          <a:xfrm>
            <a:off x="8750808"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7C3AED"/>
                </a:solidFill>
                <a:latin typeface="Arial"/>
              </a:rPr>
              <a:t>▶</a:t>
            </a:r>
          </a:p>
        </p:txBody>
      </p:sp>
      <p:sp>
        <p:nvSpPr>
          <p:cNvPr id="22" name="Rounded Rectangle 21"/>
          <p:cNvSpPr/>
          <p:nvPr/>
        </p:nvSpPr>
        <p:spPr>
          <a:xfrm>
            <a:off x="8970264"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889236" y="2414016"/>
            <a:ext cx="731520" cy="73152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89236"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4</a:t>
            </a:r>
          </a:p>
        </p:txBody>
      </p:sp>
      <p:sp>
        <p:nvSpPr>
          <p:cNvPr id="25" name="TextBox 24"/>
          <p:cNvSpPr txBox="1"/>
          <p:nvPr/>
        </p:nvSpPr>
        <p:spPr>
          <a:xfrm>
            <a:off x="9079992"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Prevent duplicates through naming conventions, ownership, change approval, and periodic inactive-master review.</a:t>
            </a:r>
          </a:p>
        </p:txBody>
      </p:sp>
      <p:sp>
        <p:nvSpPr>
          <p:cNvPr id="26" name="TextBox 25"/>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7" name="TextBox 26"/>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8" name="TextBox 27"/>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16</a:t>
            </a:r>
          </a:p>
        </p:txBody>
      </p:sp>
    </p:spTree>
  </p:cSld>
  <p:transition spd="slow">
    <p:fade/>
  </p:transition>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DOUBLE-ENTRY</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Event-to-entry decision model</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Business event: what happened, with whom, for how much, and when did control/performance occur?</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Recognition: does the event create an asset, liability, income, expense, equity movement, or disclosure only?</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Posting: select source document, accounts, debit/credit, GST code, project/segment, date, and supporting evidence.</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Verification: inspect the audit trail, subledger, trial balance, and financial-statement effect.</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17</a:t>
            </a:r>
          </a:p>
        </p:txBody>
      </p:sp>
    </p:spTree>
  </p:cSld>
  <p:transition spd="slow">
    <p:fade/>
  </p:transition>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DOUBLE-ENTRY</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Event-to-entry decision model · Three lenses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874519"/>
            <a:ext cx="3401568" cy="12801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1F6FEB"/>
                </a:solidFill>
                <a:latin typeface="Arial"/>
              </a:rPr>
              <a:t>EVENT</a:t>
            </a:r>
          </a:p>
        </p:txBody>
      </p:sp>
      <p:sp>
        <p:nvSpPr>
          <p:cNvPr id="10" name="TextBox 9"/>
          <p:cNvSpPr txBox="1"/>
          <p:nvPr/>
        </p:nvSpPr>
        <p:spPr>
          <a:xfrm>
            <a:off x="9509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Business event: what happened, with whom, for how much, and when did control/performance occur?</a:t>
            </a:r>
          </a:p>
        </p:txBody>
      </p:sp>
      <p:sp>
        <p:nvSpPr>
          <p:cNvPr id="11" name="Rounded Rectangle 10"/>
          <p:cNvSpPr/>
          <p:nvPr/>
        </p:nvSpPr>
        <p:spPr>
          <a:xfrm>
            <a:off x="43708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2" y="1874519"/>
            <a:ext cx="3401568" cy="128016"/>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008E8E"/>
                </a:solidFill>
                <a:latin typeface="Arial"/>
              </a:rPr>
              <a:t>ACCOUNTING</a:t>
            </a:r>
          </a:p>
        </p:txBody>
      </p:sp>
      <p:sp>
        <p:nvSpPr>
          <p:cNvPr id="14" name="TextBox 13"/>
          <p:cNvSpPr txBox="1"/>
          <p:nvPr/>
        </p:nvSpPr>
        <p:spPr>
          <a:xfrm>
            <a:off x="46085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Recognition: does the event create an asset, liability, income, expense, equity movement, or disclosure only?</a:t>
            </a:r>
          </a:p>
        </p:txBody>
      </p:sp>
      <p:sp>
        <p:nvSpPr>
          <p:cNvPr id="15" name="Rounded Rectangle 14"/>
          <p:cNvSpPr/>
          <p:nvPr/>
        </p:nvSpPr>
        <p:spPr>
          <a:xfrm>
            <a:off x="8028431"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28431" y="1874519"/>
            <a:ext cx="3401568" cy="12801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6175"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7C3AED"/>
                </a:solidFill>
                <a:latin typeface="Arial"/>
              </a:rPr>
              <a:t>CONTROL</a:t>
            </a:r>
          </a:p>
        </p:txBody>
      </p:sp>
      <p:sp>
        <p:nvSpPr>
          <p:cNvPr id="18" name="TextBox 17"/>
          <p:cNvSpPr txBox="1"/>
          <p:nvPr/>
        </p:nvSpPr>
        <p:spPr>
          <a:xfrm>
            <a:off x="8266175" y="2999232"/>
            <a:ext cx="2926080" cy="2487168"/>
          </a:xfrm>
          <a:prstGeom prst="rect">
            <a:avLst/>
          </a:prstGeom>
          <a:noFill/>
        </p:spPr>
        <p:txBody>
          <a:bodyPr wrap="square" anchor="t" lIns="54864" rIns="54864" tIns="54864" bIns="54864">
            <a:spAutoFit/>
          </a:bodyPr>
          <a:lstStyle/>
          <a:p>
            <a:pPr algn="l">
              <a:spcAft>
                <a:spcPts val="400"/>
              </a:spcAft>
            </a:pPr>
            <a:r>
              <a:rPr sz="1250" b="0">
                <a:solidFill>
                  <a:srgbClr val="17242B"/>
                </a:solidFill>
                <a:latin typeface="Arial"/>
              </a:rPr>
              <a:t>Posting: select source document, accounts, debit/credit, GST code, project/segment, date, and supporting evidence. Verification: inspect the audit trail, subledger, trial balance, and financial-statement effect.</a:t>
            </a:r>
          </a:p>
        </p:txBody>
      </p:sp>
      <p:sp>
        <p:nvSpPr>
          <p:cNvPr id="19" name="TextBox 18"/>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0" name="TextBox 19"/>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1" name="TextBox 20"/>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18</a:t>
            </a:r>
          </a:p>
        </p:txBody>
      </p:sp>
    </p:spTree>
  </p:cSld>
  <p:transition spd="slow">
    <p:fade/>
  </p:transition>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ACCOUNTING DECISION STAGE 1 OF 4</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Accounting Treatment Decision</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49424"/>
            <a:ext cx="1234440" cy="123444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377440"/>
            <a:ext cx="1234440" cy="822960"/>
          </a:xfrm>
          <a:prstGeom prst="rect">
            <a:avLst/>
          </a:prstGeom>
          <a:noFill/>
        </p:spPr>
        <p:txBody>
          <a:bodyPr wrap="square" anchor="ctr" lIns="54864" rIns="54864" tIns="54864" bIns="54864">
            <a:spAutoFit/>
          </a:bodyPr>
          <a:lstStyle/>
          <a:p>
            <a:pPr algn="ctr">
              <a:spcAft>
                <a:spcPts val="400"/>
              </a:spcAft>
            </a:pPr>
            <a:r>
              <a:rPr sz="3800" b="1">
                <a:solidFill>
                  <a:srgbClr val="FFFFFF"/>
                </a:solidFill>
                <a:latin typeface="Arial"/>
              </a:rPr>
              <a:t>1</a:t>
            </a:r>
          </a:p>
        </p:txBody>
      </p:sp>
      <p:sp>
        <p:nvSpPr>
          <p:cNvPr id="9" name="TextBox 8"/>
          <p:cNvSpPr txBox="1"/>
          <p:nvPr/>
        </p:nvSpPr>
        <p:spPr>
          <a:xfrm>
            <a:off x="2395728" y="2084831"/>
            <a:ext cx="8732520" cy="1508760"/>
          </a:xfrm>
          <a:prstGeom prst="rect">
            <a:avLst/>
          </a:prstGeom>
          <a:noFill/>
        </p:spPr>
        <p:txBody>
          <a:bodyPr wrap="square" anchor="ctr" lIns="54864" rIns="54864" tIns="54864" bIns="54864">
            <a:spAutoFit/>
          </a:bodyPr>
          <a:lstStyle/>
          <a:p>
            <a:pPr algn="l">
              <a:spcAft>
                <a:spcPts val="400"/>
              </a:spcAft>
            </a:pPr>
            <a:r>
              <a:rPr sz="2500" b="1">
                <a:solidFill>
                  <a:srgbClr val="17242B"/>
                </a:solidFill>
                <a:latin typeface="Arial"/>
              </a:rPr>
              <a:t>Identify the economic event and recognition point before choosing the QuickBooks form.</a:t>
            </a:r>
          </a:p>
        </p:txBody>
      </p:sp>
      <p:sp>
        <p:nvSpPr>
          <p:cNvPr id="10" name="Rounded Rectangle 9"/>
          <p:cNvSpPr/>
          <p:nvPr/>
        </p:nvSpPr>
        <p:spPr>
          <a:xfrm>
            <a:off x="2395728" y="3913632"/>
            <a:ext cx="8732520" cy="13716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70048" y="4160520"/>
            <a:ext cx="8138160" cy="777240"/>
          </a:xfrm>
          <a:prstGeom prst="rect">
            <a:avLst/>
          </a:prstGeom>
          <a:noFill/>
        </p:spPr>
        <p:txBody>
          <a:bodyPr wrap="square" anchor="ctr" lIns="54864" rIns="54864" tIns="54864" bIns="54864">
            <a:spAutoFit/>
          </a:bodyPr>
          <a:lstStyle/>
          <a:p>
            <a:pPr algn="l">
              <a:spcAft>
                <a:spcPts val="400"/>
              </a:spcAft>
            </a:pPr>
            <a:r>
              <a:rPr sz="1200" b="1">
                <a:solidFill>
                  <a:srgbClr val="008E8E"/>
                </a:solidFill>
                <a:latin typeface="Arial"/>
              </a:rPr>
              <a:t>EVIDENCE TEST · </a:t>
            </a:r>
            <a:r>
              <a:rPr sz="1500" b="0">
                <a:solidFill>
                  <a:srgbClr val="5B6573"/>
                </a:solidFill>
                <a:latin typeface="Arial"/>
              </a:rPr>
              <a:t>Contract, invoice, receipt, delivery, approval, and period evidence agree.</a:t>
            </a:r>
          </a:p>
        </p:txBody>
      </p:sp>
      <p:sp>
        <p:nvSpPr>
          <p:cNvPr id="12" name="TextBox 11"/>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13" name="TextBox 12"/>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4" name="TextBox 13"/>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19</a:t>
            </a:r>
          </a:p>
        </p:txBody>
      </p:sp>
    </p:spTree>
  </p:cSld>
  <p:transition spd="slow">
    <p:fade/>
  </p:transition>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ACCOUNTS RECEIVABLE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Advanced order-to-cash</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Connect estimate, deposit/advance, invoice or progress invoice, receipt, credit memo, refund, and write-off.</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Keep customer advances as liabilities until the performance obligation is satisfied; do not force early revenue.</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Apply receipts to the correct open invoices and investigate unapplied cash and negative customer balances.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Use ageing, overdue reminders, statements, credit limits, and collection notes as one controlled cycle.</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20</a:t>
            </a:r>
          </a:p>
        </p:txBody>
      </p:sp>
    </p:spTree>
  </p:cSld>
  <p:transition spd="slow">
    <p:fade/>
  </p:transition>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91640"/>
            <a:ext cx="10241280" cy="320040"/>
          </a:xfrm>
          <a:prstGeom prst="rect">
            <a:avLst/>
          </a:prstGeom>
          <a:noFill/>
        </p:spPr>
        <p:txBody>
          <a:bodyPr wrap="square" anchor="t" lIns="54864" rIns="54864" tIns="54864" bIns="54864">
            <a:spAutoFit/>
          </a:bodyPr>
          <a:lstStyle/>
          <a:p>
            <a:pPr algn="l">
              <a:spcAft>
                <a:spcPts val="400"/>
              </a:spcAft>
            </a:pPr>
            <a:r>
              <a:rPr sz="1200" b="1">
                <a:solidFill>
                  <a:srgbClr val="F59E0B"/>
                </a:solidFill>
                <a:latin typeface="Arial"/>
              </a:rPr>
              <a:t>ACCOUNTS RECEIVABLE</a:t>
            </a:r>
          </a:p>
        </p:txBody>
      </p:sp>
      <p:sp>
        <p:nvSpPr>
          <p:cNvPr id="5" name="TextBox 4"/>
          <p:cNvSpPr txBox="1"/>
          <p:nvPr/>
        </p:nvSpPr>
        <p:spPr>
          <a:xfrm>
            <a:off x="914400" y="2194560"/>
            <a:ext cx="10241280" cy="1828800"/>
          </a:xfrm>
          <a:prstGeom prst="rect">
            <a:avLst/>
          </a:prstGeom>
          <a:noFill/>
        </p:spPr>
        <p:txBody>
          <a:bodyPr wrap="square" anchor="ctr" lIns="54864" rIns="54864" tIns="54864" bIns="54864">
            <a:spAutoFit/>
          </a:bodyPr>
          <a:lstStyle/>
          <a:p>
            <a:pPr algn="l">
              <a:spcAft>
                <a:spcPts val="400"/>
              </a:spcAft>
            </a:pPr>
            <a:r>
              <a:rPr sz="3000" b="1">
                <a:solidFill>
                  <a:srgbClr val="17242B"/>
                </a:solidFill>
                <a:latin typeface="Arial"/>
              </a:rPr>
              <a:t>Connect estimate, deposit/advance, invoice or progress invoice, receipt, credit memo, refund, and write-off.</a:t>
            </a:r>
          </a:p>
        </p:txBody>
      </p:sp>
      <p:sp>
        <p:nvSpPr>
          <p:cNvPr id="6" name="TextBox 5"/>
          <p:cNvSpPr txBox="1"/>
          <p:nvPr/>
        </p:nvSpPr>
        <p:spPr>
          <a:xfrm>
            <a:off x="932688" y="4224528"/>
            <a:ext cx="9875520" cy="1325880"/>
          </a:xfrm>
          <a:prstGeom prst="rect">
            <a:avLst/>
          </a:prstGeom>
          <a:noFill/>
        </p:spPr>
        <p:txBody>
          <a:bodyPr wrap="square" anchor="t" lIns="54864" rIns="54864" tIns="54864" bIns="54864">
            <a:spAutoFit/>
          </a:bodyPr>
          <a:lstStyle/>
          <a:p>
            <a:pPr algn="l">
              <a:spcAft>
                <a:spcPts val="400"/>
              </a:spcAft>
            </a:pPr>
            <a:r>
              <a:rPr sz="1500" b="0">
                <a:solidFill>
                  <a:srgbClr val="5B6573"/>
                </a:solidFill>
                <a:latin typeface="Arial"/>
              </a:rPr>
              <a:t>Keep customer advances as liabilities until the performance obligation is satisfied; do not force early revenue. Apply receipts to the correct open invoices and investigate unapplied cash and negative customer balances. Use ageing, overdue reminders, statements, credit limits, and collection notes as one controlled cycle.</a:t>
            </a:r>
          </a:p>
        </p:txBody>
      </p:sp>
      <p:sp>
        <p:nvSpPr>
          <p:cNvPr id="7" name="TextBox 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8" name="TextBox 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9" name="TextBox 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21</a:t>
            </a:r>
          </a:p>
        </p:txBody>
      </p:sp>
    </p:spTree>
  </p:cSld>
  <p:transition spd="slow">
    <p:fade/>
  </p:transition>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WORKED CONTROL CHECK</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Advanced order-to-cash · Acceptance logic</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Connect estimate, deposit/advance, invoice or progress invoice, receipt, credit memo, refund, and write-off.</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Keep customer advances as liabilities until the performance obligation is satisfied; do not force early revenue.</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Apply receipts to the correct open invoices and investigate unapplied cash and negative customer balances.</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Use ageing, overdue reminders, statements, credit limits, and collection notes as one controlled cycle.</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22</a:t>
            </a:r>
          </a:p>
        </p:txBody>
      </p:sp>
    </p:spTree>
  </p:cSld>
  <p:transition spd="slow">
    <p:fade/>
  </p:transition>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EXCEPTION HANDLING</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Returns, credits, refunds, and bad debts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Credit memo reduces the customer's balance; refund receipt records cash returned—choose based on the commercial event.</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Link the reversal to the original product/service and GST treatment to preserve revenue and tax reporting.</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A write-off requires evidence of recoverability review and the approved bad-debt account/tax treatment.</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Monitor unusual credits, backdated changes, duplicate refunds, and manual journals to receivables.</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23</a:t>
            </a:r>
          </a:p>
        </p:txBody>
      </p:sp>
    </p:spTree>
  </p:cSld>
  <p:transition spd="slow">
    <p:fade/>
  </p:transition>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EXCEPTION HANDLING</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400" b="1">
                <a:solidFill>
                  <a:srgbClr val="17242B"/>
                </a:solidFill>
                <a:latin typeface="Arial"/>
              </a:rPr>
              <a:t>Returns, credits, refunds, and bad debts · Review questions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Credit memo reduces the customer's balance; refund receipt records cash returned—choose based on the commercial event.</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Link the reversal to the original product/service and GST treatment to preserve revenue and tax reporting.</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A write-off requires evidence of recoverability review and the approved bad-debt account/tax treatment.</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Monitor unusual credits, backdated changes, duplicate refunds, and manual journals to receivables.</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24</a:t>
            </a:r>
          </a:p>
        </p:txBody>
      </p:sp>
    </p:spTree>
  </p:cSld>
  <p:transition spd="slow">
    <p:fade/>
  </p:transition>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ACCOUNTS PAYABLE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Advanced procure-to-pay</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Connect purchase request/approval, purchase order, receipt, supplier bill, bill credit, payment, and supplier statement.</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A purchase order is a commitment, not yet an expense or liability; recognition follows receipt and the applicable policy.</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Use three-way thinking: order, receipt, and invoice should agree on item, quantity, price, tax, and project.</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Separate vendor creation, invoice approval, and payment release; investigate duplicate invoice numbers and bank changes.</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25</a:t>
            </a:r>
          </a:p>
        </p:txBody>
      </p:sp>
    </p:spTree>
  </p:cSld>
  <p:transition spd="slow">
    <p:fade/>
  </p:transition>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ACCOUNTS PAYABLE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Advanced procure-to-pay · Design vs evidence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303520" cy="432511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5303520" cy="10972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 y="2029968"/>
            <a:ext cx="4800600" cy="384048"/>
          </a:xfrm>
          <a:prstGeom prst="rect">
            <a:avLst/>
          </a:prstGeom>
          <a:noFill/>
        </p:spPr>
        <p:txBody>
          <a:bodyPr wrap="square" anchor="t" lIns="54864" rIns="54864" tIns="54864" bIns="54864">
            <a:spAutoFit/>
          </a:bodyPr>
          <a:lstStyle/>
          <a:p>
            <a:pPr algn="l">
              <a:spcAft>
                <a:spcPts val="400"/>
              </a:spcAft>
            </a:pPr>
            <a:r>
              <a:rPr sz="1700" b="1">
                <a:solidFill>
                  <a:srgbClr val="1F6FEB"/>
                </a:solidFill>
                <a:latin typeface="Arial"/>
              </a:rPr>
              <a:t>DESIGN / DECIDE</a:t>
            </a:r>
          </a:p>
        </p:txBody>
      </p:sp>
      <p:sp>
        <p:nvSpPr>
          <p:cNvPr id="10" name="Oval 9"/>
          <p:cNvSpPr/>
          <p:nvPr/>
        </p:nvSpPr>
        <p:spPr>
          <a:xfrm>
            <a:off x="969264" y="2606040"/>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2615184"/>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2" name="TextBox 11"/>
          <p:cNvSpPr txBox="1"/>
          <p:nvPr/>
        </p:nvSpPr>
        <p:spPr>
          <a:xfrm>
            <a:off x="1426464" y="2578608"/>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Connect purchase request/approval, purchase order, receipt, supplier bill, bill credit, payment, and supplier statement.</a:t>
            </a:r>
          </a:p>
        </p:txBody>
      </p:sp>
      <p:sp>
        <p:nvSpPr>
          <p:cNvPr id="13" name="Oval 12"/>
          <p:cNvSpPr/>
          <p:nvPr/>
        </p:nvSpPr>
        <p:spPr>
          <a:xfrm>
            <a:off x="969264" y="3438144"/>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47288"/>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15" name="TextBox 14"/>
          <p:cNvSpPr txBox="1"/>
          <p:nvPr/>
        </p:nvSpPr>
        <p:spPr>
          <a:xfrm>
            <a:off x="1426464" y="3410712"/>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A purchase order is a commitment, not yet an expense or liability; recognition follows receipt and the applicable policy.</a:t>
            </a:r>
          </a:p>
        </p:txBody>
      </p:sp>
      <p:sp>
        <p:nvSpPr>
          <p:cNvPr id="16" name="Rounded Rectangle 15"/>
          <p:cNvSpPr/>
          <p:nvPr/>
        </p:nvSpPr>
        <p:spPr>
          <a:xfrm>
            <a:off x="6199632" y="1783080"/>
            <a:ext cx="5303520" cy="432511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9632" y="1783080"/>
            <a:ext cx="5303520" cy="109728"/>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55664" y="2029968"/>
            <a:ext cx="4800600" cy="384048"/>
          </a:xfrm>
          <a:prstGeom prst="rect">
            <a:avLst/>
          </a:prstGeom>
          <a:noFill/>
        </p:spPr>
        <p:txBody>
          <a:bodyPr wrap="square" anchor="t" lIns="54864" rIns="54864" tIns="54864" bIns="54864">
            <a:spAutoFit/>
          </a:bodyPr>
          <a:lstStyle/>
          <a:p>
            <a:pPr algn="l">
              <a:spcAft>
                <a:spcPts val="400"/>
              </a:spcAft>
            </a:pPr>
            <a:r>
              <a:rPr sz="1700" b="1">
                <a:solidFill>
                  <a:srgbClr val="008E8E"/>
                </a:solidFill>
                <a:latin typeface="Arial"/>
              </a:rPr>
              <a:t>VERIFY / CONTROL</a:t>
            </a:r>
          </a:p>
        </p:txBody>
      </p:sp>
      <p:sp>
        <p:nvSpPr>
          <p:cNvPr id="19" name="Oval 18"/>
          <p:cNvSpPr/>
          <p:nvPr/>
        </p:nvSpPr>
        <p:spPr>
          <a:xfrm>
            <a:off x="6455664" y="2606040"/>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55664" y="2615184"/>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21" name="TextBox 20"/>
          <p:cNvSpPr txBox="1"/>
          <p:nvPr/>
        </p:nvSpPr>
        <p:spPr>
          <a:xfrm>
            <a:off x="6912864" y="2578608"/>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Use three-way thinking: order, receipt, and invoice should agree on item, quantity, price, tax, and project.</a:t>
            </a:r>
          </a:p>
        </p:txBody>
      </p:sp>
      <p:sp>
        <p:nvSpPr>
          <p:cNvPr id="22" name="Oval 21"/>
          <p:cNvSpPr/>
          <p:nvPr/>
        </p:nvSpPr>
        <p:spPr>
          <a:xfrm>
            <a:off x="6455664" y="3438144"/>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5664" y="3447288"/>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4" name="TextBox 23"/>
          <p:cNvSpPr txBox="1"/>
          <p:nvPr/>
        </p:nvSpPr>
        <p:spPr>
          <a:xfrm>
            <a:off x="6912864" y="3410712"/>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Separate vendor creation, invoice approval, and payment release; investigate duplicate invoice numbers and bank changes.</a:t>
            </a:r>
          </a:p>
        </p:txBody>
      </p:sp>
      <p:sp>
        <p:nvSpPr>
          <p:cNvPr id="25" name="TextBox 24"/>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6" name="TextBox 25"/>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7" name="TextBox 26"/>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26</a:t>
            </a:r>
          </a:p>
        </p:txBody>
      </p:sp>
    </p:spTree>
  </p:cSld>
  <p:transition spd="slow">
    <p:fade/>
  </p:transition>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AUTOMATION</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Recurring transactions with governance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Scheduled templates post automatically; reminders require review; unscheduled templates standardise repeatable entries.</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Use recurring entries for predictable amounts only, or pair variable templates with an evidence-based review.</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Assign an owner, end date, review frequency, tax treatment, and exception rule to every template.</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Audit the recurring-template list before close and after contract, rate, or GST changes.</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27</a:t>
            </a:r>
          </a:p>
        </p:txBody>
      </p:sp>
    </p:spTree>
  </p:cSld>
  <p:transition spd="slow">
    <p:fade/>
  </p:transition>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AUTOMATION</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400" b="1">
                <a:solidFill>
                  <a:srgbClr val="17242B"/>
                </a:solidFill>
                <a:latin typeface="Arial"/>
              </a:rPr>
              <a:t>Recurring transactions with governance · Control flow</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577340" y="2414016"/>
            <a:ext cx="731520" cy="73152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77340"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1</a:t>
            </a:r>
          </a:p>
        </p:txBody>
      </p:sp>
      <p:sp>
        <p:nvSpPr>
          <p:cNvPr id="10" name="TextBox 9"/>
          <p:cNvSpPr txBox="1"/>
          <p:nvPr/>
        </p:nvSpPr>
        <p:spPr>
          <a:xfrm>
            <a:off x="768096"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Scheduled templates post automatically; reminders require review; unscheduled templates standardise repeatable entries.</a:t>
            </a:r>
          </a:p>
        </p:txBody>
      </p:sp>
      <p:sp>
        <p:nvSpPr>
          <p:cNvPr id="11" name="TextBox 10"/>
          <p:cNvSpPr txBox="1"/>
          <p:nvPr/>
        </p:nvSpPr>
        <p:spPr>
          <a:xfrm>
            <a:off x="3209544"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1F6FEB"/>
                </a:solidFill>
                <a:latin typeface="Arial"/>
              </a:rPr>
              <a:t>▶</a:t>
            </a:r>
          </a:p>
        </p:txBody>
      </p:sp>
      <p:sp>
        <p:nvSpPr>
          <p:cNvPr id="12" name="Rounded Rectangle 11"/>
          <p:cNvSpPr/>
          <p:nvPr/>
        </p:nvSpPr>
        <p:spPr>
          <a:xfrm>
            <a:off x="3429000"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347972" y="2414016"/>
            <a:ext cx="731520" cy="731520"/>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47972"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2</a:t>
            </a:r>
          </a:p>
        </p:txBody>
      </p:sp>
      <p:sp>
        <p:nvSpPr>
          <p:cNvPr id="15" name="TextBox 14"/>
          <p:cNvSpPr txBox="1"/>
          <p:nvPr/>
        </p:nvSpPr>
        <p:spPr>
          <a:xfrm>
            <a:off x="3538728"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Use recurring entries for predictable amounts only, or pair variable templates with an evidence-based review.</a:t>
            </a:r>
          </a:p>
        </p:txBody>
      </p:sp>
      <p:sp>
        <p:nvSpPr>
          <p:cNvPr id="16" name="TextBox 15"/>
          <p:cNvSpPr txBox="1"/>
          <p:nvPr/>
        </p:nvSpPr>
        <p:spPr>
          <a:xfrm>
            <a:off x="5980176"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008E8E"/>
                </a:solidFill>
                <a:latin typeface="Arial"/>
              </a:rPr>
              <a:t>▶</a:t>
            </a:r>
          </a:p>
        </p:txBody>
      </p:sp>
      <p:sp>
        <p:nvSpPr>
          <p:cNvPr id="17" name="Rounded Rectangle 16"/>
          <p:cNvSpPr/>
          <p:nvPr/>
        </p:nvSpPr>
        <p:spPr>
          <a:xfrm>
            <a:off x="6199632"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18604" y="2414016"/>
            <a:ext cx="731520" cy="73152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18604"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3</a:t>
            </a:r>
          </a:p>
        </p:txBody>
      </p:sp>
      <p:sp>
        <p:nvSpPr>
          <p:cNvPr id="20" name="TextBox 19"/>
          <p:cNvSpPr txBox="1"/>
          <p:nvPr/>
        </p:nvSpPr>
        <p:spPr>
          <a:xfrm>
            <a:off x="6309360"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Assign an owner, end date, review frequency, tax treatment, and exception rule to every template.</a:t>
            </a:r>
          </a:p>
        </p:txBody>
      </p:sp>
      <p:sp>
        <p:nvSpPr>
          <p:cNvPr id="21" name="TextBox 20"/>
          <p:cNvSpPr txBox="1"/>
          <p:nvPr/>
        </p:nvSpPr>
        <p:spPr>
          <a:xfrm>
            <a:off x="8750808"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7C3AED"/>
                </a:solidFill>
                <a:latin typeface="Arial"/>
              </a:rPr>
              <a:t>▶</a:t>
            </a:r>
          </a:p>
        </p:txBody>
      </p:sp>
      <p:sp>
        <p:nvSpPr>
          <p:cNvPr id="22" name="Rounded Rectangle 21"/>
          <p:cNvSpPr/>
          <p:nvPr/>
        </p:nvSpPr>
        <p:spPr>
          <a:xfrm>
            <a:off x="8970264"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889236" y="2414016"/>
            <a:ext cx="731520" cy="73152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89236"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4</a:t>
            </a:r>
          </a:p>
        </p:txBody>
      </p:sp>
      <p:sp>
        <p:nvSpPr>
          <p:cNvPr id="25" name="TextBox 24"/>
          <p:cNvSpPr txBox="1"/>
          <p:nvPr/>
        </p:nvSpPr>
        <p:spPr>
          <a:xfrm>
            <a:off x="9079992"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Audit the recurring-template list before close and after contract, rate, or GST changes.</a:t>
            </a:r>
          </a:p>
        </p:txBody>
      </p:sp>
      <p:sp>
        <p:nvSpPr>
          <p:cNvPr id="26" name="TextBox 25"/>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7" name="TextBox 26"/>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8" name="TextBox 27"/>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28</a:t>
            </a:r>
          </a:p>
        </p:txBody>
      </p:sp>
    </p:spTree>
  </p:cSld>
  <p:transition spd="slow">
    <p:fade/>
  </p:transition>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QUANTITY AND VALUE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Inventory and cost of sales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Purchases increase inventory asset and quantity; sales reduce inventory and recognise cost of goods sold.</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Reconcile quantity-on-hand, inventory valuation, general-ledger balance, and physical count evidence.</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Investigate negative inventory, backdated purchases/sales, inactive items, unit-of-measure errors, and unusual adjustments.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Adjustments need reason codes, approval, evidence, and an understood profit impact—not a plug to make reports agree.</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29</a:t>
            </a:r>
          </a:p>
        </p:txBody>
      </p:sp>
    </p:spTree>
  </p:cSld>
  <p:transition spd="slow">
    <p:fade/>
  </p:transition>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QUANTITY AND VALUE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Inventory and cost of sales · Three lenses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874519"/>
            <a:ext cx="3401568" cy="12801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1F6FEB"/>
                </a:solidFill>
                <a:latin typeface="Arial"/>
              </a:rPr>
              <a:t>EVENT</a:t>
            </a:r>
          </a:p>
        </p:txBody>
      </p:sp>
      <p:sp>
        <p:nvSpPr>
          <p:cNvPr id="10" name="TextBox 9"/>
          <p:cNvSpPr txBox="1"/>
          <p:nvPr/>
        </p:nvSpPr>
        <p:spPr>
          <a:xfrm>
            <a:off x="9509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Purchases increase inventory asset and quantity; sales reduce inventory and recognise cost of goods sold.</a:t>
            </a:r>
          </a:p>
        </p:txBody>
      </p:sp>
      <p:sp>
        <p:nvSpPr>
          <p:cNvPr id="11" name="Rounded Rectangle 10"/>
          <p:cNvSpPr/>
          <p:nvPr/>
        </p:nvSpPr>
        <p:spPr>
          <a:xfrm>
            <a:off x="43708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2" y="1874519"/>
            <a:ext cx="3401568" cy="128016"/>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008E8E"/>
                </a:solidFill>
                <a:latin typeface="Arial"/>
              </a:rPr>
              <a:t>ACCOUNTING</a:t>
            </a:r>
          </a:p>
        </p:txBody>
      </p:sp>
      <p:sp>
        <p:nvSpPr>
          <p:cNvPr id="14" name="TextBox 13"/>
          <p:cNvSpPr txBox="1"/>
          <p:nvPr/>
        </p:nvSpPr>
        <p:spPr>
          <a:xfrm>
            <a:off x="46085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Reconcile quantity-on-hand, inventory valuation, general-ledger balance, and physical count evidence.</a:t>
            </a:r>
          </a:p>
        </p:txBody>
      </p:sp>
      <p:sp>
        <p:nvSpPr>
          <p:cNvPr id="15" name="Rounded Rectangle 14"/>
          <p:cNvSpPr/>
          <p:nvPr/>
        </p:nvSpPr>
        <p:spPr>
          <a:xfrm>
            <a:off x="8028431"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28431" y="1874519"/>
            <a:ext cx="3401568" cy="12801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6175"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7C3AED"/>
                </a:solidFill>
                <a:latin typeface="Arial"/>
              </a:rPr>
              <a:t>CONTROL</a:t>
            </a:r>
          </a:p>
        </p:txBody>
      </p:sp>
      <p:sp>
        <p:nvSpPr>
          <p:cNvPr id="18" name="TextBox 17"/>
          <p:cNvSpPr txBox="1"/>
          <p:nvPr/>
        </p:nvSpPr>
        <p:spPr>
          <a:xfrm>
            <a:off x="8266175" y="2999232"/>
            <a:ext cx="2926080" cy="2487168"/>
          </a:xfrm>
          <a:prstGeom prst="rect">
            <a:avLst/>
          </a:prstGeom>
          <a:noFill/>
        </p:spPr>
        <p:txBody>
          <a:bodyPr wrap="square" anchor="t" lIns="54864" rIns="54864" tIns="54864" bIns="54864">
            <a:spAutoFit/>
          </a:bodyPr>
          <a:lstStyle/>
          <a:p>
            <a:pPr algn="l">
              <a:spcAft>
                <a:spcPts val="400"/>
              </a:spcAft>
            </a:pPr>
            <a:r>
              <a:rPr sz="1250" b="0">
                <a:solidFill>
                  <a:srgbClr val="17242B"/>
                </a:solidFill>
                <a:latin typeface="Arial"/>
              </a:rPr>
              <a:t>Investigate negative inventory, backdated purchases/sales, inactive items, unit-of-measure errors, and unusual adjustments. Adjustments need reason codes, approval, evidence, and an understood profit impact—not a plug to make reports agree.</a:t>
            </a:r>
          </a:p>
        </p:txBody>
      </p:sp>
      <p:sp>
        <p:nvSpPr>
          <p:cNvPr id="19" name="TextBox 18"/>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0" name="TextBox 19"/>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1" name="TextBox 20"/>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30</a:t>
            </a:r>
          </a:p>
        </p:txBody>
      </p:sp>
    </p:spTree>
  </p:cSld>
  <p:transition spd="slow">
    <p:fade/>
  </p:transition>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WORKED CONTROL CHECK</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Inventory and cost of sales · Acceptance logic</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Purchases increase inventory asset and quantity; sales reduce inventory and recognise cost of goods sold.</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Reconcile quantity-on-hand, inventory valuation, general-ledger balance, and physical count evidence.</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Investigate negative inventory, backdated purchases/sales, inactive items, unit-of-measure errors, and unusual adjustments.</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Adjustments need reason codes, approval, evidence, and an understood profit impact—not a plug to make reports agree.</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31</a:t>
            </a:r>
          </a:p>
        </p:txBody>
      </p:sp>
    </p:spTree>
  </p:cSld>
  <p:transition spd="slow">
    <p:fade/>
  </p:transition>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JOB PROFITABILITY</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Projects, time, and billable costs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Assign revenue, supplier costs, expenses, time, and billable items to the correct customer project.</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Separate billable status from accounting classification: an expense can be valid but assigned to the wrong project.</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Compare estimate, invoiced, earned, cost incurred, unbilled time/expense, and margin to expose leakage.</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Close a project only after final billing, cost capture, write-off decisions, and profitability review.</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32</a:t>
            </a:r>
          </a:p>
        </p:txBody>
      </p:sp>
    </p:spTree>
  </p:cSld>
  <p:transition spd="slow">
    <p:fade/>
  </p:transition>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91640"/>
            <a:ext cx="10241280" cy="320040"/>
          </a:xfrm>
          <a:prstGeom prst="rect">
            <a:avLst/>
          </a:prstGeom>
          <a:noFill/>
        </p:spPr>
        <p:txBody>
          <a:bodyPr wrap="square" anchor="t" lIns="54864" rIns="54864" tIns="54864" bIns="54864">
            <a:spAutoFit/>
          </a:bodyPr>
          <a:lstStyle/>
          <a:p>
            <a:pPr algn="l">
              <a:spcAft>
                <a:spcPts val="400"/>
              </a:spcAft>
            </a:pPr>
            <a:r>
              <a:rPr sz="1200" b="1">
                <a:solidFill>
                  <a:srgbClr val="F59E0B"/>
                </a:solidFill>
                <a:latin typeface="Arial"/>
              </a:rPr>
              <a:t>JOB PROFITABILITY</a:t>
            </a:r>
          </a:p>
        </p:txBody>
      </p:sp>
      <p:sp>
        <p:nvSpPr>
          <p:cNvPr id="5" name="TextBox 4"/>
          <p:cNvSpPr txBox="1"/>
          <p:nvPr/>
        </p:nvSpPr>
        <p:spPr>
          <a:xfrm>
            <a:off x="914400" y="2194560"/>
            <a:ext cx="10241280" cy="1828800"/>
          </a:xfrm>
          <a:prstGeom prst="rect">
            <a:avLst/>
          </a:prstGeom>
          <a:noFill/>
        </p:spPr>
        <p:txBody>
          <a:bodyPr wrap="square" anchor="ctr" lIns="54864" rIns="54864" tIns="54864" bIns="54864">
            <a:spAutoFit/>
          </a:bodyPr>
          <a:lstStyle/>
          <a:p>
            <a:pPr algn="l">
              <a:spcAft>
                <a:spcPts val="400"/>
              </a:spcAft>
            </a:pPr>
            <a:r>
              <a:rPr sz="3500" b="1">
                <a:solidFill>
                  <a:srgbClr val="17242B"/>
                </a:solidFill>
                <a:latin typeface="Arial"/>
              </a:rPr>
              <a:t>Assign revenue, supplier costs, expenses, time, and billable items to the correct customer project.</a:t>
            </a:r>
          </a:p>
        </p:txBody>
      </p:sp>
      <p:sp>
        <p:nvSpPr>
          <p:cNvPr id="6" name="TextBox 5"/>
          <p:cNvSpPr txBox="1"/>
          <p:nvPr/>
        </p:nvSpPr>
        <p:spPr>
          <a:xfrm>
            <a:off x="932688" y="4224528"/>
            <a:ext cx="9875520" cy="1325880"/>
          </a:xfrm>
          <a:prstGeom prst="rect">
            <a:avLst/>
          </a:prstGeom>
          <a:noFill/>
        </p:spPr>
        <p:txBody>
          <a:bodyPr wrap="square" anchor="t" lIns="54864" rIns="54864" tIns="54864" bIns="54864">
            <a:spAutoFit/>
          </a:bodyPr>
          <a:lstStyle/>
          <a:p>
            <a:pPr algn="l">
              <a:spcAft>
                <a:spcPts val="400"/>
              </a:spcAft>
            </a:pPr>
            <a:r>
              <a:rPr sz="1500" b="0">
                <a:solidFill>
                  <a:srgbClr val="5B6573"/>
                </a:solidFill>
                <a:latin typeface="Arial"/>
              </a:rPr>
              <a:t>Separate billable status from accounting classification: an expense can be valid but assigned to the wrong project. Compare estimate, invoiced, earned, cost incurred, unbilled time/expense, and margin to expose leakage. Close a project only after final billing, cost capture, write-off decisions, and profitability review.</a:t>
            </a:r>
          </a:p>
        </p:txBody>
      </p:sp>
      <p:sp>
        <p:nvSpPr>
          <p:cNvPr id="7" name="TextBox 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8" name="TextBox 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9" name="TextBox 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33</a:t>
            </a:r>
          </a:p>
        </p:txBody>
      </p:sp>
    </p:spTree>
  </p:cSld>
  <p:transition spd="slow">
    <p:fade/>
  </p:transition>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AUTOMATION WITH REVIEW</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Bank feeds and rule design</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A bank-feed line is external evidence, not automatically a new accounting transaction; match before add.</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Use bank text, description, amount, account, payee, transaction type, category, tax, and project conditions deliberately.</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Rule priority matters; broad rules can override precise rules and silently misclassify high volumes.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Enable auto-add only for stable, low-risk patterns with a periodic exception and sampling review.</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34</a:t>
            </a:r>
          </a:p>
        </p:txBody>
      </p:sp>
    </p:spTree>
  </p:cSld>
  <p:transition spd="slow">
    <p:fade/>
  </p:transition>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AUTOMATION WITH REVIEW</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Bank feeds and rule design · Review questions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A bank-feed line is external evidence, not automatically a new accounting transaction; match before add.</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Use bank text, description, amount, account, payee, transaction type, category, tax, and project conditions deliberately.</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Rule priority matters; broad rules can override precise rules and silently misclassify high volumes.</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Enable auto-add only for stable, low-risk patterns with a periodic exception and sampling review.</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35</a:t>
            </a:r>
          </a:p>
        </p:txBody>
      </p:sp>
    </p:spTree>
  </p:cSld>
  <p:transition spd="slow">
    <p:fade/>
  </p:transition>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BANK AND CREDIT CARD</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Reconciliation as a control</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Reconciliation proves the ledger agrees to an independent statement at a point in time.</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Opening balance, statement ending balance, cleared items, outstanding items, and difference form the control equation.</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Investigate missing, duplicate, altered, stale, and future-dated items; never force a zero with an unexplained adjustment.</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Preserve the reconciliation report and review changes to previously reconciled transactions in the audit log.</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36</a:t>
            </a:r>
          </a:p>
        </p:txBody>
      </p:sp>
    </p:spTree>
  </p:cSld>
  <p:transition spd="slow">
    <p:fade/>
  </p:transition>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BANK AND CREDIT CARD</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Reconciliation as a control · Design vs evidence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303520" cy="432511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5303520" cy="10972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 y="2029968"/>
            <a:ext cx="4800600" cy="384048"/>
          </a:xfrm>
          <a:prstGeom prst="rect">
            <a:avLst/>
          </a:prstGeom>
          <a:noFill/>
        </p:spPr>
        <p:txBody>
          <a:bodyPr wrap="square" anchor="t" lIns="54864" rIns="54864" tIns="54864" bIns="54864">
            <a:spAutoFit/>
          </a:bodyPr>
          <a:lstStyle/>
          <a:p>
            <a:pPr algn="l">
              <a:spcAft>
                <a:spcPts val="400"/>
              </a:spcAft>
            </a:pPr>
            <a:r>
              <a:rPr sz="1700" b="1">
                <a:solidFill>
                  <a:srgbClr val="1F6FEB"/>
                </a:solidFill>
                <a:latin typeface="Arial"/>
              </a:rPr>
              <a:t>DESIGN / DECIDE</a:t>
            </a:r>
          </a:p>
        </p:txBody>
      </p:sp>
      <p:sp>
        <p:nvSpPr>
          <p:cNvPr id="10" name="Oval 9"/>
          <p:cNvSpPr/>
          <p:nvPr/>
        </p:nvSpPr>
        <p:spPr>
          <a:xfrm>
            <a:off x="969264" y="2606040"/>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2615184"/>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2" name="TextBox 11"/>
          <p:cNvSpPr txBox="1"/>
          <p:nvPr/>
        </p:nvSpPr>
        <p:spPr>
          <a:xfrm>
            <a:off x="1426464" y="2578608"/>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Reconciliation proves the ledger agrees to an independent statement at a point in time.</a:t>
            </a:r>
          </a:p>
        </p:txBody>
      </p:sp>
      <p:sp>
        <p:nvSpPr>
          <p:cNvPr id="13" name="Oval 12"/>
          <p:cNvSpPr/>
          <p:nvPr/>
        </p:nvSpPr>
        <p:spPr>
          <a:xfrm>
            <a:off x="969264" y="3438144"/>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47288"/>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15" name="TextBox 14"/>
          <p:cNvSpPr txBox="1"/>
          <p:nvPr/>
        </p:nvSpPr>
        <p:spPr>
          <a:xfrm>
            <a:off x="1426464" y="3410712"/>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Opening balance, statement ending balance, cleared items, outstanding items, and difference form the control equation.</a:t>
            </a:r>
          </a:p>
        </p:txBody>
      </p:sp>
      <p:sp>
        <p:nvSpPr>
          <p:cNvPr id="16" name="Rounded Rectangle 15"/>
          <p:cNvSpPr/>
          <p:nvPr/>
        </p:nvSpPr>
        <p:spPr>
          <a:xfrm>
            <a:off x="6199632" y="1783080"/>
            <a:ext cx="5303520" cy="432511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9632" y="1783080"/>
            <a:ext cx="5303520" cy="109728"/>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55664" y="2029968"/>
            <a:ext cx="4800600" cy="384048"/>
          </a:xfrm>
          <a:prstGeom prst="rect">
            <a:avLst/>
          </a:prstGeom>
          <a:noFill/>
        </p:spPr>
        <p:txBody>
          <a:bodyPr wrap="square" anchor="t" lIns="54864" rIns="54864" tIns="54864" bIns="54864">
            <a:spAutoFit/>
          </a:bodyPr>
          <a:lstStyle/>
          <a:p>
            <a:pPr algn="l">
              <a:spcAft>
                <a:spcPts val="400"/>
              </a:spcAft>
            </a:pPr>
            <a:r>
              <a:rPr sz="1700" b="1">
                <a:solidFill>
                  <a:srgbClr val="008E8E"/>
                </a:solidFill>
                <a:latin typeface="Arial"/>
              </a:rPr>
              <a:t>VERIFY / CONTROL</a:t>
            </a:r>
          </a:p>
        </p:txBody>
      </p:sp>
      <p:sp>
        <p:nvSpPr>
          <p:cNvPr id="19" name="Oval 18"/>
          <p:cNvSpPr/>
          <p:nvPr/>
        </p:nvSpPr>
        <p:spPr>
          <a:xfrm>
            <a:off x="6455664" y="2606040"/>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55664" y="2615184"/>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21" name="TextBox 20"/>
          <p:cNvSpPr txBox="1"/>
          <p:nvPr/>
        </p:nvSpPr>
        <p:spPr>
          <a:xfrm>
            <a:off x="6912864" y="2578608"/>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Investigate missing, duplicate, altered, stale, and future-dated items; never force a zero with an unexplained adjustment.</a:t>
            </a:r>
          </a:p>
        </p:txBody>
      </p:sp>
      <p:sp>
        <p:nvSpPr>
          <p:cNvPr id="22" name="Oval 21"/>
          <p:cNvSpPr/>
          <p:nvPr/>
        </p:nvSpPr>
        <p:spPr>
          <a:xfrm>
            <a:off x="6455664" y="3438144"/>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5664" y="3447288"/>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4" name="TextBox 23"/>
          <p:cNvSpPr txBox="1"/>
          <p:nvPr/>
        </p:nvSpPr>
        <p:spPr>
          <a:xfrm>
            <a:off x="6912864" y="3410712"/>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Preserve the reconciliation report and review changes to previously reconciled transactions in the audit log.</a:t>
            </a:r>
          </a:p>
        </p:txBody>
      </p:sp>
      <p:sp>
        <p:nvSpPr>
          <p:cNvPr id="25" name="TextBox 24"/>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6" name="TextBox 25"/>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7" name="TextBox 26"/>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37</a:t>
            </a:r>
          </a:p>
        </p:txBody>
      </p:sp>
    </p:spTree>
  </p:cSld>
  <p:transition spd="slow">
    <p:fade/>
  </p:transition>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WORKED CONTROL CHECK</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Reconciliation as a control · Acceptance logic</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Reconciliation proves the ledger agrees to an independent statement at a point in time.</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Opening balance, statement ending balance, cleared items, outstanding items, and difference form the control equation.</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Investigate missing, duplicate, altered, stale, and future-dated items; never force a zero with an unexplained adjustment.</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Preserve the reconciliation report and review changes to previously reconciled transactions in the audit log.</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38</a:t>
            </a:r>
          </a:p>
        </p:txBody>
      </p:sp>
    </p:spTree>
  </p:cSld>
  <p:transition spd="slow">
    <p:fade/>
  </p:transition>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CUT-OFF AND ESTIMATES</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Month-end adjusting entries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Accruals recognise incurred costs/revenue before invoice or cash; reverse when the source transaction arrives where appropriate.</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Prepayments defer expense and release it systematically over the benefit period.</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Depreciation allocates depreciable amount over useful life; accumulated depreciation preserves gross asset cost.</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Foreign-currency monetary items may require period-end remeasurement and documented exchange-rate evidence.</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39</a:t>
            </a:r>
          </a:p>
        </p:txBody>
      </p:sp>
    </p:spTree>
  </p:cSld>
  <p:transition spd="slow">
    <p:fade/>
  </p:transition>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CUT-OFF AND ESTIMATES</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Month-end adjusting entries · Control flow</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577340" y="2414016"/>
            <a:ext cx="731520" cy="73152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77340"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1</a:t>
            </a:r>
          </a:p>
        </p:txBody>
      </p:sp>
      <p:sp>
        <p:nvSpPr>
          <p:cNvPr id="10" name="TextBox 9"/>
          <p:cNvSpPr txBox="1"/>
          <p:nvPr/>
        </p:nvSpPr>
        <p:spPr>
          <a:xfrm>
            <a:off x="768096"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Accruals recognise incurred costs/revenue before invoice or cash; reverse when the source transaction arrives where appropriate.</a:t>
            </a:r>
          </a:p>
        </p:txBody>
      </p:sp>
      <p:sp>
        <p:nvSpPr>
          <p:cNvPr id="11" name="TextBox 10"/>
          <p:cNvSpPr txBox="1"/>
          <p:nvPr/>
        </p:nvSpPr>
        <p:spPr>
          <a:xfrm>
            <a:off x="3209544"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1F6FEB"/>
                </a:solidFill>
                <a:latin typeface="Arial"/>
              </a:rPr>
              <a:t>▶</a:t>
            </a:r>
          </a:p>
        </p:txBody>
      </p:sp>
      <p:sp>
        <p:nvSpPr>
          <p:cNvPr id="12" name="Rounded Rectangle 11"/>
          <p:cNvSpPr/>
          <p:nvPr/>
        </p:nvSpPr>
        <p:spPr>
          <a:xfrm>
            <a:off x="3429000"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347972" y="2414016"/>
            <a:ext cx="731520" cy="731520"/>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47972"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2</a:t>
            </a:r>
          </a:p>
        </p:txBody>
      </p:sp>
      <p:sp>
        <p:nvSpPr>
          <p:cNvPr id="15" name="TextBox 14"/>
          <p:cNvSpPr txBox="1"/>
          <p:nvPr/>
        </p:nvSpPr>
        <p:spPr>
          <a:xfrm>
            <a:off x="3538728" y="3346704"/>
            <a:ext cx="2350008" cy="1481328"/>
          </a:xfrm>
          <a:prstGeom prst="rect">
            <a:avLst/>
          </a:prstGeom>
          <a:noFill/>
        </p:spPr>
        <p:txBody>
          <a:bodyPr wrap="square" anchor="ctr" lIns="54864" rIns="54864" tIns="54864" bIns="54864">
            <a:spAutoFit/>
          </a:bodyPr>
          <a:lstStyle/>
          <a:p>
            <a:pPr algn="ctr">
              <a:spcAft>
                <a:spcPts val="400"/>
              </a:spcAft>
            </a:pPr>
            <a:r>
              <a:rPr sz="1300" b="0">
                <a:solidFill>
                  <a:srgbClr val="17242B"/>
                </a:solidFill>
                <a:latin typeface="Arial"/>
              </a:rPr>
              <a:t>Prepayments defer expense and release it systematically over the benefit period.</a:t>
            </a:r>
          </a:p>
        </p:txBody>
      </p:sp>
      <p:sp>
        <p:nvSpPr>
          <p:cNvPr id="16" name="TextBox 15"/>
          <p:cNvSpPr txBox="1"/>
          <p:nvPr/>
        </p:nvSpPr>
        <p:spPr>
          <a:xfrm>
            <a:off x="5980176"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008E8E"/>
                </a:solidFill>
                <a:latin typeface="Arial"/>
              </a:rPr>
              <a:t>▶</a:t>
            </a:r>
          </a:p>
        </p:txBody>
      </p:sp>
      <p:sp>
        <p:nvSpPr>
          <p:cNvPr id="17" name="Rounded Rectangle 16"/>
          <p:cNvSpPr/>
          <p:nvPr/>
        </p:nvSpPr>
        <p:spPr>
          <a:xfrm>
            <a:off x="6199632"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18604" y="2414016"/>
            <a:ext cx="731520" cy="73152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18604"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3</a:t>
            </a:r>
          </a:p>
        </p:txBody>
      </p:sp>
      <p:sp>
        <p:nvSpPr>
          <p:cNvPr id="20" name="TextBox 19"/>
          <p:cNvSpPr txBox="1"/>
          <p:nvPr/>
        </p:nvSpPr>
        <p:spPr>
          <a:xfrm>
            <a:off x="6309360"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Depreciation allocates depreciable amount over useful life; accumulated depreciation preserves gross asset cost.</a:t>
            </a:r>
          </a:p>
        </p:txBody>
      </p:sp>
      <p:sp>
        <p:nvSpPr>
          <p:cNvPr id="21" name="TextBox 20"/>
          <p:cNvSpPr txBox="1"/>
          <p:nvPr/>
        </p:nvSpPr>
        <p:spPr>
          <a:xfrm>
            <a:off x="8750808"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7C3AED"/>
                </a:solidFill>
                <a:latin typeface="Arial"/>
              </a:rPr>
              <a:t>▶</a:t>
            </a:r>
          </a:p>
        </p:txBody>
      </p:sp>
      <p:sp>
        <p:nvSpPr>
          <p:cNvPr id="22" name="Rounded Rectangle 21"/>
          <p:cNvSpPr/>
          <p:nvPr/>
        </p:nvSpPr>
        <p:spPr>
          <a:xfrm>
            <a:off x="8970264"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889236" y="2414016"/>
            <a:ext cx="731520" cy="73152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89236"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4</a:t>
            </a:r>
          </a:p>
        </p:txBody>
      </p:sp>
      <p:sp>
        <p:nvSpPr>
          <p:cNvPr id="25" name="TextBox 24"/>
          <p:cNvSpPr txBox="1"/>
          <p:nvPr/>
        </p:nvSpPr>
        <p:spPr>
          <a:xfrm>
            <a:off x="9079992"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Foreign-currency monetary items may require period-end remeasurement and documented exchange-rate evidence.</a:t>
            </a:r>
          </a:p>
        </p:txBody>
      </p:sp>
      <p:sp>
        <p:nvSpPr>
          <p:cNvPr id="26" name="TextBox 25"/>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7" name="TextBox 26"/>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8" name="TextBox 27"/>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40</a:t>
            </a:r>
          </a:p>
        </p:txBody>
      </p:sp>
    </p:spTree>
  </p:cSld>
  <p:transition spd="slow">
    <p:fade/>
  </p:transition>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WORKED CONTROL CHECK</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Month-end adjusting entries · Acceptance logic</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Accruals recognise incurred costs/revenue before invoice or cash; reverse when the source transaction arrives where appropriate.</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Prepayments defer expense and release it systematically over the benefit period.</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Depreciation allocates depreciable amount over useful life; accumulated depreciation preserves gross asset cost.</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Foreign-currency monetary items may require period-end remeasurement and documented exchange-rate evidence.</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41</a:t>
            </a:r>
          </a:p>
        </p:txBody>
      </p:sp>
    </p:spTree>
  </p:cSld>
  <p:transition spd="slow">
    <p:fade/>
  </p:transition>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BOOKS INTEGRITY</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Close, roles, and audit trail</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Sequence the close: transaction cut-off, subledgers, reconciliations, adjustments, analytical review, approval, then lock.</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Apply least privilege and segregation of duties across master data, posting, reconciliation, reporting, and payment.</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The audit log supports who/what/when investigation; it does not explain business purpose without supporting documents.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A close-date password and exception approval reduce unauthorised backdating after management sign-off.</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42</a:t>
            </a:r>
          </a:p>
        </p:txBody>
      </p:sp>
    </p:spTree>
  </p:cSld>
  <p:transition spd="slow">
    <p:fade/>
  </p:transition>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BOOKS INTEGRITY</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Close, roles, and audit trail · Three lenses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874519"/>
            <a:ext cx="3401568" cy="12801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1F6FEB"/>
                </a:solidFill>
                <a:latin typeface="Arial"/>
              </a:rPr>
              <a:t>EVENT</a:t>
            </a:r>
          </a:p>
        </p:txBody>
      </p:sp>
      <p:sp>
        <p:nvSpPr>
          <p:cNvPr id="10" name="TextBox 9"/>
          <p:cNvSpPr txBox="1"/>
          <p:nvPr/>
        </p:nvSpPr>
        <p:spPr>
          <a:xfrm>
            <a:off x="9509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Sequence the close: transaction cut-off, subledgers, reconciliations, adjustments, analytical review, approval, then lock.</a:t>
            </a:r>
          </a:p>
        </p:txBody>
      </p:sp>
      <p:sp>
        <p:nvSpPr>
          <p:cNvPr id="11" name="Rounded Rectangle 10"/>
          <p:cNvSpPr/>
          <p:nvPr/>
        </p:nvSpPr>
        <p:spPr>
          <a:xfrm>
            <a:off x="43708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2" y="1874519"/>
            <a:ext cx="3401568" cy="128016"/>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008E8E"/>
                </a:solidFill>
                <a:latin typeface="Arial"/>
              </a:rPr>
              <a:t>ACCOUNTING</a:t>
            </a:r>
          </a:p>
        </p:txBody>
      </p:sp>
      <p:sp>
        <p:nvSpPr>
          <p:cNvPr id="14" name="TextBox 13"/>
          <p:cNvSpPr txBox="1"/>
          <p:nvPr/>
        </p:nvSpPr>
        <p:spPr>
          <a:xfrm>
            <a:off x="46085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Apply least privilege and segregation of duties across master data, posting, reconciliation, reporting, and payment.</a:t>
            </a:r>
          </a:p>
        </p:txBody>
      </p:sp>
      <p:sp>
        <p:nvSpPr>
          <p:cNvPr id="15" name="Rounded Rectangle 14"/>
          <p:cNvSpPr/>
          <p:nvPr/>
        </p:nvSpPr>
        <p:spPr>
          <a:xfrm>
            <a:off x="8028431"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28431" y="1874519"/>
            <a:ext cx="3401568" cy="12801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6175"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7C3AED"/>
                </a:solidFill>
                <a:latin typeface="Arial"/>
              </a:rPr>
              <a:t>CONTROL</a:t>
            </a:r>
          </a:p>
        </p:txBody>
      </p:sp>
      <p:sp>
        <p:nvSpPr>
          <p:cNvPr id="18" name="TextBox 17"/>
          <p:cNvSpPr txBox="1"/>
          <p:nvPr/>
        </p:nvSpPr>
        <p:spPr>
          <a:xfrm>
            <a:off x="8266175" y="2999232"/>
            <a:ext cx="2926080" cy="2487168"/>
          </a:xfrm>
          <a:prstGeom prst="rect">
            <a:avLst/>
          </a:prstGeom>
          <a:noFill/>
        </p:spPr>
        <p:txBody>
          <a:bodyPr wrap="square" anchor="t" lIns="54864" rIns="54864" tIns="54864" bIns="54864">
            <a:spAutoFit/>
          </a:bodyPr>
          <a:lstStyle/>
          <a:p>
            <a:pPr algn="l">
              <a:spcAft>
                <a:spcPts val="400"/>
              </a:spcAft>
            </a:pPr>
            <a:r>
              <a:rPr sz="1250" b="0">
                <a:solidFill>
                  <a:srgbClr val="17242B"/>
                </a:solidFill>
                <a:latin typeface="Arial"/>
              </a:rPr>
              <a:t>The audit log supports who/what/when investigation; it does not explain business purpose without supporting documents. A close-date password and exception approval reduce unauthorised backdating after management sign-off.</a:t>
            </a:r>
          </a:p>
        </p:txBody>
      </p:sp>
      <p:sp>
        <p:nvSpPr>
          <p:cNvPr id="19" name="TextBox 18"/>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0" name="TextBox 19"/>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1" name="TextBox 20"/>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43</a:t>
            </a:r>
          </a:p>
        </p:txBody>
      </p:sp>
    </p:spTree>
  </p:cSld>
  <p:transition spd="slow">
    <p:fade/>
  </p:transition>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8" y="1920240"/>
            <a:ext cx="9326880" cy="347472"/>
          </a:xfrm>
          <a:prstGeom prst="rect">
            <a:avLst/>
          </a:prstGeom>
          <a:noFill/>
        </p:spPr>
        <p:txBody>
          <a:bodyPr wrap="square" anchor="t" lIns="54864" rIns="54864" tIns="54864" bIns="54864">
            <a:spAutoFit/>
          </a:bodyPr>
          <a:lstStyle/>
          <a:p>
            <a:pPr algn="l">
              <a:spcAft>
                <a:spcPts val="400"/>
              </a:spcAft>
            </a:pPr>
            <a:r>
              <a:rPr sz="1300" b="1">
                <a:solidFill>
                  <a:srgbClr val="1F6FEB"/>
                </a:solidFill>
                <a:latin typeface="Arial"/>
              </a:rPr>
              <a:t>TOPIC 1 PRACTICE</a:t>
            </a:r>
          </a:p>
        </p:txBody>
      </p:sp>
      <p:sp>
        <p:nvSpPr>
          <p:cNvPr id="5" name="TextBox 4"/>
          <p:cNvSpPr txBox="1"/>
          <p:nvPr/>
        </p:nvSpPr>
        <p:spPr>
          <a:xfrm>
            <a:off x="841248" y="2359152"/>
            <a:ext cx="9875520" cy="1234440"/>
          </a:xfrm>
          <a:prstGeom prst="rect">
            <a:avLst/>
          </a:prstGeom>
          <a:noFill/>
        </p:spPr>
        <p:txBody>
          <a:bodyPr wrap="square" anchor="ctr" lIns="54864" rIns="54864" tIns="54864" bIns="54864">
            <a:spAutoFit/>
          </a:bodyPr>
          <a:lstStyle/>
          <a:p>
            <a:pPr algn="l">
              <a:spcAft>
                <a:spcPts val="400"/>
              </a:spcAft>
            </a:pPr>
            <a:r>
              <a:rPr sz="3900" b="1">
                <a:solidFill>
                  <a:srgbClr val="17242B"/>
                </a:solidFill>
                <a:latin typeface="Arial"/>
              </a:rPr>
              <a:t>Progressive Activities</a:t>
            </a:r>
          </a:p>
        </p:txBody>
      </p:sp>
      <p:sp>
        <p:nvSpPr>
          <p:cNvPr id="6" name="TextBox 5"/>
          <p:cNvSpPr txBox="1"/>
          <p:nvPr/>
        </p:nvSpPr>
        <p:spPr>
          <a:xfrm>
            <a:off x="859536" y="3858768"/>
            <a:ext cx="9692640" cy="713232"/>
          </a:xfrm>
          <a:prstGeom prst="rect">
            <a:avLst/>
          </a:prstGeom>
          <a:noFill/>
        </p:spPr>
        <p:txBody>
          <a:bodyPr wrap="square" anchor="t" lIns="54864" rIns="54864" tIns="54864" bIns="54864">
            <a:spAutoFit/>
          </a:bodyPr>
          <a:lstStyle/>
          <a:p>
            <a:pPr algn="l">
              <a:spcAft>
                <a:spcPts val="400"/>
              </a:spcAft>
            </a:pPr>
            <a:r>
              <a:rPr sz="1600" b="0">
                <a:solidFill>
                  <a:srgbClr val="5B6573"/>
                </a:solidFill>
                <a:latin typeface="Arial"/>
              </a:rPr>
              <a:t>Detailed click-by-click instructions, mock data, workbooks, evidence, and acceptance tests are in each activity folder and the Learner Guide.</a:t>
            </a:r>
          </a:p>
        </p:txBody>
      </p:sp>
      <p:sp>
        <p:nvSpPr>
          <p:cNvPr id="7" name="TextBox 6"/>
          <p:cNvSpPr txBox="1"/>
          <p:nvPr/>
        </p:nvSpPr>
        <p:spPr>
          <a:xfrm>
            <a:off x="9784080" y="566928"/>
            <a:ext cx="1645920" cy="1097280"/>
          </a:xfrm>
          <a:prstGeom prst="rect">
            <a:avLst/>
          </a:prstGeom>
          <a:noFill/>
        </p:spPr>
        <p:txBody>
          <a:bodyPr wrap="square" anchor="t" lIns="54864" rIns="54864" tIns="54864" bIns="54864">
            <a:spAutoFit/>
          </a:bodyPr>
          <a:lstStyle/>
          <a:p>
            <a:pPr algn="r">
              <a:spcAft>
                <a:spcPts val="400"/>
              </a:spcAft>
            </a:pPr>
            <a:r>
              <a:rPr sz="5800" b="1">
                <a:solidFill>
                  <a:srgbClr val="DFE6ED"/>
                </a:solidFill>
                <a:latin typeface="Arial"/>
              </a:rPr>
              <a:t>A01</a:t>
            </a:r>
          </a:p>
        </p:txBody>
      </p:sp>
      <p:sp>
        <p:nvSpPr>
          <p:cNvPr id="8" name="TextBox 7"/>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9" name="TextBox 8"/>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0" name="TextBox 9"/>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44</a:t>
            </a:r>
          </a:p>
        </p:txBody>
      </p:sp>
    </p:spTree>
  </p:cSld>
  <p:transition spd="slow">
    <p:fade/>
  </p:transition>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ACTIVITY 01 · FOUNDATION BRIDGE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Design a Control-Ready Company File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6629400" cy="169164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29968"/>
            <a:ext cx="6144768" cy="320040"/>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SCENARIO</a:t>
            </a:r>
          </a:p>
        </p:txBody>
      </p:sp>
      <p:sp>
        <p:nvSpPr>
          <p:cNvPr id="9" name="TextBox 8"/>
          <p:cNvSpPr txBox="1"/>
          <p:nvPr/>
        </p:nvSpPr>
        <p:spPr>
          <a:xfrm>
            <a:off x="960120" y="2450592"/>
            <a:ext cx="6144768" cy="822960"/>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Orchid Office Solutions Pte Ltd is moving from basic bookkeeping to a controlled cloud ledger before expanding into project work and inventory.</a:t>
            </a:r>
          </a:p>
        </p:txBody>
      </p:sp>
      <p:sp>
        <p:nvSpPr>
          <p:cNvPr id="10" name="Rounded Rectangle 9"/>
          <p:cNvSpPr/>
          <p:nvPr/>
        </p:nvSpPr>
        <p:spPr>
          <a:xfrm>
            <a:off x="713232" y="3730752"/>
            <a:ext cx="6629400" cy="2057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931920"/>
            <a:ext cx="6144768" cy="320040"/>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GOAL</a:t>
            </a:r>
          </a:p>
        </p:txBody>
      </p:sp>
      <p:sp>
        <p:nvSpPr>
          <p:cNvPr id="12" name="TextBox 11"/>
          <p:cNvSpPr txBox="1"/>
          <p:nvPr/>
        </p:nvSpPr>
        <p:spPr>
          <a:xfrm>
            <a:off x="960120" y="4334256"/>
            <a:ext cx="6144768" cy="1005840"/>
          </a:xfrm>
          <a:prstGeom prst="rect">
            <a:avLst/>
          </a:prstGeom>
          <a:noFill/>
        </p:spPr>
        <p:txBody>
          <a:bodyPr wrap="square" anchor="t" lIns="54864" rIns="54864" tIns="54864" bIns="54864">
            <a:spAutoFit/>
          </a:bodyPr>
          <a:lstStyle/>
          <a:p>
            <a:pPr algn="l">
              <a:spcAft>
                <a:spcPts val="400"/>
              </a:spcAft>
            </a:pPr>
            <a:r>
              <a:rPr sz="1500" b="1">
                <a:solidFill>
                  <a:srgbClr val="17242B"/>
                </a:solidFill>
                <a:latin typeface="Arial"/>
              </a:rPr>
              <a:t>Map opening balances and master data into a numbered chart of accounts with control, clearing, GST, inventory, fixed-asset, and suspense accounts.</a:t>
            </a:r>
          </a:p>
        </p:txBody>
      </p:sp>
      <p:sp>
        <p:nvSpPr>
          <p:cNvPr id="13" name="Rounded Rectangle 12"/>
          <p:cNvSpPr/>
          <p:nvPr/>
        </p:nvSpPr>
        <p:spPr>
          <a:xfrm>
            <a:off x="7644383" y="1828800"/>
            <a:ext cx="3867912" cy="395935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9560" y="2057400"/>
            <a:ext cx="3383280" cy="320040"/>
          </a:xfrm>
          <a:prstGeom prst="rect">
            <a:avLst/>
          </a:prstGeom>
          <a:noFill/>
        </p:spPr>
        <p:txBody>
          <a:bodyPr wrap="square" anchor="t" lIns="54864" rIns="54864" tIns="54864" bIns="54864">
            <a:spAutoFit/>
          </a:bodyPr>
          <a:lstStyle/>
          <a:p>
            <a:pPr algn="l">
              <a:spcAft>
                <a:spcPts val="400"/>
              </a:spcAft>
            </a:pPr>
            <a:r>
              <a:rPr sz="1100" b="1">
                <a:solidFill>
                  <a:srgbClr val="F59E0B"/>
                </a:solidFill>
                <a:latin typeface="Arial"/>
              </a:rPr>
              <a:t>DELIVERABLES</a:t>
            </a:r>
          </a:p>
        </p:txBody>
      </p:sp>
      <p:sp>
        <p:nvSpPr>
          <p:cNvPr id="15" name="Oval 14"/>
          <p:cNvSpPr/>
          <p:nvPr/>
        </p:nvSpPr>
        <p:spPr>
          <a:xfrm>
            <a:off x="7909560" y="2633472"/>
            <a:ext cx="329184" cy="32918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60" y="2642615"/>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7" name="TextBox 16"/>
          <p:cNvSpPr txBox="1"/>
          <p:nvPr/>
        </p:nvSpPr>
        <p:spPr>
          <a:xfrm>
            <a:off x="8394192" y="2606040"/>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Approved account-mapping workbook</a:t>
            </a:r>
          </a:p>
        </p:txBody>
      </p:sp>
      <p:sp>
        <p:nvSpPr>
          <p:cNvPr id="18" name="Oval 17"/>
          <p:cNvSpPr/>
          <p:nvPr/>
        </p:nvSpPr>
        <p:spPr>
          <a:xfrm>
            <a:off x="7909560" y="3529584"/>
            <a:ext cx="329184" cy="32918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9560" y="3538727"/>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0" name="TextBox 19"/>
          <p:cNvSpPr txBox="1"/>
          <p:nvPr/>
        </p:nvSpPr>
        <p:spPr>
          <a:xfrm>
            <a:off x="8394192" y="3502152"/>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QBO-ready customers, suppliers, and products CSVs</a:t>
            </a:r>
          </a:p>
        </p:txBody>
      </p:sp>
      <p:sp>
        <p:nvSpPr>
          <p:cNvPr id="21" name="Oval 20"/>
          <p:cNvSpPr/>
          <p:nvPr/>
        </p:nvSpPr>
        <p:spPr>
          <a:xfrm>
            <a:off x="7909560" y="4425696"/>
            <a:ext cx="329184" cy="32918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560" y="4434840"/>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3</a:t>
            </a:r>
          </a:p>
        </p:txBody>
      </p:sp>
      <p:sp>
        <p:nvSpPr>
          <p:cNvPr id="23" name="TextBox 22"/>
          <p:cNvSpPr txBox="1"/>
          <p:nvPr/>
        </p:nvSpPr>
        <p:spPr>
          <a:xfrm>
            <a:off x="8394192" y="4398264"/>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Opening-balance and exception log</a:t>
            </a:r>
          </a:p>
        </p:txBody>
      </p:sp>
      <p:sp>
        <p:nvSpPr>
          <p:cNvPr id="24" name="TextBox 2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5" name="TextBox 2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6" name="TextBox 2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45</a:t>
            </a:r>
          </a:p>
        </p:txBody>
      </p:sp>
    </p:spTree>
  </p:cSld>
  <p:transition spd="slow">
    <p:fade/>
  </p:transition>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NO CLICK-BY-CLICK STEPS ON SLIDES · SEE LEARNER GUIDE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Activity 01 · Acceptance Criteria</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Trial balance debits equal credits</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All control accounts have an owner and purpose</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No duplicate active masters</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Every exception has an owner and due date</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46</a:t>
            </a:r>
          </a:p>
        </p:txBody>
      </p:sp>
    </p:spTree>
  </p:cSld>
  <p:transition spd="slow">
    <p:fade/>
  </p:transition>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ACTIVITY 02 · INTERMEDIATE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Run an Advanced Order-to-Cash Cycle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6629400" cy="169164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29968"/>
            <a:ext cx="6144768" cy="320040"/>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SCENARIO</a:t>
            </a:r>
          </a:p>
        </p:txBody>
      </p:sp>
      <p:sp>
        <p:nvSpPr>
          <p:cNvPr id="9" name="TextBox 8"/>
          <p:cNvSpPr txBox="1"/>
          <p:nvPr/>
        </p:nvSpPr>
        <p:spPr>
          <a:xfrm>
            <a:off x="960120" y="2450592"/>
            <a:ext cx="6144768" cy="822960"/>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Merlion Fit-Outs receives a customer deposit, bills a project in stages, handles a scope reduction, and refunds an overpayment.</a:t>
            </a:r>
          </a:p>
        </p:txBody>
      </p:sp>
      <p:sp>
        <p:nvSpPr>
          <p:cNvPr id="10" name="Rounded Rectangle 9"/>
          <p:cNvSpPr/>
          <p:nvPr/>
        </p:nvSpPr>
        <p:spPr>
          <a:xfrm>
            <a:off x="713232" y="3730752"/>
            <a:ext cx="6629400" cy="2057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931920"/>
            <a:ext cx="6144768" cy="320040"/>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GOAL</a:t>
            </a:r>
          </a:p>
        </p:txBody>
      </p:sp>
      <p:sp>
        <p:nvSpPr>
          <p:cNvPr id="12" name="TextBox 11"/>
          <p:cNvSpPr txBox="1"/>
          <p:nvPr/>
        </p:nvSpPr>
        <p:spPr>
          <a:xfrm>
            <a:off x="960120" y="4334256"/>
            <a:ext cx="6144768" cy="1005840"/>
          </a:xfrm>
          <a:prstGeom prst="rect">
            <a:avLst/>
          </a:prstGeom>
          <a:noFill/>
        </p:spPr>
        <p:txBody>
          <a:bodyPr wrap="square" anchor="t" lIns="54864" rIns="54864" tIns="54864" bIns="54864">
            <a:spAutoFit/>
          </a:bodyPr>
          <a:lstStyle/>
          <a:p>
            <a:pPr algn="l">
              <a:spcAft>
                <a:spcPts val="400"/>
              </a:spcAft>
            </a:pPr>
            <a:r>
              <a:rPr sz="1500" b="1">
                <a:solidFill>
                  <a:srgbClr val="17242B"/>
                </a:solidFill>
                <a:latin typeface="Arial"/>
              </a:rPr>
              <a:t>Process estimate-to-cash events without recognising revenue early or leaving unapplied customer balances.</a:t>
            </a:r>
          </a:p>
        </p:txBody>
      </p:sp>
      <p:sp>
        <p:nvSpPr>
          <p:cNvPr id="13" name="Rounded Rectangle 12"/>
          <p:cNvSpPr/>
          <p:nvPr/>
        </p:nvSpPr>
        <p:spPr>
          <a:xfrm>
            <a:off x="7644383" y="1828800"/>
            <a:ext cx="3867912" cy="395935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9560" y="2057400"/>
            <a:ext cx="3383280" cy="320040"/>
          </a:xfrm>
          <a:prstGeom prst="rect">
            <a:avLst/>
          </a:prstGeom>
          <a:noFill/>
        </p:spPr>
        <p:txBody>
          <a:bodyPr wrap="square" anchor="t" lIns="54864" rIns="54864" tIns="54864" bIns="54864">
            <a:spAutoFit/>
          </a:bodyPr>
          <a:lstStyle/>
          <a:p>
            <a:pPr algn="l">
              <a:spcAft>
                <a:spcPts val="400"/>
              </a:spcAft>
            </a:pPr>
            <a:r>
              <a:rPr sz="1100" b="1">
                <a:solidFill>
                  <a:srgbClr val="F59E0B"/>
                </a:solidFill>
                <a:latin typeface="Arial"/>
              </a:rPr>
              <a:t>DELIVERABLES</a:t>
            </a:r>
          </a:p>
        </p:txBody>
      </p:sp>
      <p:sp>
        <p:nvSpPr>
          <p:cNvPr id="15" name="Oval 14"/>
          <p:cNvSpPr/>
          <p:nvPr/>
        </p:nvSpPr>
        <p:spPr>
          <a:xfrm>
            <a:off x="7909560" y="2633472"/>
            <a:ext cx="329184" cy="32918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60" y="2642615"/>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7" name="TextBox 16"/>
          <p:cNvSpPr txBox="1"/>
          <p:nvPr/>
        </p:nvSpPr>
        <p:spPr>
          <a:xfrm>
            <a:off x="8394192" y="2606040"/>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Linked estimate/deposit/invoices/receipt/credit/refund evidence</a:t>
            </a:r>
          </a:p>
        </p:txBody>
      </p:sp>
      <p:sp>
        <p:nvSpPr>
          <p:cNvPr id="18" name="Oval 17"/>
          <p:cNvSpPr/>
          <p:nvPr/>
        </p:nvSpPr>
        <p:spPr>
          <a:xfrm>
            <a:off x="7909560" y="3529584"/>
            <a:ext cx="329184" cy="32918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9560" y="3538727"/>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0" name="TextBox 19"/>
          <p:cNvSpPr txBox="1"/>
          <p:nvPr/>
        </p:nvSpPr>
        <p:spPr>
          <a:xfrm>
            <a:off x="8394192" y="3502152"/>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AR ageing</a:t>
            </a:r>
          </a:p>
        </p:txBody>
      </p:sp>
      <p:sp>
        <p:nvSpPr>
          <p:cNvPr id="21" name="Oval 20"/>
          <p:cNvSpPr/>
          <p:nvPr/>
        </p:nvSpPr>
        <p:spPr>
          <a:xfrm>
            <a:off x="7909560" y="4425696"/>
            <a:ext cx="329184" cy="32918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560" y="4434840"/>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3</a:t>
            </a:r>
          </a:p>
        </p:txBody>
      </p:sp>
      <p:sp>
        <p:nvSpPr>
          <p:cNvPr id="23" name="TextBox 22"/>
          <p:cNvSpPr txBox="1"/>
          <p:nvPr/>
        </p:nvSpPr>
        <p:spPr>
          <a:xfrm>
            <a:off x="8394192" y="4398264"/>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Revenue and customer-advance reconciliation</a:t>
            </a:r>
          </a:p>
        </p:txBody>
      </p:sp>
      <p:sp>
        <p:nvSpPr>
          <p:cNvPr id="24" name="TextBox 2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5" name="TextBox 2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6" name="TextBox 2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47</a:t>
            </a:r>
          </a:p>
        </p:txBody>
      </p:sp>
    </p:spTree>
  </p:cSld>
  <p:transition spd="slow">
    <p:fade/>
  </p:transition>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NO CLICK-BY-CLICK STEPS ON SLIDES · SEE LEARNER GUIDE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Activity 02 · Acceptance Criteria</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No unexplained unapplied cash or negative customer balance</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Revenue follows the scenario recognition point</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AR ageing agrees to the control account</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Credit/refund trace to original GST treatment</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48</a:t>
            </a:r>
          </a:p>
        </p:txBody>
      </p:sp>
    </p:spTree>
  </p:cSld>
  <p:transition spd="slow">
    <p:fade/>
  </p:transition>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ACTIVITY 03 · INTERMEDIATE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Control Procure-to-Pay and Supplier Exceptions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6629400" cy="169164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29968"/>
            <a:ext cx="6144768" cy="320040"/>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SCENARIO</a:t>
            </a:r>
          </a:p>
        </p:txBody>
      </p:sp>
      <p:sp>
        <p:nvSpPr>
          <p:cNvPr id="9" name="TextBox 8"/>
          <p:cNvSpPr txBox="1"/>
          <p:nvPr/>
        </p:nvSpPr>
        <p:spPr>
          <a:xfrm>
            <a:off x="960120" y="2450592"/>
            <a:ext cx="6144768" cy="822960"/>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Harbour Tech Services buys equipment and subcontractor services, receives a price variance, a partial delivery, and a supplier credit.</a:t>
            </a:r>
          </a:p>
        </p:txBody>
      </p:sp>
      <p:sp>
        <p:nvSpPr>
          <p:cNvPr id="10" name="Rounded Rectangle 9"/>
          <p:cNvSpPr/>
          <p:nvPr/>
        </p:nvSpPr>
        <p:spPr>
          <a:xfrm>
            <a:off x="713232" y="3730752"/>
            <a:ext cx="6629400" cy="2057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931920"/>
            <a:ext cx="6144768" cy="320040"/>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GOAL</a:t>
            </a:r>
          </a:p>
        </p:txBody>
      </p:sp>
      <p:sp>
        <p:nvSpPr>
          <p:cNvPr id="12" name="TextBox 11"/>
          <p:cNvSpPr txBox="1"/>
          <p:nvPr/>
        </p:nvSpPr>
        <p:spPr>
          <a:xfrm>
            <a:off x="960120" y="4334256"/>
            <a:ext cx="6144768" cy="1005840"/>
          </a:xfrm>
          <a:prstGeom prst="rect">
            <a:avLst/>
          </a:prstGeom>
          <a:noFill/>
        </p:spPr>
        <p:txBody>
          <a:bodyPr wrap="square" anchor="t" lIns="54864" rIns="54864" tIns="54864" bIns="54864">
            <a:spAutoFit/>
          </a:bodyPr>
          <a:lstStyle/>
          <a:p>
            <a:pPr algn="l">
              <a:spcAft>
                <a:spcPts val="400"/>
              </a:spcAft>
            </a:pPr>
            <a:r>
              <a:rPr sz="1500" b="1">
                <a:solidFill>
                  <a:srgbClr val="17242B"/>
                </a:solidFill>
                <a:latin typeface="Arial"/>
              </a:rPr>
              <a:t>Apply order-receipt-invoice thinking, prevent duplicate liabilities, and preserve approval evidence.</a:t>
            </a:r>
          </a:p>
        </p:txBody>
      </p:sp>
      <p:sp>
        <p:nvSpPr>
          <p:cNvPr id="13" name="Rounded Rectangle 12"/>
          <p:cNvSpPr/>
          <p:nvPr/>
        </p:nvSpPr>
        <p:spPr>
          <a:xfrm>
            <a:off x="7644383" y="1828800"/>
            <a:ext cx="3867912" cy="395935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9560" y="2057400"/>
            <a:ext cx="3383280" cy="320040"/>
          </a:xfrm>
          <a:prstGeom prst="rect">
            <a:avLst/>
          </a:prstGeom>
          <a:noFill/>
        </p:spPr>
        <p:txBody>
          <a:bodyPr wrap="square" anchor="t" lIns="54864" rIns="54864" tIns="54864" bIns="54864">
            <a:spAutoFit/>
          </a:bodyPr>
          <a:lstStyle/>
          <a:p>
            <a:pPr algn="l">
              <a:spcAft>
                <a:spcPts val="400"/>
              </a:spcAft>
            </a:pPr>
            <a:r>
              <a:rPr sz="1100" b="1">
                <a:solidFill>
                  <a:srgbClr val="F59E0B"/>
                </a:solidFill>
                <a:latin typeface="Arial"/>
              </a:rPr>
              <a:t>DELIVERABLES</a:t>
            </a:r>
          </a:p>
        </p:txBody>
      </p:sp>
      <p:sp>
        <p:nvSpPr>
          <p:cNvPr id="15" name="Oval 14"/>
          <p:cNvSpPr/>
          <p:nvPr/>
        </p:nvSpPr>
        <p:spPr>
          <a:xfrm>
            <a:off x="7909560" y="2633472"/>
            <a:ext cx="329184" cy="32918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60" y="2642615"/>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7" name="TextBox 16"/>
          <p:cNvSpPr txBox="1"/>
          <p:nvPr/>
        </p:nvSpPr>
        <p:spPr>
          <a:xfrm>
            <a:off x="8394192" y="2606040"/>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PO/bill/bill-credit/payment evidence</a:t>
            </a:r>
          </a:p>
        </p:txBody>
      </p:sp>
      <p:sp>
        <p:nvSpPr>
          <p:cNvPr id="18" name="Oval 17"/>
          <p:cNvSpPr/>
          <p:nvPr/>
        </p:nvSpPr>
        <p:spPr>
          <a:xfrm>
            <a:off x="7909560" y="3529584"/>
            <a:ext cx="329184" cy="32918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9560" y="3538727"/>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0" name="TextBox 19"/>
          <p:cNvSpPr txBox="1"/>
          <p:nvPr/>
        </p:nvSpPr>
        <p:spPr>
          <a:xfrm>
            <a:off x="8394192" y="3502152"/>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Supplier statement reconciliation</a:t>
            </a:r>
          </a:p>
        </p:txBody>
      </p:sp>
      <p:sp>
        <p:nvSpPr>
          <p:cNvPr id="21" name="Oval 20"/>
          <p:cNvSpPr/>
          <p:nvPr/>
        </p:nvSpPr>
        <p:spPr>
          <a:xfrm>
            <a:off x="7909560" y="4425696"/>
            <a:ext cx="329184" cy="32918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560" y="4434840"/>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3</a:t>
            </a:r>
          </a:p>
        </p:txBody>
      </p:sp>
      <p:sp>
        <p:nvSpPr>
          <p:cNvPr id="23" name="TextBox 22"/>
          <p:cNvSpPr txBox="1"/>
          <p:nvPr/>
        </p:nvSpPr>
        <p:spPr>
          <a:xfrm>
            <a:off x="8394192" y="4398264"/>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Duplicate and bank-change exception review</a:t>
            </a:r>
          </a:p>
        </p:txBody>
      </p:sp>
      <p:sp>
        <p:nvSpPr>
          <p:cNvPr id="24" name="TextBox 2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5" name="TextBox 2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6" name="TextBox 2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49</a:t>
            </a:r>
          </a:p>
        </p:txBody>
      </p:sp>
    </p:spTree>
  </p:cSld>
  <p:transition spd="slow">
    <p:fade/>
  </p:transition>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NO CLICK-BY-CLICK STEPS ON SLIDES · SEE LEARNER GUIDE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Activity 03 · Acceptance Criteria</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No duplicate invoice posted</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AP ageing agrees to control account</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Partial receipt and price variance are explained</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Supplier credit is correctly applied</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50</a:t>
            </a:r>
          </a:p>
        </p:txBody>
      </p:sp>
    </p:spTree>
  </p:cSld>
  <p:transition spd="slow">
    <p:fade/>
  </p:transition>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ACTIVITY 04 · INTERMEDIATE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Reconcile Inventory Quantity and Value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6629400" cy="169164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29968"/>
            <a:ext cx="6144768" cy="320040"/>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SCENARIO</a:t>
            </a:r>
          </a:p>
        </p:txBody>
      </p:sp>
      <p:sp>
        <p:nvSpPr>
          <p:cNvPr id="9" name="TextBox 8"/>
          <p:cNvSpPr txBox="1"/>
          <p:nvPr/>
        </p:nvSpPr>
        <p:spPr>
          <a:xfrm>
            <a:off x="960120" y="2450592"/>
            <a:ext cx="6144768" cy="822960"/>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Lion City Components has sales before purchase entry, damaged stock, a count variance, and an obsolete item.</a:t>
            </a:r>
          </a:p>
        </p:txBody>
      </p:sp>
      <p:sp>
        <p:nvSpPr>
          <p:cNvPr id="10" name="Rounded Rectangle 9"/>
          <p:cNvSpPr/>
          <p:nvPr/>
        </p:nvSpPr>
        <p:spPr>
          <a:xfrm>
            <a:off x="713232" y="3730752"/>
            <a:ext cx="6629400" cy="2057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931920"/>
            <a:ext cx="6144768" cy="320040"/>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GOAL</a:t>
            </a:r>
          </a:p>
        </p:txBody>
      </p:sp>
      <p:sp>
        <p:nvSpPr>
          <p:cNvPr id="12" name="TextBox 11"/>
          <p:cNvSpPr txBox="1"/>
          <p:nvPr/>
        </p:nvSpPr>
        <p:spPr>
          <a:xfrm>
            <a:off x="960120" y="4334256"/>
            <a:ext cx="6144768" cy="1005840"/>
          </a:xfrm>
          <a:prstGeom prst="rect">
            <a:avLst/>
          </a:prstGeom>
          <a:noFill/>
        </p:spPr>
        <p:txBody>
          <a:bodyPr wrap="square" anchor="t" lIns="54864" rIns="54864" tIns="54864" bIns="54864">
            <a:spAutoFit/>
          </a:bodyPr>
          <a:lstStyle/>
          <a:p>
            <a:pPr algn="l">
              <a:spcAft>
                <a:spcPts val="400"/>
              </a:spcAft>
            </a:pPr>
            <a:r>
              <a:rPr sz="1500" b="1">
                <a:solidFill>
                  <a:srgbClr val="17242B"/>
                </a:solidFill>
                <a:latin typeface="Arial"/>
              </a:rPr>
              <a:t>Correct quantity and value while explaining the cost-of-sales and profit impact of every adjustment.</a:t>
            </a:r>
          </a:p>
        </p:txBody>
      </p:sp>
      <p:sp>
        <p:nvSpPr>
          <p:cNvPr id="13" name="Rounded Rectangle 12"/>
          <p:cNvSpPr/>
          <p:nvPr/>
        </p:nvSpPr>
        <p:spPr>
          <a:xfrm>
            <a:off x="7644383" y="1828800"/>
            <a:ext cx="3867912" cy="395935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9560" y="2057400"/>
            <a:ext cx="3383280" cy="320040"/>
          </a:xfrm>
          <a:prstGeom prst="rect">
            <a:avLst/>
          </a:prstGeom>
          <a:noFill/>
        </p:spPr>
        <p:txBody>
          <a:bodyPr wrap="square" anchor="t" lIns="54864" rIns="54864" tIns="54864" bIns="54864">
            <a:spAutoFit/>
          </a:bodyPr>
          <a:lstStyle/>
          <a:p>
            <a:pPr algn="l">
              <a:spcAft>
                <a:spcPts val="400"/>
              </a:spcAft>
            </a:pPr>
            <a:r>
              <a:rPr sz="1100" b="1">
                <a:solidFill>
                  <a:srgbClr val="F59E0B"/>
                </a:solidFill>
                <a:latin typeface="Arial"/>
              </a:rPr>
              <a:t>DELIVERABLES</a:t>
            </a:r>
          </a:p>
        </p:txBody>
      </p:sp>
      <p:sp>
        <p:nvSpPr>
          <p:cNvPr id="15" name="Oval 14"/>
          <p:cNvSpPr/>
          <p:nvPr/>
        </p:nvSpPr>
        <p:spPr>
          <a:xfrm>
            <a:off x="7909560" y="2633472"/>
            <a:ext cx="329184" cy="32918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60" y="2642615"/>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7" name="TextBox 16"/>
          <p:cNvSpPr txBox="1"/>
          <p:nvPr/>
        </p:nvSpPr>
        <p:spPr>
          <a:xfrm>
            <a:off x="8394192" y="2606040"/>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Inventory import/review file</a:t>
            </a:r>
          </a:p>
        </p:txBody>
      </p:sp>
      <p:sp>
        <p:nvSpPr>
          <p:cNvPr id="18" name="Oval 17"/>
          <p:cNvSpPr/>
          <p:nvPr/>
        </p:nvSpPr>
        <p:spPr>
          <a:xfrm>
            <a:off x="7909560" y="3529584"/>
            <a:ext cx="329184" cy="32918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9560" y="3538727"/>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0" name="TextBox 19"/>
          <p:cNvSpPr txBox="1"/>
          <p:nvPr/>
        </p:nvSpPr>
        <p:spPr>
          <a:xfrm>
            <a:off x="8394192" y="3502152"/>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Count and adjustment evidence</a:t>
            </a:r>
          </a:p>
        </p:txBody>
      </p:sp>
      <p:sp>
        <p:nvSpPr>
          <p:cNvPr id="21" name="Oval 20"/>
          <p:cNvSpPr/>
          <p:nvPr/>
        </p:nvSpPr>
        <p:spPr>
          <a:xfrm>
            <a:off x="7909560" y="4425696"/>
            <a:ext cx="329184" cy="32918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560" y="4434840"/>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3</a:t>
            </a:r>
          </a:p>
        </p:txBody>
      </p:sp>
      <p:sp>
        <p:nvSpPr>
          <p:cNvPr id="23" name="TextBox 22"/>
          <p:cNvSpPr txBox="1"/>
          <p:nvPr/>
        </p:nvSpPr>
        <p:spPr>
          <a:xfrm>
            <a:off x="8394192" y="4398264"/>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Inventory valuation-to-GL reconciliation</a:t>
            </a:r>
          </a:p>
        </p:txBody>
      </p:sp>
      <p:sp>
        <p:nvSpPr>
          <p:cNvPr id="24" name="TextBox 2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5" name="TextBox 2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6" name="TextBox 2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51</a:t>
            </a:r>
          </a:p>
        </p:txBody>
      </p:sp>
    </p:spTree>
  </p:cSld>
  <p:transition spd="slow">
    <p:fade/>
  </p:transition>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NO CLICK-BY-CLICK STEPS ON SLIDES · SEE LEARNER GUIDE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Activity 04 · Acceptance Criteria</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No unexplained negative inventory</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Valuation agrees to GL</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Adjustment reasons and approvals are complete</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COGS impact is explained</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52</a:t>
            </a:r>
          </a:p>
        </p:txBody>
      </p:sp>
    </p:spTree>
  </p:cSld>
  <p:transition spd="slow">
    <p:fade/>
  </p:transition>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ACTIVITY 05 · ADVANCED</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Measure Project Profitability and Billing Leakage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6629400" cy="169164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29968"/>
            <a:ext cx="6144768" cy="320040"/>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SCENARIO</a:t>
            </a:r>
          </a:p>
        </p:txBody>
      </p:sp>
      <p:sp>
        <p:nvSpPr>
          <p:cNvPr id="9" name="TextBox 8"/>
          <p:cNvSpPr txBox="1"/>
          <p:nvPr/>
        </p:nvSpPr>
        <p:spPr>
          <a:xfrm>
            <a:off x="960120" y="2450592"/>
            <a:ext cx="6144768" cy="822960"/>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Marina Design Studio tracks fixed-fee design projects with staff time, subcontractors, reimbursable costs, and milestone billing.</a:t>
            </a:r>
          </a:p>
        </p:txBody>
      </p:sp>
      <p:sp>
        <p:nvSpPr>
          <p:cNvPr id="10" name="Rounded Rectangle 9"/>
          <p:cNvSpPr/>
          <p:nvPr/>
        </p:nvSpPr>
        <p:spPr>
          <a:xfrm>
            <a:off x="713232" y="3730752"/>
            <a:ext cx="6629400" cy="2057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931920"/>
            <a:ext cx="6144768" cy="320040"/>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GOAL</a:t>
            </a:r>
          </a:p>
        </p:txBody>
      </p:sp>
      <p:sp>
        <p:nvSpPr>
          <p:cNvPr id="12" name="TextBox 11"/>
          <p:cNvSpPr txBox="1"/>
          <p:nvPr/>
        </p:nvSpPr>
        <p:spPr>
          <a:xfrm>
            <a:off x="960120" y="4334256"/>
            <a:ext cx="6144768" cy="1005840"/>
          </a:xfrm>
          <a:prstGeom prst="rect">
            <a:avLst/>
          </a:prstGeom>
          <a:noFill/>
        </p:spPr>
        <p:txBody>
          <a:bodyPr wrap="square" anchor="t" lIns="54864" rIns="54864" tIns="54864" bIns="54864">
            <a:spAutoFit/>
          </a:bodyPr>
          <a:lstStyle/>
          <a:p>
            <a:pPr algn="l">
              <a:spcAft>
                <a:spcPts val="400"/>
              </a:spcAft>
            </a:pPr>
            <a:r>
              <a:rPr sz="1500" b="1">
                <a:solidFill>
                  <a:srgbClr val="17242B"/>
                </a:solidFill>
                <a:latin typeface="Arial"/>
              </a:rPr>
              <a:t>Capture all project revenue and cost, identify unbilled work, and distinguish accounting accuracy from project performance.</a:t>
            </a:r>
          </a:p>
        </p:txBody>
      </p:sp>
      <p:sp>
        <p:nvSpPr>
          <p:cNvPr id="13" name="Rounded Rectangle 12"/>
          <p:cNvSpPr/>
          <p:nvPr/>
        </p:nvSpPr>
        <p:spPr>
          <a:xfrm>
            <a:off x="7644383" y="1828800"/>
            <a:ext cx="3867912" cy="395935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9560" y="2057400"/>
            <a:ext cx="3383280" cy="320040"/>
          </a:xfrm>
          <a:prstGeom prst="rect">
            <a:avLst/>
          </a:prstGeom>
          <a:noFill/>
        </p:spPr>
        <p:txBody>
          <a:bodyPr wrap="square" anchor="t" lIns="54864" rIns="54864" tIns="54864" bIns="54864">
            <a:spAutoFit/>
          </a:bodyPr>
          <a:lstStyle/>
          <a:p>
            <a:pPr algn="l">
              <a:spcAft>
                <a:spcPts val="400"/>
              </a:spcAft>
            </a:pPr>
            <a:r>
              <a:rPr sz="1100" b="1">
                <a:solidFill>
                  <a:srgbClr val="F59E0B"/>
                </a:solidFill>
                <a:latin typeface="Arial"/>
              </a:rPr>
              <a:t>DELIVERABLES</a:t>
            </a:r>
          </a:p>
        </p:txBody>
      </p:sp>
      <p:sp>
        <p:nvSpPr>
          <p:cNvPr id="15" name="Oval 14"/>
          <p:cNvSpPr/>
          <p:nvPr/>
        </p:nvSpPr>
        <p:spPr>
          <a:xfrm>
            <a:off x="7909560" y="2633472"/>
            <a:ext cx="329184" cy="32918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60" y="2642615"/>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7" name="TextBox 16"/>
          <p:cNvSpPr txBox="1"/>
          <p:nvPr/>
        </p:nvSpPr>
        <p:spPr>
          <a:xfrm>
            <a:off x="8394192" y="2606040"/>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Project setup and transactions</a:t>
            </a:r>
          </a:p>
        </p:txBody>
      </p:sp>
      <p:sp>
        <p:nvSpPr>
          <p:cNvPr id="18" name="Oval 17"/>
          <p:cNvSpPr/>
          <p:nvPr/>
        </p:nvSpPr>
        <p:spPr>
          <a:xfrm>
            <a:off x="7909560" y="3529584"/>
            <a:ext cx="329184" cy="32918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9560" y="3538727"/>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0" name="TextBox 19"/>
          <p:cNvSpPr txBox="1"/>
          <p:nvPr/>
        </p:nvSpPr>
        <p:spPr>
          <a:xfrm>
            <a:off x="8394192" y="3502152"/>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Unbilled time/expense schedule</a:t>
            </a:r>
          </a:p>
        </p:txBody>
      </p:sp>
      <p:sp>
        <p:nvSpPr>
          <p:cNvPr id="21" name="Oval 20"/>
          <p:cNvSpPr/>
          <p:nvPr/>
        </p:nvSpPr>
        <p:spPr>
          <a:xfrm>
            <a:off x="7909560" y="4425696"/>
            <a:ext cx="329184" cy="32918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560" y="4434840"/>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3</a:t>
            </a:r>
          </a:p>
        </p:txBody>
      </p:sp>
      <p:sp>
        <p:nvSpPr>
          <p:cNvPr id="23" name="TextBox 22"/>
          <p:cNvSpPr txBox="1"/>
          <p:nvPr/>
        </p:nvSpPr>
        <p:spPr>
          <a:xfrm>
            <a:off x="8394192" y="4398264"/>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Project profitability review</a:t>
            </a:r>
          </a:p>
        </p:txBody>
      </p:sp>
      <p:sp>
        <p:nvSpPr>
          <p:cNvPr id="24" name="TextBox 2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5" name="TextBox 2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6" name="TextBox 2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53</a:t>
            </a:r>
          </a:p>
        </p:txBody>
      </p:sp>
    </p:spTree>
  </p:cSld>
  <p:transition spd="slow">
    <p:fade/>
  </p:transition>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NO CLICK-BY-CLICK STEPS ON SLIDES · SEE LEARNER GUIDE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Activity 05 · Acceptance Criteria</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All attributable activity is assigned</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Unbilled items are actioned</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Project report agrees to source schedules</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Margin conclusion identifies drivers and limits</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54</a:t>
            </a:r>
          </a:p>
        </p:txBody>
      </p:sp>
    </p:spTree>
  </p:cSld>
  <p:transition spd="slow">
    <p:fade/>
  </p:transition>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ACTIVITY 06 · ADVANCED</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Engineer Bank Rules and Feed Exceptions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6629400" cy="169164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29968"/>
            <a:ext cx="6144768" cy="320040"/>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SCENARIO</a:t>
            </a:r>
          </a:p>
        </p:txBody>
      </p:sp>
      <p:sp>
        <p:nvSpPr>
          <p:cNvPr id="9" name="TextBox 8"/>
          <p:cNvSpPr txBox="1"/>
          <p:nvPr/>
        </p:nvSpPr>
        <p:spPr>
          <a:xfrm>
            <a:off x="960120" y="2450592"/>
            <a:ext cx="6144768" cy="822960"/>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Northstar Catering receives a month of bank-feed lines with ambiguous descriptions, transfers, card settlements, loan receipts, and recurring rent.</a:t>
            </a:r>
          </a:p>
        </p:txBody>
      </p:sp>
      <p:sp>
        <p:nvSpPr>
          <p:cNvPr id="10" name="Rounded Rectangle 9"/>
          <p:cNvSpPr/>
          <p:nvPr/>
        </p:nvSpPr>
        <p:spPr>
          <a:xfrm>
            <a:off x="713232" y="3730752"/>
            <a:ext cx="6629400" cy="2057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931920"/>
            <a:ext cx="6144768" cy="320040"/>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GOAL</a:t>
            </a:r>
          </a:p>
        </p:txBody>
      </p:sp>
      <p:sp>
        <p:nvSpPr>
          <p:cNvPr id="12" name="TextBox 11"/>
          <p:cNvSpPr txBox="1"/>
          <p:nvPr/>
        </p:nvSpPr>
        <p:spPr>
          <a:xfrm>
            <a:off x="960120" y="4334256"/>
            <a:ext cx="6144768" cy="1005840"/>
          </a:xfrm>
          <a:prstGeom prst="rect">
            <a:avLst/>
          </a:prstGeom>
          <a:noFill/>
        </p:spPr>
        <p:txBody>
          <a:bodyPr wrap="square" anchor="t" lIns="54864" rIns="54864" tIns="54864" bIns="54864">
            <a:spAutoFit/>
          </a:bodyPr>
          <a:lstStyle/>
          <a:p>
            <a:pPr algn="l">
              <a:spcAft>
                <a:spcPts val="400"/>
              </a:spcAft>
            </a:pPr>
            <a:r>
              <a:rPr sz="1500" b="1">
                <a:solidFill>
                  <a:srgbClr val="17242B"/>
                </a:solidFill>
                <a:latin typeface="Arial"/>
              </a:rPr>
              <a:t>Match before add, design precise rule priority, and restrict auto-add to low-risk transactions.</a:t>
            </a:r>
          </a:p>
        </p:txBody>
      </p:sp>
      <p:sp>
        <p:nvSpPr>
          <p:cNvPr id="13" name="Rounded Rectangle 12"/>
          <p:cNvSpPr/>
          <p:nvPr/>
        </p:nvSpPr>
        <p:spPr>
          <a:xfrm>
            <a:off x="7644383" y="1828800"/>
            <a:ext cx="3867912" cy="395935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9560" y="2057400"/>
            <a:ext cx="3383280" cy="320040"/>
          </a:xfrm>
          <a:prstGeom prst="rect">
            <a:avLst/>
          </a:prstGeom>
          <a:noFill/>
        </p:spPr>
        <p:txBody>
          <a:bodyPr wrap="square" anchor="t" lIns="54864" rIns="54864" tIns="54864" bIns="54864">
            <a:spAutoFit/>
          </a:bodyPr>
          <a:lstStyle/>
          <a:p>
            <a:pPr algn="l">
              <a:spcAft>
                <a:spcPts val="400"/>
              </a:spcAft>
            </a:pPr>
            <a:r>
              <a:rPr sz="1100" b="1">
                <a:solidFill>
                  <a:srgbClr val="F59E0B"/>
                </a:solidFill>
                <a:latin typeface="Arial"/>
              </a:rPr>
              <a:t>DELIVERABLES</a:t>
            </a:r>
          </a:p>
        </p:txBody>
      </p:sp>
      <p:sp>
        <p:nvSpPr>
          <p:cNvPr id="15" name="Oval 14"/>
          <p:cNvSpPr/>
          <p:nvPr/>
        </p:nvSpPr>
        <p:spPr>
          <a:xfrm>
            <a:off x="7909560" y="2633472"/>
            <a:ext cx="329184" cy="32918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60" y="2642615"/>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7" name="TextBox 16"/>
          <p:cNvSpPr txBox="1"/>
          <p:nvPr/>
        </p:nvSpPr>
        <p:spPr>
          <a:xfrm>
            <a:off x="8394192" y="2606040"/>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Reviewed bank-feed classification</a:t>
            </a:r>
          </a:p>
        </p:txBody>
      </p:sp>
      <p:sp>
        <p:nvSpPr>
          <p:cNvPr id="18" name="Oval 17"/>
          <p:cNvSpPr/>
          <p:nvPr/>
        </p:nvSpPr>
        <p:spPr>
          <a:xfrm>
            <a:off x="7909560" y="3529584"/>
            <a:ext cx="329184" cy="32918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9560" y="3538727"/>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0" name="TextBox 19"/>
          <p:cNvSpPr txBox="1"/>
          <p:nvPr/>
        </p:nvSpPr>
        <p:spPr>
          <a:xfrm>
            <a:off x="8394192" y="3502152"/>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Rule register and priority map</a:t>
            </a:r>
          </a:p>
        </p:txBody>
      </p:sp>
      <p:sp>
        <p:nvSpPr>
          <p:cNvPr id="21" name="Oval 20"/>
          <p:cNvSpPr/>
          <p:nvPr/>
        </p:nvSpPr>
        <p:spPr>
          <a:xfrm>
            <a:off x="7909560" y="4425696"/>
            <a:ext cx="329184" cy="32918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560" y="4434840"/>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3</a:t>
            </a:r>
          </a:p>
        </p:txBody>
      </p:sp>
      <p:sp>
        <p:nvSpPr>
          <p:cNvPr id="23" name="TextBox 22"/>
          <p:cNvSpPr txBox="1"/>
          <p:nvPr/>
        </p:nvSpPr>
        <p:spPr>
          <a:xfrm>
            <a:off x="8394192" y="4398264"/>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Exception and sampling evidence</a:t>
            </a:r>
          </a:p>
        </p:txBody>
      </p:sp>
      <p:sp>
        <p:nvSpPr>
          <p:cNvPr id="24" name="TextBox 2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5" name="TextBox 2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6" name="TextBox 2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55</a:t>
            </a:r>
          </a:p>
        </p:txBody>
      </p:sp>
    </p:spTree>
  </p:cSld>
  <p:transition spd="slow">
    <p:fade/>
  </p:transition>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NO CLICK-BY-CLICK STEPS ON SLIDES · SEE LEARNER GUIDE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Activity 06 · Acceptance Criteria</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Existing entries are matched, not duplicated</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Rule priority is documented</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No high-risk auto-add rule</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Every excluded line has evidence</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56</a:t>
            </a:r>
          </a:p>
        </p:txBody>
      </p:sp>
    </p:spTree>
  </p:cSld>
  <p:transition spd="slow">
    <p:fade/>
  </p:transition>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ACTIVITY 07 · ADVANCED</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Resolve a Bank and Credit-Card Reconciliation</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6629400" cy="169164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29968"/>
            <a:ext cx="6144768" cy="320040"/>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SCENARIO</a:t>
            </a:r>
          </a:p>
        </p:txBody>
      </p:sp>
      <p:sp>
        <p:nvSpPr>
          <p:cNvPr id="9" name="TextBox 8"/>
          <p:cNvSpPr txBox="1"/>
          <p:nvPr/>
        </p:nvSpPr>
        <p:spPr>
          <a:xfrm>
            <a:off x="960120" y="2450592"/>
            <a:ext cx="6144768" cy="822960"/>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Sunrise Retail's books include a duplicate expense, an outstanding cheque, a missing fee, a deposit in transit, and a changed reconciled item.</a:t>
            </a:r>
          </a:p>
        </p:txBody>
      </p:sp>
      <p:sp>
        <p:nvSpPr>
          <p:cNvPr id="10" name="Rounded Rectangle 9"/>
          <p:cNvSpPr/>
          <p:nvPr/>
        </p:nvSpPr>
        <p:spPr>
          <a:xfrm>
            <a:off x="713232" y="3730752"/>
            <a:ext cx="6629400" cy="2057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931920"/>
            <a:ext cx="6144768" cy="320040"/>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GOAL</a:t>
            </a:r>
          </a:p>
        </p:txBody>
      </p:sp>
      <p:sp>
        <p:nvSpPr>
          <p:cNvPr id="12" name="TextBox 11"/>
          <p:cNvSpPr txBox="1"/>
          <p:nvPr/>
        </p:nvSpPr>
        <p:spPr>
          <a:xfrm>
            <a:off x="960120" y="4334256"/>
            <a:ext cx="6144768" cy="1005840"/>
          </a:xfrm>
          <a:prstGeom prst="rect">
            <a:avLst/>
          </a:prstGeom>
          <a:noFill/>
        </p:spPr>
        <p:txBody>
          <a:bodyPr wrap="square" anchor="t" lIns="54864" rIns="54864" tIns="54864" bIns="54864">
            <a:spAutoFit/>
          </a:bodyPr>
          <a:lstStyle/>
          <a:p>
            <a:pPr algn="l">
              <a:spcAft>
                <a:spcPts val="400"/>
              </a:spcAft>
            </a:pPr>
            <a:r>
              <a:rPr sz="1500" b="1">
                <a:solidFill>
                  <a:srgbClr val="17242B"/>
                </a:solidFill>
                <a:latin typeface="Arial"/>
              </a:rPr>
              <a:t>Reach a supported zero difference without an unexplained forced adjustment.</a:t>
            </a:r>
          </a:p>
        </p:txBody>
      </p:sp>
      <p:sp>
        <p:nvSpPr>
          <p:cNvPr id="13" name="Rounded Rectangle 12"/>
          <p:cNvSpPr/>
          <p:nvPr/>
        </p:nvSpPr>
        <p:spPr>
          <a:xfrm>
            <a:off x="7644383" y="1828800"/>
            <a:ext cx="3867912" cy="395935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9560" y="2057400"/>
            <a:ext cx="3383280" cy="320040"/>
          </a:xfrm>
          <a:prstGeom prst="rect">
            <a:avLst/>
          </a:prstGeom>
          <a:noFill/>
        </p:spPr>
        <p:txBody>
          <a:bodyPr wrap="square" anchor="t" lIns="54864" rIns="54864" tIns="54864" bIns="54864">
            <a:spAutoFit/>
          </a:bodyPr>
          <a:lstStyle/>
          <a:p>
            <a:pPr algn="l">
              <a:spcAft>
                <a:spcPts val="400"/>
              </a:spcAft>
            </a:pPr>
            <a:r>
              <a:rPr sz="1100" b="1">
                <a:solidFill>
                  <a:srgbClr val="F59E0B"/>
                </a:solidFill>
                <a:latin typeface="Arial"/>
              </a:rPr>
              <a:t>DELIVERABLES</a:t>
            </a:r>
          </a:p>
        </p:txBody>
      </p:sp>
      <p:sp>
        <p:nvSpPr>
          <p:cNvPr id="15" name="Oval 14"/>
          <p:cNvSpPr/>
          <p:nvPr/>
        </p:nvSpPr>
        <p:spPr>
          <a:xfrm>
            <a:off x="7909560" y="2633472"/>
            <a:ext cx="329184" cy="32918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60" y="2642615"/>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7" name="TextBox 16"/>
          <p:cNvSpPr txBox="1"/>
          <p:nvPr/>
        </p:nvSpPr>
        <p:spPr>
          <a:xfrm>
            <a:off x="8394192" y="2606040"/>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Reconciliation workpaper</a:t>
            </a:r>
          </a:p>
        </p:txBody>
      </p:sp>
      <p:sp>
        <p:nvSpPr>
          <p:cNvPr id="18" name="Oval 17"/>
          <p:cNvSpPr/>
          <p:nvPr/>
        </p:nvSpPr>
        <p:spPr>
          <a:xfrm>
            <a:off x="7909560" y="3529584"/>
            <a:ext cx="329184" cy="32918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9560" y="3538727"/>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0" name="TextBox 19"/>
          <p:cNvSpPr txBox="1"/>
          <p:nvPr/>
        </p:nvSpPr>
        <p:spPr>
          <a:xfrm>
            <a:off x="8394192" y="3502152"/>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Correcting-entry evidence</a:t>
            </a:r>
          </a:p>
        </p:txBody>
      </p:sp>
      <p:sp>
        <p:nvSpPr>
          <p:cNvPr id="21" name="Oval 20"/>
          <p:cNvSpPr/>
          <p:nvPr/>
        </p:nvSpPr>
        <p:spPr>
          <a:xfrm>
            <a:off x="7909560" y="4425696"/>
            <a:ext cx="329184" cy="32918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560" y="4434840"/>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3</a:t>
            </a:r>
          </a:p>
        </p:txBody>
      </p:sp>
      <p:sp>
        <p:nvSpPr>
          <p:cNvPr id="23" name="TextBox 22"/>
          <p:cNvSpPr txBox="1"/>
          <p:nvPr/>
        </p:nvSpPr>
        <p:spPr>
          <a:xfrm>
            <a:off x="8394192" y="4398264"/>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Reconciliation report and post-close exception review</a:t>
            </a:r>
          </a:p>
        </p:txBody>
      </p:sp>
      <p:sp>
        <p:nvSpPr>
          <p:cNvPr id="24" name="TextBox 2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5" name="TextBox 2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6" name="TextBox 2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57</a:t>
            </a:r>
          </a:p>
        </p:txBody>
      </p:sp>
    </p:spTree>
  </p:cSld>
  <p:transition spd="slow">
    <p:fade/>
  </p:transition>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NO CLICK-BY-CLICK STEPS ON SLIDES · SEE LEARNER GUIDE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Activity 07 · Acceptance Criteria</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Reconciliation difference is zero</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No forced unexplained adjustment</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Outstanding items roll forward</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Changes to reconciled items are investigated</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58</a:t>
            </a:r>
          </a:p>
        </p:txBody>
      </p:sp>
    </p:spTree>
  </p:cSld>
  <p:transition spd="slow">
    <p:fade/>
  </p:transition>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ACTIVITY 08 · ADVANCED</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Post and Reverse Month-End Adjustments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6629400" cy="169164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29968"/>
            <a:ext cx="6144768" cy="320040"/>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SCENARIO</a:t>
            </a:r>
          </a:p>
        </p:txBody>
      </p:sp>
      <p:sp>
        <p:nvSpPr>
          <p:cNvPr id="9" name="TextBox 8"/>
          <p:cNvSpPr txBox="1"/>
          <p:nvPr/>
        </p:nvSpPr>
        <p:spPr>
          <a:xfrm>
            <a:off x="960120" y="2450592"/>
            <a:ext cx="6144768" cy="822960"/>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CloudWorks Asia closes June with unbilled utilities, prepaid insurance, equipment depreciation, deferred customer revenue, and a USD payable.</a:t>
            </a:r>
          </a:p>
        </p:txBody>
      </p:sp>
      <p:sp>
        <p:nvSpPr>
          <p:cNvPr id="10" name="Rounded Rectangle 9"/>
          <p:cNvSpPr/>
          <p:nvPr/>
        </p:nvSpPr>
        <p:spPr>
          <a:xfrm>
            <a:off x="713232" y="3730752"/>
            <a:ext cx="6629400" cy="2057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931920"/>
            <a:ext cx="6144768" cy="320040"/>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GOAL</a:t>
            </a:r>
          </a:p>
        </p:txBody>
      </p:sp>
      <p:sp>
        <p:nvSpPr>
          <p:cNvPr id="12" name="TextBox 11"/>
          <p:cNvSpPr txBox="1"/>
          <p:nvPr/>
        </p:nvSpPr>
        <p:spPr>
          <a:xfrm>
            <a:off x="960120" y="4334256"/>
            <a:ext cx="6144768" cy="1005840"/>
          </a:xfrm>
          <a:prstGeom prst="rect">
            <a:avLst/>
          </a:prstGeom>
          <a:noFill/>
        </p:spPr>
        <p:txBody>
          <a:bodyPr wrap="square" anchor="t" lIns="54864" rIns="54864" tIns="54864" bIns="54864">
            <a:spAutoFit/>
          </a:bodyPr>
          <a:lstStyle/>
          <a:p>
            <a:pPr algn="l">
              <a:spcAft>
                <a:spcPts val="400"/>
              </a:spcAft>
            </a:pPr>
            <a:r>
              <a:rPr sz="1500" b="1">
                <a:solidFill>
                  <a:srgbClr val="17242B"/>
                </a:solidFill>
                <a:latin typeface="Arial"/>
              </a:rPr>
              <a:t>Prepare supported accrual, deferral, depreciation, and foreign-currency adjustments with reversal logic.</a:t>
            </a:r>
          </a:p>
        </p:txBody>
      </p:sp>
      <p:sp>
        <p:nvSpPr>
          <p:cNvPr id="13" name="Rounded Rectangle 12"/>
          <p:cNvSpPr/>
          <p:nvPr/>
        </p:nvSpPr>
        <p:spPr>
          <a:xfrm>
            <a:off x="7644383" y="1828800"/>
            <a:ext cx="3867912" cy="395935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9560" y="2057400"/>
            <a:ext cx="3383280" cy="320040"/>
          </a:xfrm>
          <a:prstGeom prst="rect">
            <a:avLst/>
          </a:prstGeom>
          <a:noFill/>
        </p:spPr>
        <p:txBody>
          <a:bodyPr wrap="square" anchor="t" lIns="54864" rIns="54864" tIns="54864" bIns="54864">
            <a:spAutoFit/>
          </a:bodyPr>
          <a:lstStyle/>
          <a:p>
            <a:pPr algn="l">
              <a:spcAft>
                <a:spcPts val="400"/>
              </a:spcAft>
            </a:pPr>
            <a:r>
              <a:rPr sz="1100" b="1">
                <a:solidFill>
                  <a:srgbClr val="F59E0B"/>
                </a:solidFill>
                <a:latin typeface="Arial"/>
              </a:rPr>
              <a:t>DELIVERABLES</a:t>
            </a:r>
          </a:p>
        </p:txBody>
      </p:sp>
      <p:sp>
        <p:nvSpPr>
          <p:cNvPr id="15" name="Oval 14"/>
          <p:cNvSpPr/>
          <p:nvPr/>
        </p:nvSpPr>
        <p:spPr>
          <a:xfrm>
            <a:off x="7909560" y="2633472"/>
            <a:ext cx="329184" cy="32918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60" y="2642615"/>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7" name="TextBox 16"/>
          <p:cNvSpPr txBox="1"/>
          <p:nvPr/>
        </p:nvSpPr>
        <p:spPr>
          <a:xfrm>
            <a:off x="8394192" y="2606040"/>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Adjustment calculations</a:t>
            </a:r>
          </a:p>
        </p:txBody>
      </p:sp>
      <p:sp>
        <p:nvSpPr>
          <p:cNvPr id="18" name="Oval 17"/>
          <p:cNvSpPr/>
          <p:nvPr/>
        </p:nvSpPr>
        <p:spPr>
          <a:xfrm>
            <a:off x="7909560" y="3529584"/>
            <a:ext cx="329184" cy="32918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9560" y="3538727"/>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0" name="TextBox 19"/>
          <p:cNvSpPr txBox="1"/>
          <p:nvPr/>
        </p:nvSpPr>
        <p:spPr>
          <a:xfrm>
            <a:off x="8394192" y="3502152"/>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Journal-entry and reversal evidence</a:t>
            </a:r>
          </a:p>
        </p:txBody>
      </p:sp>
      <p:sp>
        <p:nvSpPr>
          <p:cNvPr id="21" name="Oval 20"/>
          <p:cNvSpPr/>
          <p:nvPr/>
        </p:nvSpPr>
        <p:spPr>
          <a:xfrm>
            <a:off x="7909560" y="4425696"/>
            <a:ext cx="329184" cy="32918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560" y="4434840"/>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3</a:t>
            </a:r>
          </a:p>
        </p:txBody>
      </p:sp>
      <p:sp>
        <p:nvSpPr>
          <p:cNvPr id="23" name="TextBox 22"/>
          <p:cNvSpPr txBox="1"/>
          <p:nvPr/>
        </p:nvSpPr>
        <p:spPr>
          <a:xfrm>
            <a:off x="8394192" y="4398264"/>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Pre/post-adjustment trial-balance bridge</a:t>
            </a:r>
          </a:p>
        </p:txBody>
      </p:sp>
      <p:sp>
        <p:nvSpPr>
          <p:cNvPr id="24" name="TextBox 2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5" name="TextBox 2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6" name="TextBox 2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59</a:t>
            </a:r>
          </a:p>
        </p:txBody>
      </p:sp>
    </p:spTree>
  </p:cSld>
  <p:transition spd="slow">
    <p:fade/>
  </p:transition>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NO CLICK-BY-CLICK STEPS ON SLIDES · SEE LEARNER GUIDE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Activity 08 · Acceptance Criteria</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Entries balance</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Calculations are formula-driven and supported</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Reversals prevent double counting</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Statement effects match policy</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60</a:t>
            </a:r>
          </a:p>
        </p:txBody>
      </p:sp>
    </p:spTree>
  </p:cSld>
  <p:transition spd="slow">
    <p:fade/>
  </p:transition>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ACTIVITY 09 · ADVANCED</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Investigate Audit Log and Close-Control Breaches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6629400" cy="169164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29968"/>
            <a:ext cx="6144768" cy="320040"/>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SCENARIO</a:t>
            </a:r>
          </a:p>
        </p:txBody>
      </p:sp>
      <p:sp>
        <p:nvSpPr>
          <p:cNvPr id="9" name="TextBox 8"/>
          <p:cNvSpPr txBox="1"/>
          <p:nvPr/>
        </p:nvSpPr>
        <p:spPr>
          <a:xfrm>
            <a:off x="960120" y="2450592"/>
            <a:ext cx="6144768" cy="822960"/>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After management sign-off, the controller finds a backdated invoice edit, a deleted bill, a new bank rule, and a supplier bank-detail change.</a:t>
            </a:r>
          </a:p>
        </p:txBody>
      </p:sp>
      <p:sp>
        <p:nvSpPr>
          <p:cNvPr id="10" name="Rounded Rectangle 9"/>
          <p:cNvSpPr/>
          <p:nvPr/>
        </p:nvSpPr>
        <p:spPr>
          <a:xfrm>
            <a:off x="713232" y="3730752"/>
            <a:ext cx="6629400" cy="2057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931920"/>
            <a:ext cx="6144768" cy="320040"/>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GOAL</a:t>
            </a:r>
          </a:p>
        </p:txBody>
      </p:sp>
      <p:sp>
        <p:nvSpPr>
          <p:cNvPr id="12" name="TextBox 11"/>
          <p:cNvSpPr txBox="1"/>
          <p:nvPr/>
        </p:nvSpPr>
        <p:spPr>
          <a:xfrm>
            <a:off x="960120" y="4334256"/>
            <a:ext cx="6144768" cy="1005840"/>
          </a:xfrm>
          <a:prstGeom prst="rect">
            <a:avLst/>
          </a:prstGeom>
          <a:noFill/>
        </p:spPr>
        <p:txBody>
          <a:bodyPr wrap="square" anchor="t" lIns="54864" rIns="54864" tIns="54864" bIns="54864">
            <a:spAutoFit/>
          </a:bodyPr>
          <a:lstStyle/>
          <a:p>
            <a:pPr algn="l">
              <a:spcAft>
                <a:spcPts val="400"/>
              </a:spcAft>
            </a:pPr>
            <a:r>
              <a:rPr sz="1500" b="1">
                <a:solidFill>
                  <a:srgbClr val="17242B"/>
                </a:solidFill>
                <a:latin typeface="Arial"/>
              </a:rPr>
              <a:t>Reconstruct events, assess financial impact, strengthen roles, and lock the approved period.</a:t>
            </a:r>
          </a:p>
        </p:txBody>
      </p:sp>
      <p:sp>
        <p:nvSpPr>
          <p:cNvPr id="13" name="Rounded Rectangle 12"/>
          <p:cNvSpPr/>
          <p:nvPr/>
        </p:nvSpPr>
        <p:spPr>
          <a:xfrm>
            <a:off x="7644383" y="1828800"/>
            <a:ext cx="3867912" cy="395935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9560" y="2057400"/>
            <a:ext cx="3383280" cy="320040"/>
          </a:xfrm>
          <a:prstGeom prst="rect">
            <a:avLst/>
          </a:prstGeom>
          <a:noFill/>
        </p:spPr>
        <p:txBody>
          <a:bodyPr wrap="square" anchor="t" lIns="54864" rIns="54864" tIns="54864" bIns="54864">
            <a:spAutoFit/>
          </a:bodyPr>
          <a:lstStyle/>
          <a:p>
            <a:pPr algn="l">
              <a:spcAft>
                <a:spcPts val="400"/>
              </a:spcAft>
            </a:pPr>
            <a:r>
              <a:rPr sz="1100" b="1">
                <a:solidFill>
                  <a:srgbClr val="F59E0B"/>
                </a:solidFill>
                <a:latin typeface="Arial"/>
              </a:rPr>
              <a:t>DELIVERABLES</a:t>
            </a:r>
          </a:p>
        </p:txBody>
      </p:sp>
      <p:sp>
        <p:nvSpPr>
          <p:cNvPr id="15" name="Oval 14"/>
          <p:cNvSpPr/>
          <p:nvPr/>
        </p:nvSpPr>
        <p:spPr>
          <a:xfrm>
            <a:off x="7909560" y="2633472"/>
            <a:ext cx="329184" cy="32918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60" y="2642615"/>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7" name="TextBox 16"/>
          <p:cNvSpPr txBox="1"/>
          <p:nvPr/>
        </p:nvSpPr>
        <p:spPr>
          <a:xfrm>
            <a:off x="8394192" y="2606040"/>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Audit-log investigation</a:t>
            </a:r>
          </a:p>
        </p:txBody>
      </p:sp>
      <p:sp>
        <p:nvSpPr>
          <p:cNvPr id="18" name="Oval 17"/>
          <p:cNvSpPr/>
          <p:nvPr/>
        </p:nvSpPr>
        <p:spPr>
          <a:xfrm>
            <a:off x="7909560" y="3529584"/>
            <a:ext cx="329184" cy="32918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9560" y="3538727"/>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0" name="TextBox 19"/>
          <p:cNvSpPr txBox="1"/>
          <p:nvPr/>
        </p:nvSpPr>
        <p:spPr>
          <a:xfrm>
            <a:off x="8394192" y="3502152"/>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Role and segregation-of-duties matrix</a:t>
            </a:r>
          </a:p>
        </p:txBody>
      </p:sp>
      <p:sp>
        <p:nvSpPr>
          <p:cNvPr id="21" name="Oval 20"/>
          <p:cNvSpPr/>
          <p:nvPr/>
        </p:nvSpPr>
        <p:spPr>
          <a:xfrm>
            <a:off x="7909560" y="4425696"/>
            <a:ext cx="329184" cy="32918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560" y="4434840"/>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3</a:t>
            </a:r>
          </a:p>
        </p:txBody>
      </p:sp>
      <p:sp>
        <p:nvSpPr>
          <p:cNvPr id="23" name="TextBox 22"/>
          <p:cNvSpPr txBox="1"/>
          <p:nvPr/>
        </p:nvSpPr>
        <p:spPr>
          <a:xfrm>
            <a:off x="8394192" y="4398264"/>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Close exception and remediation plan</a:t>
            </a:r>
          </a:p>
        </p:txBody>
      </p:sp>
      <p:sp>
        <p:nvSpPr>
          <p:cNvPr id="24" name="TextBox 2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5" name="TextBox 2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6" name="TextBox 2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61</a:t>
            </a:r>
          </a:p>
        </p:txBody>
      </p:sp>
    </p:spTree>
  </p:cSld>
  <p:transition spd="slow">
    <p:fade/>
  </p:transition>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NO CLICK-BY-CLICK STEPS ON SLIDES · SEE LEARNER GUIDE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Activity 09 · Acceptance Criteria</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Every event is reconstructed</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Financial impact is quantified</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Role conflicts are remediated</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Close is locked with controlled exceptions</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62</a:t>
            </a:r>
          </a:p>
        </p:txBody>
      </p:sp>
    </p:spTree>
  </p:cSld>
  <p:transition spd="slow">
    <p:fade/>
  </p:transition>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WHAT YOU SHOULD NOW BE ABLE TO DO</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Topic 1 Recap</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Explain</a:t>
            </a:r>
          </a:p>
          <a:p>
            <a:pPr algn="l">
              <a:spcAft>
                <a:spcPts val="400"/>
              </a:spcAft>
            </a:pPr>
            <a:r>
              <a:rPr sz="1250" b="0">
                <a:solidFill>
                  <a:srgbClr val="5B6573"/>
                </a:solidFill>
                <a:latin typeface="Arial"/>
              </a:rPr>
              <a:t>State the accounting logic, not only the QuickBooks action.</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Reconcile</a:t>
            </a:r>
          </a:p>
          <a:p>
            <a:pPr algn="l">
              <a:spcAft>
                <a:spcPts val="400"/>
              </a:spcAft>
            </a:pPr>
            <a:r>
              <a:rPr sz="1250" b="0">
                <a:solidFill>
                  <a:srgbClr val="5B6573"/>
                </a:solidFill>
                <a:latin typeface="Arial"/>
              </a:rPr>
              <a:t>Tie the source, subledger, GL, report, and evidence.</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Challenge</a:t>
            </a:r>
          </a:p>
          <a:p>
            <a:pPr algn="l">
              <a:spcAft>
                <a:spcPts val="400"/>
              </a:spcAft>
            </a:pPr>
            <a:r>
              <a:rPr sz="1250" b="0">
                <a:solidFill>
                  <a:srgbClr val="5B6573"/>
                </a:solidFill>
                <a:latin typeface="Arial"/>
              </a:rPr>
              <a:t>Investigate exceptions, estimates, feature availability, and period effects.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Approve</a:t>
            </a:r>
          </a:p>
          <a:p>
            <a:pPr algn="l">
              <a:spcAft>
                <a:spcPts val="400"/>
              </a:spcAft>
            </a:pPr>
            <a:r>
              <a:rPr sz="1250" b="0">
                <a:solidFill>
                  <a:srgbClr val="5B6573"/>
                </a:solidFill>
                <a:latin typeface="Arial"/>
              </a:rPr>
              <a:t>Record ownership, judgement, conclusion, and sign-off.</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63</a:t>
            </a:r>
          </a:p>
        </p:txBody>
      </p:sp>
    </p:spTree>
  </p:cSld>
  <p:transition spd="slow">
    <p:fade/>
  </p:transition>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166360" y="1417320"/>
            <a:ext cx="1828800" cy="182880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166360" y="1856231"/>
            <a:ext cx="1828800" cy="731520"/>
          </a:xfrm>
          <a:prstGeom prst="rect">
            <a:avLst/>
          </a:prstGeom>
          <a:noFill/>
        </p:spPr>
        <p:txBody>
          <a:bodyPr wrap="square" anchor="ctr" lIns="54864" rIns="54864" tIns="54864" bIns="54864">
            <a:spAutoFit/>
          </a:bodyPr>
          <a:lstStyle/>
          <a:p>
            <a:pPr algn="ctr">
              <a:spcAft>
                <a:spcPts val="400"/>
              </a:spcAft>
            </a:pPr>
            <a:r>
              <a:rPr sz="4000" b="1">
                <a:solidFill>
                  <a:srgbClr val="FFFFFF"/>
                </a:solidFill>
                <a:latin typeface="Arial"/>
              </a:rPr>
              <a:t>☕</a:t>
            </a:r>
          </a:p>
        </p:txBody>
      </p:sp>
      <p:sp>
        <p:nvSpPr>
          <p:cNvPr id="5" name="TextBox 4"/>
          <p:cNvSpPr txBox="1"/>
          <p:nvPr/>
        </p:nvSpPr>
        <p:spPr>
          <a:xfrm>
            <a:off x="914400" y="3703320"/>
            <a:ext cx="10332720" cy="685800"/>
          </a:xfrm>
          <a:prstGeom prst="rect">
            <a:avLst/>
          </a:prstGeom>
          <a:noFill/>
        </p:spPr>
        <p:txBody>
          <a:bodyPr wrap="square" anchor="t" lIns="54864" rIns="54864" tIns="54864" bIns="54864">
            <a:spAutoFit/>
          </a:bodyPr>
          <a:lstStyle/>
          <a:p>
            <a:pPr algn="ctr">
              <a:spcAft>
                <a:spcPts val="400"/>
              </a:spcAft>
            </a:pPr>
            <a:r>
              <a:rPr sz="3400" b="1">
                <a:solidFill>
                  <a:srgbClr val="17242B"/>
                </a:solidFill>
                <a:latin typeface="Arial"/>
              </a:rPr>
              <a:t>Break · Return on time</a:t>
            </a:r>
          </a:p>
        </p:txBody>
      </p:sp>
      <p:sp>
        <p:nvSpPr>
          <p:cNvPr id="6" name="TextBox 5"/>
          <p:cNvSpPr txBox="1"/>
          <p:nvPr/>
        </p:nvSpPr>
        <p:spPr>
          <a:xfrm>
            <a:off x="914400" y="4572000"/>
            <a:ext cx="10332720" cy="502920"/>
          </a:xfrm>
          <a:prstGeom prst="rect">
            <a:avLst/>
          </a:prstGeom>
          <a:noFill/>
        </p:spPr>
        <p:txBody>
          <a:bodyPr wrap="square" anchor="t" lIns="54864" rIns="54864" tIns="54864" bIns="54864">
            <a:spAutoFit/>
          </a:bodyPr>
          <a:lstStyle/>
          <a:p>
            <a:pPr algn="ctr">
              <a:spcAft>
                <a:spcPts val="400"/>
              </a:spcAft>
            </a:pPr>
            <a:r>
              <a:rPr sz="1600" b="0">
                <a:solidFill>
                  <a:srgbClr val="5B6573"/>
                </a:solidFill>
                <a:latin typeface="Arial"/>
              </a:rPr>
              <a:t>Use the activity workbook to record unresolved questions before the next section.</a:t>
            </a:r>
          </a:p>
        </p:txBody>
      </p:sp>
      <p:sp>
        <p:nvSpPr>
          <p:cNvPr id="7" name="TextBox 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8" name="TextBox 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9" name="TextBox 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64</a:t>
            </a:r>
          </a:p>
        </p:txBody>
      </p:sp>
    </p:spTree>
  </p:cSld>
  <p:transition spd="slow">
    <p:fade/>
  </p:transition>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8" y="1920240"/>
            <a:ext cx="9326880" cy="347472"/>
          </a:xfrm>
          <a:prstGeom prst="rect">
            <a:avLst/>
          </a:prstGeom>
          <a:noFill/>
        </p:spPr>
        <p:txBody>
          <a:bodyPr wrap="square" anchor="t" lIns="54864" rIns="54864" tIns="54864" bIns="54864">
            <a:spAutoFit/>
          </a:bodyPr>
          <a:lstStyle/>
          <a:p>
            <a:pPr algn="l">
              <a:spcAft>
                <a:spcPts val="400"/>
              </a:spcAft>
            </a:pPr>
            <a:r>
              <a:rPr sz="1300" b="1">
                <a:solidFill>
                  <a:srgbClr val="008E8E"/>
                </a:solidFill>
                <a:latin typeface="Arial"/>
              </a:rPr>
              <a:t>TOPIC 2</a:t>
            </a:r>
          </a:p>
        </p:txBody>
      </p:sp>
      <p:sp>
        <p:nvSpPr>
          <p:cNvPr id="5" name="TextBox 4"/>
          <p:cNvSpPr txBox="1"/>
          <p:nvPr/>
        </p:nvSpPr>
        <p:spPr>
          <a:xfrm>
            <a:off x="841248" y="2359152"/>
            <a:ext cx="9875520" cy="1234440"/>
          </a:xfrm>
          <a:prstGeom prst="rect">
            <a:avLst/>
          </a:prstGeom>
          <a:noFill/>
        </p:spPr>
        <p:txBody>
          <a:bodyPr wrap="square" anchor="ctr" lIns="54864" rIns="54864" tIns="54864" bIns="54864">
            <a:spAutoFit/>
          </a:bodyPr>
          <a:lstStyle/>
          <a:p>
            <a:pPr algn="l">
              <a:spcAft>
                <a:spcPts val="400"/>
              </a:spcAft>
            </a:pPr>
            <a:r>
              <a:rPr sz="3900" b="1">
                <a:solidFill>
                  <a:srgbClr val="17242B"/>
                </a:solidFill>
                <a:latin typeface="Arial"/>
              </a:rPr>
              <a:t>Financial Reporting and Management Insight</a:t>
            </a:r>
          </a:p>
        </p:txBody>
      </p:sp>
      <p:sp>
        <p:nvSpPr>
          <p:cNvPr id="6" name="TextBox 5"/>
          <p:cNvSpPr txBox="1"/>
          <p:nvPr/>
        </p:nvSpPr>
        <p:spPr>
          <a:xfrm>
            <a:off x="859536" y="3858768"/>
            <a:ext cx="9692640" cy="713232"/>
          </a:xfrm>
          <a:prstGeom prst="rect">
            <a:avLst/>
          </a:prstGeom>
          <a:noFill/>
        </p:spPr>
        <p:txBody>
          <a:bodyPr wrap="square" anchor="t" lIns="54864" rIns="54864" tIns="54864" bIns="54864">
            <a:spAutoFit/>
          </a:bodyPr>
          <a:lstStyle/>
          <a:p>
            <a:pPr algn="l">
              <a:spcAft>
                <a:spcPts val="400"/>
              </a:spcAft>
            </a:pPr>
            <a:r>
              <a:rPr sz="1600" b="0">
                <a:solidFill>
                  <a:srgbClr val="5B6573"/>
                </a:solidFill>
                <a:latin typeface="Arial"/>
              </a:rPr>
              <a:t>Statement integrity · report design · ageing · profitability · GST · variance and decision narratives</a:t>
            </a:r>
          </a:p>
        </p:txBody>
      </p:sp>
      <p:sp>
        <p:nvSpPr>
          <p:cNvPr id="7" name="TextBox 6"/>
          <p:cNvSpPr txBox="1"/>
          <p:nvPr/>
        </p:nvSpPr>
        <p:spPr>
          <a:xfrm>
            <a:off x="9784080" y="566928"/>
            <a:ext cx="1645920" cy="1097280"/>
          </a:xfrm>
          <a:prstGeom prst="rect">
            <a:avLst/>
          </a:prstGeom>
          <a:noFill/>
        </p:spPr>
        <p:txBody>
          <a:bodyPr wrap="square" anchor="t" lIns="54864" rIns="54864" tIns="54864" bIns="54864">
            <a:spAutoFit/>
          </a:bodyPr>
          <a:lstStyle/>
          <a:p>
            <a:pPr algn="r">
              <a:spcAft>
                <a:spcPts val="400"/>
              </a:spcAft>
            </a:pPr>
            <a:r>
              <a:rPr sz="5800" b="1">
                <a:solidFill>
                  <a:srgbClr val="DFE6ED"/>
                </a:solidFill>
                <a:latin typeface="Arial"/>
              </a:rPr>
              <a:t>02</a:t>
            </a:r>
          </a:p>
        </p:txBody>
      </p:sp>
      <p:sp>
        <p:nvSpPr>
          <p:cNvPr id="8" name="TextBox 7"/>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9" name="TextBox 8"/>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0" name="TextBox 9"/>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65</a:t>
            </a:r>
          </a:p>
        </p:txBody>
      </p:sp>
    </p:spTree>
  </p:cSld>
  <p:transition spd="slow">
    <p:fade/>
  </p:transition>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TOPIC 2</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Key Concepts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Reports are outputs</a:t>
            </a:r>
          </a:p>
          <a:p>
            <a:pPr algn="l">
              <a:spcAft>
                <a:spcPts val="400"/>
              </a:spcAft>
            </a:pPr>
            <a:r>
              <a:rPr sz="1250" b="0">
                <a:solidFill>
                  <a:srgbClr val="5B6573"/>
                </a:solidFill>
                <a:latin typeface="Arial"/>
              </a:rPr>
              <a:t>A polished report cannot repair incomplete, duplicated, misdated, or misclassified transactions.</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Triangulate</a:t>
            </a:r>
          </a:p>
          <a:p>
            <a:pPr algn="l">
              <a:spcAft>
                <a:spcPts val="400"/>
              </a:spcAft>
            </a:pPr>
            <a:r>
              <a:rPr sz="1250" b="0">
                <a:solidFill>
                  <a:srgbClr val="5B6573"/>
                </a:solidFill>
                <a:latin typeface="Arial"/>
              </a:rPr>
              <a:t>Tie the Profit and Loss, Balance Sheet, Cash Flow, subledgers, and reconciliation evidence together.</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Segment with purpose</a:t>
            </a:r>
          </a:p>
          <a:p>
            <a:pPr algn="l">
              <a:spcAft>
                <a:spcPts val="400"/>
              </a:spcAft>
            </a:pPr>
            <a:r>
              <a:rPr sz="1250" b="0">
                <a:solidFill>
                  <a:srgbClr val="5B6573"/>
                </a:solidFill>
                <a:latin typeface="Arial"/>
              </a:rPr>
              <a:t>Projects, customers, products, classes, locations, and custom fields answer different management questions.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Explain the movement</a:t>
            </a:r>
          </a:p>
          <a:p>
            <a:pPr algn="l">
              <a:spcAft>
                <a:spcPts val="400"/>
              </a:spcAft>
            </a:pPr>
            <a:r>
              <a:rPr sz="1250" b="0">
                <a:solidFill>
                  <a:srgbClr val="5B6573"/>
                </a:solidFill>
                <a:latin typeface="Arial"/>
              </a:rPr>
              <a:t>A management pack pairs numbers with drivers, risks, actions, owners, and due dates.</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66</a:t>
            </a:r>
          </a:p>
        </p:txBody>
      </p:sp>
    </p:spTree>
  </p:cSld>
  <p:transition spd="slow">
    <p:fade/>
  </p:transition>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REPORTING FRAMEWORK</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Financial statement architecture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Profit and Loss explains performance over a period; Balance Sheet shows financial position at a date.</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Cash Flow explains movements in cash; profit can rise while cash falls because timing and non-cash items differ.</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Retained earnings links current and prior-period results to equity, subject to distributions and adjustments.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Report basis, period, comparison, currency, grouping, and accounting method must be explicit.</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67</a:t>
            </a:r>
          </a:p>
        </p:txBody>
      </p:sp>
    </p:spTree>
  </p:cSld>
  <p:transition spd="slow">
    <p:fade/>
  </p:transition>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REPORTING FRAMEWORK</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400" b="1">
                <a:solidFill>
                  <a:srgbClr val="17242B"/>
                </a:solidFill>
                <a:latin typeface="Arial"/>
              </a:rPr>
              <a:t>Financial statement architecture · Design vs evidence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303520" cy="432511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5303520" cy="10972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 y="2029968"/>
            <a:ext cx="4800600" cy="384048"/>
          </a:xfrm>
          <a:prstGeom prst="rect">
            <a:avLst/>
          </a:prstGeom>
          <a:noFill/>
        </p:spPr>
        <p:txBody>
          <a:bodyPr wrap="square" anchor="t" lIns="54864" rIns="54864" tIns="54864" bIns="54864">
            <a:spAutoFit/>
          </a:bodyPr>
          <a:lstStyle/>
          <a:p>
            <a:pPr algn="l">
              <a:spcAft>
                <a:spcPts val="400"/>
              </a:spcAft>
            </a:pPr>
            <a:r>
              <a:rPr sz="1700" b="1">
                <a:solidFill>
                  <a:srgbClr val="1F6FEB"/>
                </a:solidFill>
                <a:latin typeface="Arial"/>
              </a:rPr>
              <a:t>DESIGN / DECIDE</a:t>
            </a:r>
          </a:p>
        </p:txBody>
      </p:sp>
      <p:sp>
        <p:nvSpPr>
          <p:cNvPr id="10" name="Oval 9"/>
          <p:cNvSpPr/>
          <p:nvPr/>
        </p:nvSpPr>
        <p:spPr>
          <a:xfrm>
            <a:off x="969264" y="2606040"/>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2615184"/>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2" name="TextBox 11"/>
          <p:cNvSpPr txBox="1"/>
          <p:nvPr/>
        </p:nvSpPr>
        <p:spPr>
          <a:xfrm>
            <a:off x="1426464" y="2578608"/>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Profit and Loss explains performance over a period; Balance Sheet shows financial position at a date.</a:t>
            </a:r>
          </a:p>
        </p:txBody>
      </p:sp>
      <p:sp>
        <p:nvSpPr>
          <p:cNvPr id="13" name="Oval 12"/>
          <p:cNvSpPr/>
          <p:nvPr/>
        </p:nvSpPr>
        <p:spPr>
          <a:xfrm>
            <a:off x="969264" y="3438144"/>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47288"/>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15" name="TextBox 14"/>
          <p:cNvSpPr txBox="1"/>
          <p:nvPr/>
        </p:nvSpPr>
        <p:spPr>
          <a:xfrm>
            <a:off x="1426464" y="3410712"/>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Cash Flow explains movements in cash; profit can rise while cash falls because timing and non-cash items differ.</a:t>
            </a:r>
          </a:p>
        </p:txBody>
      </p:sp>
      <p:sp>
        <p:nvSpPr>
          <p:cNvPr id="16" name="Rounded Rectangle 15"/>
          <p:cNvSpPr/>
          <p:nvPr/>
        </p:nvSpPr>
        <p:spPr>
          <a:xfrm>
            <a:off x="6199632" y="1783080"/>
            <a:ext cx="5303520" cy="432511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9632" y="1783080"/>
            <a:ext cx="5303520" cy="109728"/>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55664" y="2029968"/>
            <a:ext cx="4800600" cy="384048"/>
          </a:xfrm>
          <a:prstGeom prst="rect">
            <a:avLst/>
          </a:prstGeom>
          <a:noFill/>
        </p:spPr>
        <p:txBody>
          <a:bodyPr wrap="square" anchor="t" lIns="54864" rIns="54864" tIns="54864" bIns="54864">
            <a:spAutoFit/>
          </a:bodyPr>
          <a:lstStyle/>
          <a:p>
            <a:pPr algn="l">
              <a:spcAft>
                <a:spcPts val="400"/>
              </a:spcAft>
            </a:pPr>
            <a:r>
              <a:rPr sz="1700" b="1">
                <a:solidFill>
                  <a:srgbClr val="008E8E"/>
                </a:solidFill>
                <a:latin typeface="Arial"/>
              </a:rPr>
              <a:t>VERIFY / CONTROL</a:t>
            </a:r>
          </a:p>
        </p:txBody>
      </p:sp>
      <p:sp>
        <p:nvSpPr>
          <p:cNvPr id="19" name="Oval 18"/>
          <p:cNvSpPr/>
          <p:nvPr/>
        </p:nvSpPr>
        <p:spPr>
          <a:xfrm>
            <a:off x="6455664" y="2606040"/>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55664" y="2615184"/>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21" name="TextBox 20"/>
          <p:cNvSpPr txBox="1"/>
          <p:nvPr/>
        </p:nvSpPr>
        <p:spPr>
          <a:xfrm>
            <a:off x="6912864" y="2578608"/>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Retained earnings links current and prior-period results to equity, subject to distributions and adjustments.</a:t>
            </a:r>
          </a:p>
        </p:txBody>
      </p:sp>
      <p:sp>
        <p:nvSpPr>
          <p:cNvPr id="22" name="Oval 21"/>
          <p:cNvSpPr/>
          <p:nvPr/>
        </p:nvSpPr>
        <p:spPr>
          <a:xfrm>
            <a:off x="6455664" y="3438144"/>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5664" y="3447288"/>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4" name="TextBox 23"/>
          <p:cNvSpPr txBox="1"/>
          <p:nvPr/>
        </p:nvSpPr>
        <p:spPr>
          <a:xfrm>
            <a:off x="6912864" y="3410712"/>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Report basis, period, comparison, currency, grouping, and accounting method must be explicit.</a:t>
            </a:r>
          </a:p>
        </p:txBody>
      </p:sp>
      <p:sp>
        <p:nvSpPr>
          <p:cNvPr id="25" name="TextBox 24"/>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6" name="TextBox 25"/>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7" name="TextBox 26"/>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68</a:t>
            </a:r>
          </a:p>
        </p:txBody>
      </p:sp>
    </p:spTree>
  </p:cSld>
  <p:transition spd="slow">
    <p:fade/>
  </p:transition>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EDITABLE NATIVE CHART</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Performance and Cash Divergence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868680" y="1874519"/>
          <a:ext cx="7452360" cy="3886200"/>
        </p:xfrm>
        <a:graphic>
          <a:graphicData uri="http://schemas.openxmlformats.org/drawingml/2006/chart">
            <c:chart xmlns:c="http://schemas.openxmlformats.org/drawingml/2006/chart" r:id="rId2"/>
          </a:graphicData>
        </a:graphic>
      </p:graphicFrame>
      <p:sp>
        <p:nvSpPr>
          <p:cNvPr id="8" name="Rounded Rectangle 7"/>
          <p:cNvSpPr/>
          <p:nvPr/>
        </p:nvSpPr>
        <p:spPr>
          <a:xfrm>
            <a:off x="8549640" y="1874519"/>
            <a:ext cx="2907792" cy="38862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23960" y="2157984"/>
            <a:ext cx="2395728" cy="329184"/>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READ THE SIGNAL</a:t>
            </a:r>
          </a:p>
        </p:txBody>
      </p:sp>
      <p:sp>
        <p:nvSpPr>
          <p:cNvPr id="10" name="Oval 9"/>
          <p:cNvSpPr/>
          <p:nvPr/>
        </p:nvSpPr>
        <p:spPr>
          <a:xfrm>
            <a:off x="8823960" y="2761488"/>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281160" y="2734056"/>
            <a:ext cx="1874519" cy="658368"/>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Revenue growth is not cash growth</a:t>
            </a:r>
          </a:p>
        </p:txBody>
      </p:sp>
      <p:sp>
        <p:nvSpPr>
          <p:cNvPr id="12" name="Oval 11"/>
          <p:cNvSpPr/>
          <p:nvPr/>
        </p:nvSpPr>
        <p:spPr>
          <a:xfrm>
            <a:off x="8823960" y="3602736"/>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81160" y="3575304"/>
            <a:ext cx="1874519" cy="658368"/>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Explain gross-margin movement</a:t>
            </a:r>
          </a:p>
        </p:txBody>
      </p:sp>
      <p:sp>
        <p:nvSpPr>
          <p:cNvPr id="14" name="Oval 13"/>
          <p:cNvSpPr/>
          <p:nvPr/>
        </p:nvSpPr>
        <p:spPr>
          <a:xfrm>
            <a:off x="8823960" y="4443984"/>
            <a:ext cx="310896" cy="310896"/>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81160" y="4416552"/>
            <a:ext cx="1874519" cy="658368"/>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Quantify drivers and actions</a:t>
            </a:r>
          </a:p>
        </p:txBody>
      </p:sp>
      <p:sp>
        <p:nvSpPr>
          <p:cNvPr id="16" name="TextBox 15"/>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17" name="TextBox 16"/>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8" name="TextBox 17"/>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69</a:t>
            </a:r>
          </a:p>
        </p:txBody>
      </p:sp>
    </p:spTree>
  </p:cSld>
  <p:transition spd="slow">
    <p:fade/>
  </p:transition>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REPORT INTEGRITY</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Subledger-to-ledger reporting bridge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AR ageing should tie to accounts receivable; AP ageing should tie to accounts payable.</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Inventory valuation should tie to inventory asset; bank reconciliations should support cash balances.</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GST detail and control accounts should support the return working paper.</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A trial balance is mathematically balanced even when classification, timing, or completeness is wrong.</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70</a:t>
            </a:r>
          </a:p>
        </p:txBody>
      </p:sp>
    </p:spTree>
  </p:cSld>
  <p:transition spd="slow">
    <p:fade/>
  </p:transition>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REPORT INTEGRITY</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400" b="1">
                <a:solidFill>
                  <a:srgbClr val="17242B"/>
                </a:solidFill>
                <a:latin typeface="Arial"/>
              </a:rPr>
              <a:t>Subledger-to-ledger reporting bridge · Control flow</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577340" y="2414016"/>
            <a:ext cx="731520" cy="73152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77340"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1</a:t>
            </a:r>
          </a:p>
        </p:txBody>
      </p:sp>
      <p:sp>
        <p:nvSpPr>
          <p:cNvPr id="10" name="TextBox 9"/>
          <p:cNvSpPr txBox="1"/>
          <p:nvPr/>
        </p:nvSpPr>
        <p:spPr>
          <a:xfrm>
            <a:off x="768096"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AR ageing should tie to accounts receivable; AP ageing should tie to accounts payable.</a:t>
            </a:r>
          </a:p>
        </p:txBody>
      </p:sp>
      <p:sp>
        <p:nvSpPr>
          <p:cNvPr id="11" name="TextBox 10"/>
          <p:cNvSpPr txBox="1"/>
          <p:nvPr/>
        </p:nvSpPr>
        <p:spPr>
          <a:xfrm>
            <a:off x="3209544"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1F6FEB"/>
                </a:solidFill>
                <a:latin typeface="Arial"/>
              </a:rPr>
              <a:t>▶</a:t>
            </a:r>
          </a:p>
        </p:txBody>
      </p:sp>
      <p:sp>
        <p:nvSpPr>
          <p:cNvPr id="12" name="Rounded Rectangle 11"/>
          <p:cNvSpPr/>
          <p:nvPr/>
        </p:nvSpPr>
        <p:spPr>
          <a:xfrm>
            <a:off x="3429000"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347972" y="2414016"/>
            <a:ext cx="731520" cy="731520"/>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47972"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2</a:t>
            </a:r>
          </a:p>
        </p:txBody>
      </p:sp>
      <p:sp>
        <p:nvSpPr>
          <p:cNvPr id="15" name="TextBox 14"/>
          <p:cNvSpPr txBox="1"/>
          <p:nvPr/>
        </p:nvSpPr>
        <p:spPr>
          <a:xfrm>
            <a:off x="3538728"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Inventory valuation should tie to inventory asset; bank reconciliations should support cash balances.</a:t>
            </a:r>
          </a:p>
        </p:txBody>
      </p:sp>
      <p:sp>
        <p:nvSpPr>
          <p:cNvPr id="16" name="TextBox 15"/>
          <p:cNvSpPr txBox="1"/>
          <p:nvPr/>
        </p:nvSpPr>
        <p:spPr>
          <a:xfrm>
            <a:off x="5980176"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008E8E"/>
                </a:solidFill>
                <a:latin typeface="Arial"/>
              </a:rPr>
              <a:t>▶</a:t>
            </a:r>
          </a:p>
        </p:txBody>
      </p:sp>
      <p:sp>
        <p:nvSpPr>
          <p:cNvPr id="17" name="Rounded Rectangle 16"/>
          <p:cNvSpPr/>
          <p:nvPr/>
        </p:nvSpPr>
        <p:spPr>
          <a:xfrm>
            <a:off x="6199632"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18604" y="2414016"/>
            <a:ext cx="731520" cy="73152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18604"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3</a:t>
            </a:r>
          </a:p>
        </p:txBody>
      </p:sp>
      <p:sp>
        <p:nvSpPr>
          <p:cNvPr id="20" name="TextBox 19"/>
          <p:cNvSpPr txBox="1"/>
          <p:nvPr/>
        </p:nvSpPr>
        <p:spPr>
          <a:xfrm>
            <a:off x="6309360" y="3346704"/>
            <a:ext cx="2350008" cy="1481328"/>
          </a:xfrm>
          <a:prstGeom prst="rect">
            <a:avLst/>
          </a:prstGeom>
          <a:noFill/>
        </p:spPr>
        <p:txBody>
          <a:bodyPr wrap="square" anchor="ctr" lIns="54864" rIns="54864" tIns="54864" bIns="54864">
            <a:spAutoFit/>
          </a:bodyPr>
          <a:lstStyle/>
          <a:p>
            <a:pPr algn="ctr">
              <a:spcAft>
                <a:spcPts val="400"/>
              </a:spcAft>
            </a:pPr>
            <a:r>
              <a:rPr sz="1300" b="0">
                <a:solidFill>
                  <a:srgbClr val="17242B"/>
                </a:solidFill>
                <a:latin typeface="Arial"/>
              </a:rPr>
              <a:t>GST detail and control accounts should support the return working paper.</a:t>
            </a:r>
          </a:p>
        </p:txBody>
      </p:sp>
      <p:sp>
        <p:nvSpPr>
          <p:cNvPr id="21" name="TextBox 20"/>
          <p:cNvSpPr txBox="1"/>
          <p:nvPr/>
        </p:nvSpPr>
        <p:spPr>
          <a:xfrm>
            <a:off x="8750808"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7C3AED"/>
                </a:solidFill>
                <a:latin typeface="Arial"/>
              </a:rPr>
              <a:t>▶</a:t>
            </a:r>
          </a:p>
        </p:txBody>
      </p:sp>
      <p:sp>
        <p:nvSpPr>
          <p:cNvPr id="22" name="Rounded Rectangle 21"/>
          <p:cNvSpPr/>
          <p:nvPr/>
        </p:nvSpPr>
        <p:spPr>
          <a:xfrm>
            <a:off x="8970264"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889236" y="2414016"/>
            <a:ext cx="731520" cy="73152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89236"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4</a:t>
            </a:r>
          </a:p>
        </p:txBody>
      </p:sp>
      <p:sp>
        <p:nvSpPr>
          <p:cNvPr id="25" name="TextBox 24"/>
          <p:cNvSpPr txBox="1"/>
          <p:nvPr/>
        </p:nvSpPr>
        <p:spPr>
          <a:xfrm>
            <a:off x="9079992"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A trial balance is mathematically balanced even when classification, timing, or completeness is wrong.</a:t>
            </a:r>
          </a:p>
        </p:txBody>
      </p:sp>
      <p:sp>
        <p:nvSpPr>
          <p:cNvPr id="26" name="TextBox 25"/>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7" name="TextBox 26"/>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8" name="TextBox 27"/>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71</a:t>
            </a:r>
          </a:p>
        </p:txBody>
      </p:sp>
    </p:spTree>
  </p:cSld>
  <p:transition spd="slow">
    <p:fade/>
  </p:transition>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SEGMENTATION</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Report dimensions and traceability</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Use customers/projects for counterparty and job profitability; products/services for revenue and margin mix.</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Use classes or locations for responsibility/operating segments where the subscription supports them.</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Use custom fields for controlled transaction attributes; avoid free-text labels that cannot be governed.</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Document feature availability: reports and tracking options vary by QuickBooks Online subscription and region.</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72</a:t>
            </a:r>
          </a:p>
        </p:txBody>
      </p:sp>
    </p:spTree>
  </p:cSld>
  <p:transition spd="slow">
    <p:fade/>
  </p:transition>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SEGMENTATION</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Report dimensions and traceability · Three lenses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874519"/>
            <a:ext cx="3401568" cy="12801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1F6FEB"/>
                </a:solidFill>
                <a:latin typeface="Arial"/>
              </a:rPr>
              <a:t>EVENT</a:t>
            </a:r>
          </a:p>
        </p:txBody>
      </p:sp>
      <p:sp>
        <p:nvSpPr>
          <p:cNvPr id="10" name="TextBox 9"/>
          <p:cNvSpPr txBox="1"/>
          <p:nvPr/>
        </p:nvSpPr>
        <p:spPr>
          <a:xfrm>
            <a:off x="9509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Use customers/projects for counterparty and job profitability; products/services for revenue and margin mix.</a:t>
            </a:r>
          </a:p>
        </p:txBody>
      </p:sp>
      <p:sp>
        <p:nvSpPr>
          <p:cNvPr id="11" name="Rounded Rectangle 10"/>
          <p:cNvSpPr/>
          <p:nvPr/>
        </p:nvSpPr>
        <p:spPr>
          <a:xfrm>
            <a:off x="43708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2" y="1874519"/>
            <a:ext cx="3401568" cy="128016"/>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008E8E"/>
                </a:solidFill>
                <a:latin typeface="Arial"/>
              </a:rPr>
              <a:t>ACCOUNTING</a:t>
            </a:r>
          </a:p>
        </p:txBody>
      </p:sp>
      <p:sp>
        <p:nvSpPr>
          <p:cNvPr id="14" name="TextBox 13"/>
          <p:cNvSpPr txBox="1"/>
          <p:nvPr/>
        </p:nvSpPr>
        <p:spPr>
          <a:xfrm>
            <a:off x="46085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Use classes or locations for responsibility/operating segments where the subscription supports them.</a:t>
            </a:r>
          </a:p>
        </p:txBody>
      </p:sp>
      <p:sp>
        <p:nvSpPr>
          <p:cNvPr id="15" name="Rounded Rectangle 14"/>
          <p:cNvSpPr/>
          <p:nvPr/>
        </p:nvSpPr>
        <p:spPr>
          <a:xfrm>
            <a:off x="8028431"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28431" y="1874519"/>
            <a:ext cx="3401568" cy="12801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6175"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7C3AED"/>
                </a:solidFill>
                <a:latin typeface="Arial"/>
              </a:rPr>
              <a:t>CONTROL</a:t>
            </a:r>
          </a:p>
        </p:txBody>
      </p:sp>
      <p:sp>
        <p:nvSpPr>
          <p:cNvPr id="18" name="TextBox 17"/>
          <p:cNvSpPr txBox="1"/>
          <p:nvPr/>
        </p:nvSpPr>
        <p:spPr>
          <a:xfrm>
            <a:off x="8266175" y="2999232"/>
            <a:ext cx="2926080" cy="2487168"/>
          </a:xfrm>
          <a:prstGeom prst="rect">
            <a:avLst/>
          </a:prstGeom>
          <a:noFill/>
        </p:spPr>
        <p:txBody>
          <a:bodyPr wrap="square" anchor="t" lIns="54864" rIns="54864" tIns="54864" bIns="54864">
            <a:spAutoFit/>
          </a:bodyPr>
          <a:lstStyle/>
          <a:p>
            <a:pPr algn="l">
              <a:spcAft>
                <a:spcPts val="400"/>
              </a:spcAft>
            </a:pPr>
            <a:r>
              <a:rPr sz="1250" b="0">
                <a:solidFill>
                  <a:srgbClr val="17242B"/>
                </a:solidFill>
                <a:latin typeface="Arial"/>
              </a:rPr>
              <a:t>Use custom fields for controlled transaction attributes; avoid free-text labels that cannot be governed. Document feature availability: reports and tracking options vary by QuickBooks Online subscription and region.</a:t>
            </a:r>
          </a:p>
        </p:txBody>
      </p:sp>
      <p:sp>
        <p:nvSpPr>
          <p:cNvPr id="19" name="TextBox 18"/>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0" name="TextBox 19"/>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1" name="TextBox 20"/>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73</a:t>
            </a:r>
          </a:p>
        </p:txBody>
      </p:sp>
    </p:spTree>
  </p:cSld>
  <p:transition spd="slow">
    <p:fade/>
  </p:transition>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QUESTION-LED REPORTING</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Custom report design</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Start with the decision question, user, period, grain, measure, comparison, filter, and required evidence.</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Choose a base report that contains the necessary transactions and dimensions before customising.</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Save consistent filters and naming; schedule only after ownership, confidentiality, and recipient accuracy are confirmed.</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Exported Excel/PDF copies are snapshots—label period, basis, run date, and source company.</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74</a:t>
            </a:r>
          </a:p>
        </p:txBody>
      </p:sp>
    </p:spTree>
  </p:cSld>
  <p:transition spd="slow">
    <p:fade/>
  </p:transition>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91640"/>
            <a:ext cx="10241280" cy="320040"/>
          </a:xfrm>
          <a:prstGeom prst="rect">
            <a:avLst/>
          </a:prstGeom>
          <a:noFill/>
        </p:spPr>
        <p:txBody>
          <a:bodyPr wrap="square" anchor="t" lIns="54864" rIns="54864" tIns="54864" bIns="54864">
            <a:spAutoFit/>
          </a:bodyPr>
          <a:lstStyle/>
          <a:p>
            <a:pPr algn="l">
              <a:spcAft>
                <a:spcPts val="400"/>
              </a:spcAft>
            </a:pPr>
            <a:r>
              <a:rPr sz="1200" b="1">
                <a:solidFill>
                  <a:srgbClr val="F59E0B"/>
                </a:solidFill>
                <a:latin typeface="Arial"/>
              </a:rPr>
              <a:t>QUESTION-LED REPORTING</a:t>
            </a:r>
          </a:p>
        </p:txBody>
      </p:sp>
      <p:sp>
        <p:nvSpPr>
          <p:cNvPr id="5" name="TextBox 4"/>
          <p:cNvSpPr txBox="1"/>
          <p:nvPr/>
        </p:nvSpPr>
        <p:spPr>
          <a:xfrm>
            <a:off x="914400" y="2194560"/>
            <a:ext cx="10241280" cy="1828800"/>
          </a:xfrm>
          <a:prstGeom prst="rect">
            <a:avLst/>
          </a:prstGeom>
          <a:noFill/>
        </p:spPr>
        <p:txBody>
          <a:bodyPr wrap="square" anchor="ctr" lIns="54864" rIns="54864" tIns="54864" bIns="54864">
            <a:spAutoFit/>
          </a:bodyPr>
          <a:lstStyle/>
          <a:p>
            <a:pPr algn="l">
              <a:spcAft>
                <a:spcPts val="400"/>
              </a:spcAft>
            </a:pPr>
            <a:r>
              <a:rPr sz="3000" b="1">
                <a:solidFill>
                  <a:srgbClr val="17242B"/>
                </a:solidFill>
                <a:latin typeface="Arial"/>
              </a:rPr>
              <a:t>Start with the decision question, user, period, grain, measure, comparison, filter, and required evidence.</a:t>
            </a:r>
          </a:p>
        </p:txBody>
      </p:sp>
      <p:sp>
        <p:nvSpPr>
          <p:cNvPr id="6" name="TextBox 5"/>
          <p:cNvSpPr txBox="1"/>
          <p:nvPr/>
        </p:nvSpPr>
        <p:spPr>
          <a:xfrm>
            <a:off x="932688" y="4224528"/>
            <a:ext cx="9875520" cy="1325880"/>
          </a:xfrm>
          <a:prstGeom prst="rect">
            <a:avLst/>
          </a:prstGeom>
          <a:noFill/>
        </p:spPr>
        <p:txBody>
          <a:bodyPr wrap="square" anchor="t" lIns="54864" rIns="54864" tIns="54864" bIns="54864">
            <a:spAutoFit/>
          </a:bodyPr>
          <a:lstStyle/>
          <a:p>
            <a:pPr algn="l">
              <a:spcAft>
                <a:spcPts val="400"/>
              </a:spcAft>
            </a:pPr>
            <a:r>
              <a:rPr sz="1500" b="0">
                <a:solidFill>
                  <a:srgbClr val="5B6573"/>
                </a:solidFill>
                <a:latin typeface="Arial"/>
              </a:rPr>
              <a:t>Choose a base report that contains the necessary transactions and dimensions before customising. Save consistent filters and naming; schedule only after ownership, confidentiality, and recipient accuracy are confirmed. Exported Excel/PDF copies are snapshots—label period, basis, run date, and source company.</a:t>
            </a:r>
          </a:p>
        </p:txBody>
      </p:sp>
      <p:sp>
        <p:nvSpPr>
          <p:cNvPr id="7" name="TextBox 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8" name="TextBox 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9" name="TextBox 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75</a:t>
            </a:r>
          </a:p>
        </p:txBody>
      </p:sp>
    </p:spTree>
  </p:cSld>
  <p:transition spd="slow">
    <p:fade/>
  </p:transition>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WORKING CAPITAL</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Receivables and payables analysis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Ageing is a risk view, not just a collection list; separate current, overdue, disputed, credit, and unapplied balances.</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Track days sales outstanding, overdue concentration, promise-to-pay status, and collection outcomes.</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For payables, combine ageing with due dates, cash forecast, supplier criticality, discounts, and disputed items.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Reconcile ageing totals before presenting working-capital conclusions.</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76</a:t>
            </a:r>
          </a:p>
        </p:txBody>
      </p:sp>
    </p:spTree>
  </p:cSld>
  <p:transition spd="slow">
    <p:fade/>
  </p:transition>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WORKING CAPITAL</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400" b="1">
                <a:solidFill>
                  <a:srgbClr val="17242B"/>
                </a:solidFill>
                <a:latin typeface="Arial"/>
              </a:rPr>
              <a:t>Receivables and payables analysis · Review questions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Ageing is a risk view, not just a collection list; separate current, overdue, disputed, credit, and unapplied balances.</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Track days sales outstanding, overdue concentration, promise-to-pay status, and collection outcomes.</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For payables, combine ageing with due dates, cash forecast, supplier criticality, discounts, and disputed items.</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Reconcile ageing totals before presenting working-capital conclusions.</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77</a:t>
            </a:r>
          </a:p>
        </p:txBody>
      </p:sp>
    </p:spTree>
  </p:cSld>
  <p:transition spd="slow">
    <p:fade/>
  </p:transition>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EDITABLE NATIVE CHART</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Ageing Risk Concentration</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868680" y="1874519"/>
          <a:ext cx="7452360" cy="3886200"/>
        </p:xfrm>
        <a:graphic>
          <a:graphicData uri="http://schemas.openxmlformats.org/drawingml/2006/chart">
            <c:chart xmlns:c="http://schemas.openxmlformats.org/drawingml/2006/chart" r:id="rId2"/>
          </a:graphicData>
        </a:graphic>
      </p:graphicFrame>
      <p:sp>
        <p:nvSpPr>
          <p:cNvPr id="8" name="Rounded Rectangle 7"/>
          <p:cNvSpPr/>
          <p:nvPr/>
        </p:nvSpPr>
        <p:spPr>
          <a:xfrm>
            <a:off x="8549640" y="1874519"/>
            <a:ext cx="2907792" cy="38862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23960" y="2157984"/>
            <a:ext cx="2395728" cy="329184"/>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READ THE SIGNAL</a:t>
            </a:r>
          </a:p>
        </p:txBody>
      </p:sp>
      <p:sp>
        <p:nvSpPr>
          <p:cNvPr id="10" name="Oval 9"/>
          <p:cNvSpPr/>
          <p:nvPr/>
        </p:nvSpPr>
        <p:spPr>
          <a:xfrm>
            <a:off x="8823960" y="2761488"/>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281160" y="2734056"/>
            <a:ext cx="1874519" cy="658368"/>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Overdue concentration is rising</a:t>
            </a:r>
          </a:p>
        </p:txBody>
      </p:sp>
      <p:sp>
        <p:nvSpPr>
          <p:cNvPr id="12" name="Oval 11"/>
          <p:cNvSpPr/>
          <p:nvPr/>
        </p:nvSpPr>
        <p:spPr>
          <a:xfrm>
            <a:off x="8823960" y="3602736"/>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81160" y="3575304"/>
            <a:ext cx="1874519" cy="658368"/>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Tie total to AR control first</a:t>
            </a:r>
          </a:p>
        </p:txBody>
      </p:sp>
      <p:sp>
        <p:nvSpPr>
          <p:cNvPr id="14" name="Oval 13"/>
          <p:cNvSpPr/>
          <p:nvPr/>
        </p:nvSpPr>
        <p:spPr>
          <a:xfrm>
            <a:off x="8823960" y="4443984"/>
            <a:ext cx="310896" cy="310896"/>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81160" y="4416552"/>
            <a:ext cx="1874519" cy="658368"/>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Separate disputes and unapplied cash</a:t>
            </a:r>
          </a:p>
        </p:txBody>
      </p:sp>
      <p:sp>
        <p:nvSpPr>
          <p:cNvPr id="16" name="TextBox 15"/>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17" name="TextBox 16"/>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8" name="TextBox 17"/>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78</a:t>
            </a:r>
          </a:p>
        </p:txBody>
      </p:sp>
    </p:spTree>
  </p:cSld>
  <p:transition spd="slow">
    <p:fade/>
  </p:transition>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MANAGEMENT INSIGHT</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Profitability and variance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Bridge revenue, volume/mix, direct cost, gross margin, overhead, and net result across periods or plans.</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Project and product margin analysis must capture all attributable costs and avoid unassigned expenses.</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Distinguish one-off, timing, structural, volume, price, mix, and efficiency drivers.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Pair every material variance with evidence, an owner, a corrective action, and a target date.</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79</a:t>
            </a:r>
          </a:p>
        </p:txBody>
      </p:sp>
    </p:spTree>
  </p:cSld>
  <p:transition spd="slow">
    <p:fade/>
  </p:transition>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MANAGEMENT INSIGHT</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Profitability and variance · Design vs evidence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303520" cy="432511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5303520" cy="10972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 y="2029968"/>
            <a:ext cx="4800600" cy="384048"/>
          </a:xfrm>
          <a:prstGeom prst="rect">
            <a:avLst/>
          </a:prstGeom>
          <a:noFill/>
        </p:spPr>
        <p:txBody>
          <a:bodyPr wrap="square" anchor="t" lIns="54864" rIns="54864" tIns="54864" bIns="54864">
            <a:spAutoFit/>
          </a:bodyPr>
          <a:lstStyle/>
          <a:p>
            <a:pPr algn="l">
              <a:spcAft>
                <a:spcPts val="400"/>
              </a:spcAft>
            </a:pPr>
            <a:r>
              <a:rPr sz="1700" b="1">
                <a:solidFill>
                  <a:srgbClr val="1F6FEB"/>
                </a:solidFill>
                <a:latin typeface="Arial"/>
              </a:rPr>
              <a:t>DESIGN / DECIDE</a:t>
            </a:r>
          </a:p>
        </p:txBody>
      </p:sp>
      <p:sp>
        <p:nvSpPr>
          <p:cNvPr id="10" name="Oval 9"/>
          <p:cNvSpPr/>
          <p:nvPr/>
        </p:nvSpPr>
        <p:spPr>
          <a:xfrm>
            <a:off x="969264" y="2606040"/>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2615184"/>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2" name="TextBox 11"/>
          <p:cNvSpPr txBox="1"/>
          <p:nvPr/>
        </p:nvSpPr>
        <p:spPr>
          <a:xfrm>
            <a:off x="1426464" y="2578608"/>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Bridge revenue, volume/mix, direct cost, gross margin, overhead, and net result across periods or plans.</a:t>
            </a:r>
          </a:p>
        </p:txBody>
      </p:sp>
      <p:sp>
        <p:nvSpPr>
          <p:cNvPr id="13" name="Oval 12"/>
          <p:cNvSpPr/>
          <p:nvPr/>
        </p:nvSpPr>
        <p:spPr>
          <a:xfrm>
            <a:off x="969264" y="3438144"/>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47288"/>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15" name="TextBox 14"/>
          <p:cNvSpPr txBox="1"/>
          <p:nvPr/>
        </p:nvSpPr>
        <p:spPr>
          <a:xfrm>
            <a:off x="1426464" y="3410712"/>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Project and product margin analysis must capture all attributable costs and avoid unassigned expenses.</a:t>
            </a:r>
          </a:p>
        </p:txBody>
      </p:sp>
      <p:sp>
        <p:nvSpPr>
          <p:cNvPr id="16" name="Rounded Rectangle 15"/>
          <p:cNvSpPr/>
          <p:nvPr/>
        </p:nvSpPr>
        <p:spPr>
          <a:xfrm>
            <a:off x="6199632" y="1783080"/>
            <a:ext cx="5303520" cy="432511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9632" y="1783080"/>
            <a:ext cx="5303520" cy="109728"/>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55664" y="2029968"/>
            <a:ext cx="4800600" cy="384048"/>
          </a:xfrm>
          <a:prstGeom prst="rect">
            <a:avLst/>
          </a:prstGeom>
          <a:noFill/>
        </p:spPr>
        <p:txBody>
          <a:bodyPr wrap="square" anchor="t" lIns="54864" rIns="54864" tIns="54864" bIns="54864">
            <a:spAutoFit/>
          </a:bodyPr>
          <a:lstStyle/>
          <a:p>
            <a:pPr algn="l">
              <a:spcAft>
                <a:spcPts val="400"/>
              </a:spcAft>
            </a:pPr>
            <a:r>
              <a:rPr sz="1700" b="1">
                <a:solidFill>
                  <a:srgbClr val="008E8E"/>
                </a:solidFill>
                <a:latin typeface="Arial"/>
              </a:rPr>
              <a:t>VERIFY / CONTROL</a:t>
            </a:r>
          </a:p>
        </p:txBody>
      </p:sp>
      <p:sp>
        <p:nvSpPr>
          <p:cNvPr id="19" name="Oval 18"/>
          <p:cNvSpPr/>
          <p:nvPr/>
        </p:nvSpPr>
        <p:spPr>
          <a:xfrm>
            <a:off x="6455664" y="2606040"/>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55664" y="2615184"/>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21" name="TextBox 20"/>
          <p:cNvSpPr txBox="1"/>
          <p:nvPr/>
        </p:nvSpPr>
        <p:spPr>
          <a:xfrm>
            <a:off x="6912864" y="2578608"/>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Distinguish one-off, timing, structural, volume, price, mix, and efficiency drivers.</a:t>
            </a:r>
          </a:p>
        </p:txBody>
      </p:sp>
      <p:sp>
        <p:nvSpPr>
          <p:cNvPr id="22" name="Oval 21"/>
          <p:cNvSpPr/>
          <p:nvPr/>
        </p:nvSpPr>
        <p:spPr>
          <a:xfrm>
            <a:off x="6455664" y="3438144"/>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5664" y="3447288"/>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4" name="TextBox 23"/>
          <p:cNvSpPr txBox="1"/>
          <p:nvPr/>
        </p:nvSpPr>
        <p:spPr>
          <a:xfrm>
            <a:off x="6912864" y="3410712"/>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Pair every material variance with evidence, an owner, a corrective action, and a target date.</a:t>
            </a:r>
          </a:p>
        </p:txBody>
      </p:sp>
      <p:sp>
        <p:nvSpPr>
          <p:cNvPr id="25" name="TextBox 24"/>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6" name="TextBox 25"/>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7" name="TextBox 26"/>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80</a:t>
            </a:r>
          </a:p>
        </p:txBody>
      </p:sp>
    </p:spTree>
  </p:cSld>
  <p:transition spd="slow">
    <p:fade/>
  </p:transition>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EDITABLE NATIVE CHART</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Project Margin Comparison</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868680" y="1874519"/>
          <a:ext cx="7452360" cy="3886200"/>
        </p:xfrm>
        <a:graphic>
          <a:graphicData uri="http://schemas.openxmlformats.org/drawingml/2006/chart">
            <c:chart xmlns:c="http://schemas.openxmlformats.org/drawingml/2006/chart" r:id="rId2"/>
          </a:graphicData>
        </a:graphic>
      </p:graphicFrame>
      <p:sp>
        <p:nvSpPr>
          <p:cNvPr id="8" name="Rounded Rectangle 7"/>
          <p:cNvSpPr/>
          <p:nvPr/>
        </p:nvSpPr>
        <p:spPr>
          <a:xfrm>
            <a:off x="8549640" y="1874519"/>
            <a:ext cx="2907792" cy="38862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23960" y="2157984"/>
            <a:ext cx="2395728" cy="329184"/>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READ THE SIGNAL</a:t>
            </a:r>
          </a:p>
        </p:txBody>
      </p:sp>
      <p:sp>
        <p:nvSpPr>
          <p:cNvPr id="10" name="Oval 9"/>
          <p:cNvSpPr/>
          <p:nvPr/>
        </p:nvSpPr>
        <p:spPr>
          <a:xfrm>
            <a:off x="8823960" y="2761488"/>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281160" y="2734056"/>
            <a:ext cx="1874519" cy="658368"/>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Margin differs by job</a:t>
            </a:r>
          </a:p>
        </p:txBody>
      </p:sp>
      <p:sp>
        <p:nvSpPr>
          <p:cNvPr id="12" name="Oval 11"/>
          <p:cNvSpPr/>
          <p:nvPr/>
        </p:nvSpPr>
        <p:spPr>
          <a:xfrm>
            <a:off x="8823960" y="3602736"/>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81160" y="3575304"/>
            <a:ext cx="1874519" cy="658368"/>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Check unassigned costs</a:t>
            </a:r>
          </a:p>
        </p:txBody>
      </p:sp>
      <p:sp>
        <p:nvSpPr>
          <p:cNvPr id="14" name="Oval 13"/>
          <p:cNvSpPr/>
          <p:nvPr/>
        </p:nvSpPr>
        <p:spPr>
          <a:xfrm>
            <a:off x="8823960" y="4443984"/>
            <a:ext cx="310896" cy="310896"/>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81160" y="4416552"/>
            <a:ext cx="1874519" cy="658368"/>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Compare estimate, actual, and unbilled</a:t>
            </a:r>
          </a:p>
        </p:txBody>
      </p:sp>
      <p:sp>
        <p:nvSpPr>
          <p:cNvPr id="16" name="TextBox 15"/>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17" name="TextBox 16"/>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8" name="TextBox 17"/>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81</a:t>
            </a:r>
          </a:p>
        </p:txBody>
      </p:sp>
    </p:spTree>
  </p:cSld>
  <p:transition spd="slow">
    <p:fade/>
  </p:transition>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PROFIT IS NOT CASH</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Cash flow and liquidity</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Operating cash is affected by profit, receivables, payables, inventory, tax, and other working-capital movements.</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Investing activity captures long-lived asset movements; financing captures debt, capital, and distributions.</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Use bank reconciliations and balance-sheet movements to challenge the cash-flow narrative.</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A positive profit with ageing receivables and rising inventory can still create a liquidity squeeze.</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82</a:t>
            </a:r>
          </a:p>
        </p:txBody>
      </p:sp>
    </p:spTree>
  </p:cSld>
  <p:transition spd="slow">
    <p:fade/>
  </p:transition>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PROFIT IS NOT CASH</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Cash flow and liquidity · Control flow</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577340" y="2414016"/>
            <a:ext cx="731520" cy="73152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77340"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1</a:t>
            </a:r>
          </a:p>
        </p:txBody>
      </p:sp>
      <p:sp>
        <p:nvSpPr>
          <p:cNvPr id="10" name="TextBox 9"/>
          <p:cNvSpPr txBox="1"/>
          <p:nvPr/>
        </p:nvSpPr>
        <p:spPr>
          <a:xfrm>
            <a:off x="768096"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Operating cash is affected by profit, receivables, payables, inventory, tax, and other working-capital movements.</a:t>
            </a:r>
          </a:p>
        </p:txBody>
      </p:sp>
      <p:sp>
        <p:nvSpPr>
          <p:cNvPr id="11" name="TextBox 10"/>
          <p:cNvSpPr txBox="1"/>
          <p:nvPr/>
        </p:nvSpPr>
        <p:spPr>
          <a:xfrm>
            <a:off x="3209544"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1F6FEB"/>
                </a:solidFill>
                <a:latin typeface="Arial"/>
              </a:rPr>
              <a:t>▶</a:t>
            </a:r>
          </a:p>
        </p:txBody>
      </p:sp>
      <p:sp>
        <p:nvSpPr>
          <p:cNvPr id="12" name="Rounded Rectangle 11"/>
          <p:cNvSpPr/>
          <p:nvPr/>
        </p:nvSpPr>
        <p:spPr>
          <a:xfrm>
            <a:off x="3429000"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347972" y="2414016"/>
            <a:ext cx="731520" cy="731520"/>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47972"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2</a:t>
            </a:r>
          </a:p>
        </p:txBody>
      </p:sp>
      <p:sp>
        <p:nvSpPr>
          <p:cNvPr id="15" name="TextBox 14"/>
          <p:cNvSpPr txBox="1"/>
          <p:nvPr/>
        </p:nvSpPr>
        <p:spPr>
          <a:xfrm>
            <a:off x="3538728"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Investing activity captures long-lived asset movements; financing captures debt, capital, and distributions.</a:t>
            </a:r>
          </a:p>
        </p:txBody>
      </p:sp>
      <p:sp>
        <p:nvSpPr>
          <p:cNvPr id="16" name="TextBox 15"/>
          <p:cNvSpPr txBox="1"/>
          <p:nvPr/>
        </p:nvSpPr>
        <p:spPr>
          <a:xfrm>
            <a:off x="5980176"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008E8E"/>
                </a:solidFill>
                <a:latin typeface="Arial"/>
              </a:rPr>
              <a:t>▶</a:t>
            </a:r>
          </a:p>
        </p:txBody>
      </p:sp>
      <p:sp>
        <p:nvSpPr>
          <p:cNvPr id="17" name="Rounded Rectangle 16"/>
          <p:cNvSpPr/>
          <p:nvPr/>
        </p:nvSpPr>
        <p:spPr>
          <a:xfrm>
            <a:off x="6199632"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18604" y="2414016"/>
            <a:ext cx="731520" cy="73152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18604"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3</a:t>
            </a:r>
          </a:p>
        </p:txBody>
      </p:sp>
      <p:sp>
        <p:nvSpPr>
          <p:cNvPr id="20" name="TextBox 19"/>
          <p:cNvSpPr txBox="1"/>
          <p:nvPr/>
        </p:nvSpPr>
        <p:spPr>
          <a:xfrm>
            <a:off x="6309360"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Use bank reconciliations and balance-sheet movements to challenge the cash-flow narrative.</a:t>
            </a:r>
          </a:p>
        </p:txBody>
      </p:sp>
      <p:sp>
        <p:nvSpPr>
          <p:cNvPr id="21" name="TextBox 20"/>
          <p:cNvSpPr txBox="1"/>
          <p:nvPr/>
        </p:nvSpPr>
        <p:spPr>
          <a:xfrm>
            <a:off x="8750808"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7C3AED"/>
                </a:solidFill>
                <a:latin typeface="Arial"/>
              </a:rPr>
              <a:t>▶</a:t>
            </a:r>
          </a:p>
        </p:txBody>
      </p:sp>
      <p:sp>
        <p:nvSpPr>
          <p:cNvPr id="22" name="Rounded Rectangle 21"/>
          <p:cNvSpPr/>
          <p:nvPr/>
        </p:nvSpPr>
        <p:spPr>
          <a:xfrm>
            <a:off x="8970264"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889236" y="2414016"/>
            <a:ext cx="731520" cy="73152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89236"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4</a:t>
            </a:r>
          </a:p>
        </p:txBody>
      </p:sp>
      <p:sp>
        <p:nvSpPr>
          <p:cNvPr id="25" name="TextBox 24"/>
          <p:cNvSpPr txBox="1"/>
          <p:nvPr/>
        </p:nvSpPr>
        <p:spPr>
          <a:xfrm>
            <a:off x="9079992"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A positive profit with ageing receivables and rising inventory can still create a liquidity squeeze.</a:t>
            </a:r>
          </a:p>
        </p:txBody>
      </p:sp>
      <p:sp>
        <p:nvSpPr>
          <p:cNvPr id="26" name="TextBox 25"/>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7" name="TextBox 26"/>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8" name="TextBox 27"/>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83</a:t>
            </a:r>
          </a:p>
        </p:txBody>
      </p:sp>
    </p:spTree>
  </p:cSld>
  <p:transition spd="slow">
    <p:fade/>
  </p:transition>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SINGAPORE GST</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GST control and return readiness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Singapore's prevailing GST rate is 9%; validate transaction date, place/treatment, tax code, and documentary support.</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Separate standard-rated, zero-rated, exempt, out-of-scope, reverse-charge, and disallowed input-tax cases as applicable.</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Tie taxable supplies/purchases and output/input tax from transaction detail to control accounts and the GST working paper.</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Corrections may require GST F7; retain evidence and escalate tax judgement rather than forcing a QuickBooks code.</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84</a:t>
            </a:r>
          </a:p>
        </p:txBody>
      </p:sp>
    </p:spTree>
  </p:cSld>
  <p:transition spd="slow">
    <p:fade/>
  </p:transition>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SINGAPORE GST</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GST control and return readiness · Three lenses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874519"/>
            <a:ext cx="3401568" cy="12801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1F6FEB"/>
                </a:solidFill>
                <a:latin typeface="Arial"/>
              </a:rPr>
              <a:t>EVENT</a:t>
            </a:r>
          </a:p>
        </p:txBody>
      </p:sp>
      <p:sp>
        <p:nvSpPr>
          <p:cNvPr id="10" name="TextBox 9"/>
          <p:cNvSpPr txBox="1"/>
          <p:nvPr/>
        </p:nvSpPr>
        <p:spPr>
          <a:xfrm>
            <a:off x="9509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Singapore's prevailing GST rate is 9%; validate transaction date, place/treatment, tax code, and documentary support.</a:t>
            </a:r>
          </a:p>
        </p:txBody>
      </p:sp>
      <p:sp>
        <p:nvSpPr>
          <p:cNvPr id="11" name="Rounded Rectangle 10"/>
          <p:cNvSpPr/>
          <p:nvPr/>
        </p:nvSpPr>
        <p:spPr>
          <a:xfrm>
            <a:off x="43708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2" y="1874519"/>
            <a:ext cx="3401568" cy="128016"/>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008E8E"/>
                </a:solidFill>
                <a:latin typeface="Arial"/>
              </a:rPr>
              <a:t>ACCOUNTING</a:t>
            </a:r>
          </a:p>
        </p:txBody>
      </p:sp>
      <p:sp>
        <p:nvSpPr>
          <p:cNvPr id="14" name="TextBox 13"/>
          <p:cNvSpPr txBox="1"/>
          <p:nvPr/>
        </p:nvSpPr>
        <p:spPr>
          <a:xfrm>
            <a:off x="46085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Separate standard-rated, zero-rated, exempt, out-of-scope, reverse-charge, and disallowed input-tax cases as applicable.</a:t>
            </a:r>
          </a:p>
        </p:txBody>
      </p:sp>
      <p:sp>
        <p:nvSpPr>
          <p:cNvPr id="15" name="Rounded Rectangle 14"/>
          <p:cNvSpPr/>
          <p:nvPr/>
        </p:nvSpPr>
        <p:spPr>
          <a:xfrm>
            <a:off x="8028431"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28431" y="1874519"/>
            <a:ext cx="3401568" cy="12801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6175"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7C3AED"/>
                </a:solidFill>
                <a:latin typeface="Arial"/>
              </a:rPr>
              <a:t>CONTROL</a:t>
            </a:r>
          </a:p>
        </p:txBody>
      </p:sp>
      <p:sp>
        <p:nvSpPr>
          <p:cNvPr id="18" name="TextBox 17"/>
          <p:cNvSpPr txBox="1"/>
          <p:nvPr/>
        </p:nvSpPr>
        <p:spPr>
          <a:xfrm>
            <a:off x="8266175" y="2999232"/>
            <a:ext cx="2926080" cy="2487168"/>
          </a:xfrm>
          <a:prstGeom prst="rect">
            <a:avLst/>
          </a:prstGeom>
          <a:noFill/>
        </p:spPr>
        <p:txBody>
          <a:bodyPr wrap="square" anchor="t" lIns="54864" rIns="54864" tIns="54864" bIns="54864">
            <a:spAutoFit/>
          </a:bodyPr>
          <a:lstStyle/>
          <a:p>
            <a:pPr algn="l">
              <a:spcAft>
                <a:spcPts val="400"/>
              </a:spcAft>
            </a:pPr>
            <a:r>
              <a:rPr sz="1250" b="0">
                <a:solidFill>
                  <a:srgbClr val="17242B"/>
                </a:solidFill>
                <a:latin typeface="Arial"/>
              </a:rPr>
              <a:t>Tie taxable supplies/purchases and output/input tax from transaction detail to control accounts and the GST working paper. Corrections may require GST F7; retain evidence and escalate tax judgement rather than forcing a QuickBooks code.</a:t>
            </a:r>
          </a:p>
        </p:txBody>
      </p:sp>
      <p:sp>
        <p:nvSpPr>
          <p:cNvPr id="19" name="TextBox 18"/>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0" name="TextBox 19"/>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1" name="TextBox 20"/>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85</a:t>
            </a:r>
          </a:p>
        </p:txBody>
      </p:sp>
    </p:spTree>
  </p:cSld>
  <p:transition spd="slow">
    <p:fade/>
  </p:transition>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EDITABLE NATIVE CHART</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GST Output and Input Control</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868680" y="1874519"/>
          <a:ext cx="7452360" cy="3886200"/>
        </p:xfrm>
        <a:graphic>
          <a:graphicData uri="http://schemas.openxmlformats.org/drawingml/2006/chart">
            <c:chart xmlns:c="http://schemas.openxmlformats.org/drawingml/2006/chart" r:id="rId2"/>
          </a:graphicData>
        </a:graphic>
      </p:graphicFrame>
      <p:sp>
        <p:nvSpPr>
          <p:cNvPr id="8" name="Rounded Rectangle 7"/>
          <p:cNvSpPr/>
          <p:nvPr/>
        </p:nvSpPr>
        <p:spPr>
          <a:xfrm>
            <a:off x="8549640" y="1874519"/>
            <a:ext cx="2907792" cy="38862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23960" y="2157984"/>
            <a:ext cx="2395728" cy="329184"/>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READ THE SIGNAL</a:t>
            </a:r>
          </a:p>
        </p:txBody>
      </p:sp>
      <p:sp>
        <p:nvSpPr>
          <p:cNvPr id="10" name="Oval 9"/>
          <p:cNvSpPr/>
          <p:nvPr/>
        </p:nvSpPr>
        <p:spPr>
          <a:xfrm>
            <a:off x="8823960" y="2761488"/>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281160" y="2734056"/>
            <a:ext cx="1874519" cy="658368"/>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Validate coding and documents</a:t>
            </a:r>
          </a:p>
        </p:txBody>
      </p:sp>
      <p:sp>
        <p:nvSpPr>
          <p:cNvPr id="12" name="Oval 11"/>
          <p:cNvSpPr/>
          <p:nvPr/>
        </p:nvSpPr>
        <p:spPr>
          <a:xfrm>
            <a:off x="8823960" y="3602736"/>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81160" y="3575304"/>
            <a:ext cx="1874519" cy="658368"/>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Tie detail to control accounts</a:t>
            </a:r>
          </a:p>
        </p:txBody>
      </p:sp>
      <p:sp>
        <p:nvSpPr>
          <p:cNvPr id="14" name="Oval 13"/>
          <p:cNvSpPr/>
          <p:nvPr/>
        </p:nvSpPr>
        <p:spPr>
          <a:xfrm>
            <a:off x="8823960" y="4443984"/>
            <a:ext cx="310896" cy="310896"/>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81160" y="4416552"/>
            <a:ext cx="1874519" cy="658368"/>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Escalate judgement cases</a:t>
            </a:r>
          </a:p>
        </p:txBody>
      </p:sp>
      <p:sp>
        <p:nvSpPr>
          <p:cNvPr id="16" name="TextBox 15"/>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17" name="TextBox 16"/>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8" name="TextBox 17"/>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86</a:t>
            </a:r>
          </a:p>
        </p:txBody>
      </p:sp>
    </p:spTree>
  </p:cSld>
  <p:transition spd="slow">
    <p:fade/>
  </p:transition>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FROM DATA TO ACTION</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Management report pack</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Executive summary: what changed, why it matters, and the decision required.</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Core statements: Profit and Loss, Balance Sheet, Cash Flow, with comparisons and consistent basis.</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Schedules: AR/AP ageing, inventory, project profitability, GST, reconciliation, and exception log.</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Actions: issue, evidence, impact, owner, due date, and status; preserve drill-down traceability.</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87</a:t>
            </a:r>
          </a:p>
        </p:txBody>
      </p:sp>
    </p:spTree>
  </p:cSld>
  <p:transition spd="slow">
    <p:fade/>
  </p:transition>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91640"/>
            <a:ext cx="10241280" cy="320040"/>
          </a:xfrm>
          <a:prstGeom prst="rect">
            <a:avLst/>
          </a:prstGeom>
          <a:noFill/>
        </p:spPr>
        <p:txBody>
          <a:bodyPr wrap="square" anchor="t" lIns="54864" rIns="54864" tIns="54864" bIns="54864">
            <a:spAutoFit/>
          </a:bodyPr>
          <a:lstStyle/>
          <a:p>
            <a:pPr algn="l">
              <a:spcAft>
                <a:spcPts val="400"/>
              </a:spcAft>
            </a:pPr>
            <a:r>
              <a:rPr sz="1200" b="1">
                <a:solidFill>
                  <a:srgbClr val="F59E0B"/>
                </a:solidFill>
                <a:latin typeface="Arial"/>
              </a:rPr>
              <a:t>FROM DATA TO ACTION</a:t>
            </a:r>
          </a:p>
        </p:txBody>
      </p:sp>
      <p:sp>
        <p:nvSpPr>
          <p:cNvPr id="5" name="TextBox 4"/>
          <p:cNvSpPr txBox="1"/>
          <p:nvPr/>
        </p:nvSpPr>
        <p:spPr>
          <a:xfrm>
            <a:off x="914400" y="2194560"/>
            <a:ext cx="10241280" cy="1828800"/>
          </a:xfrm>
          <a:prstGeom prst="rect">
            <a:avLst/>
          </a:prstGeom>
          <a:noFill/>
        </p:spPr>
        <p:txBody>
          <a:bodyPr wrap="square" anchor="ctr" lIns="54864" rIns="54864" tIns="54864" bIns="54864">
            <a:spAutoFit/>
          </a:bodyPr>
          <a:lstStyle/>
          <a:p>
            <a:pPr algn="l">
              <a:spcAft>
                <a:spcPts val="400"/>
              </a:spcAft>
            </a:pPr>
            <a:r>
              <a:rPr sz="3500" b="1">
                <a:solidFill>
                  <a:srgbClr val="17242B"/>
                </a:solidFill>
                <a:latin typeface="Arial"/>
              </a:rPr>
              <a:t>Executive summary: what changed, why it matters, and the decision required.</a:t>
            </a:r>
          </a:p>
        </p:txBody>
      </p:sp>
      <p:sp>
        <p:nvSpPr>
          <p:cNvPr id="6" name="TextBox 5"/>
          <p:cNvSpPr txBox="1"/>
          <p:nvPr/>
        </p:nvSpPr>
        <p:spPr>
          <a:xfrm>
            <a:off x="932688" y="4224528"/>
            <a:ext cx="9875520" cy="1325880"/>
          </a:xfrm>
          <a:prstGeom prst="rect">
            <a:avLst/>
          </a:prstGeom>
          <a:noFill/>
        </p:spPr>
        <p:txBody>
          <a:bodyPr wrap="square" anchor="t" lIns="54864" rIns="54864" tIns="54864" bIns="54864">
            <a:spAutoFit/>
          </a:bodyPr>
          <a:lstStyle/>
          <a:p>
            <a:pPr algn="l">
              <a:spcAft>
                <a:spcPts val="400"/>
              </a:spcAft>
            </a:pPr>
            <a:r>
              <a:rPr sz="1500" b="0">
                <a:solidFill>
                  <a:srgbClr val="5B6573"/>
                </a:solidFill>
                <a:latin typeface="Arial"/>
              </a:rPr>
              <a:t>Core statements: Profit and Loss, Balance Sheet, Cash Flow, with comparisons and consistent basis. Schedules: AR/AP ageing, inventory, project profitability, GST, reconciliation, and exception log. Actions: issue, evidence, impact, owner, due date, and status; preserve drill-down traceability.</a:t>
            </a:r>
          </a:p>
        </p:txBody>
      </p:sp>
      <p:sp>
        <p:nvSpPr>
          <p:cNvPr id="7" name="TextBox 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8" name="TextBox 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9" name="TextBox 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88</a:t>
            </a:r>
          </a:p>
        </p:txBody>
      </p:sp>
    </p:spTree>
  </p:cSld>
  <p:transition spd="slow">
    <p:fade/>
  </p:transition>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QUALITY BEFORE PRESENTATION</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Analytical review and red flags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Scan for unexpected signs, round-number journals, dormant accounts, suspense balances, and backdated entries.</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Compare margin, working capital, ageing, inventory days, and tax ratios over time and against operational context.</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Investigate rather than delete anomalies; document conclusion and evidence even when no correction is required.</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Management commentary must separate verified facts, estimates, assumptions, and recommended actions.</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89</a:t>
            </a:r>
          </a:p>
        </p:txBody>
      </p:sp>
    </p:spTree>
  </p:cSld>
  <p:transition spd="slow">
    <p:fade/>
  </p:transition>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QUALITY BEFORE PRESENTATION</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400" b="1">
                <a:solidFill>
                  <a:srgbClr val="17242B"/>
                </a:solidFill>
                <a:latin typeface="Arial"/>
              </a:rPr>
              <a:t>Analytical review and red flags · Review questions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Scan for unexpected signs, round-number journals, dormant accounts, suspense balances, and backdated entries.</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Compare margin, working capital, ageing, inventory days, and tax ratios over time and against operational context.</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Investigate rather than delete anomalies; document conclusion and evidence even when no correction is required.</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Management commentary must separate verified facts, estimates, assumptions, and recommended actions.</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90</a:t>
            </a:r>
          </a:p>
        </p:txBody>
      </p:sp>
    </p:spTree>
  </p:cSld>
  <p:transition spd="slow">
    <p:fade/>
  </p:transition>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8" y="1920240"/>
            <a:ext cx="9326880" cy="347472"/>
          </a:xfrm>
          <a:prstGeom prst="rect">
            <a:avLst/>
          </a:prstGeom>
          <a:noFill/>
        </p:spPr>
        <p:txBody>
          <a:bodyPr wrap="square" anchor="t" lIns="54864" rIns="54864" tIns="54864" bIns="54864">
            <a:spAutoFit/>
          </a:bodyPr>
          <a:lstStyle/>
          <a:p>
            <a:pPr algn="l">
              <a:spcAft>
                <a:spcPts val="400"/>
              </a:spcAft>
            </a:pPr>
            <a:r>
              <a:rPr sz="1300" b="1">
                <a:solidFill>
                  <a:srgbClr val="008E8E"/>
                </a:solidFill>
                <a:latin typeface="Arial"/>
              </a:rPr>
              <a:t>TOPIC 2 PRACTICE</a:t>
            </a:r>
          </a:p>
        </p:txBody>
      </p:sp>
      <p:sp>
        <p:nvSpPr>
          <p:cNvPr id="5" name="TextBox 4"/>
          <p:cNvSpPr txBox="1"/>
          <p:nvPr/>
        </p:nvSpPr>
        <p:spPr>
          <a:xfrm>
            <a:off x="841248" y="2359152"/>
            <a:ext cx="9875520" cy="1234440"/>
          </a:xfrm>
          <a:prstGeom prst="rect">
            <a:avLst/>
          </a:prstGeom>
          <a:noFill/>
        </p:spPr>
        <p:txBody>
          <a:bodyPr wrap="square" anchor="ctr" lIns="54864" rIns="54864" tIns="54864" bIns="54864">
            <a:spAutoFit/>
          </a:bodyPr>
          <a:lstStyle/>
          <a:p>
            <a:pPr algn="l">
              <a:spcAft>
                <a:spcPts val="400"/>
              </a:spcAft>
            </a:pPr>
            <a:r>
              <a:rPr sz="3900" b="1">
                <a:solidFill>
                  <a:srgbClr val="17242B"/>
                </a:solidFill>
                <a:latin typeface="Arial"/>
              </a:rPr>
              <a:t>Progressive Activities</a:t>
            </a:r>
          </a:p>
        </p:txBody>
      </p:sp>
      <p:sp>
        <p:nvSpPr>
          <p:cNvPr id="6" name="TextBox 5"/>
          <p:cNvSpPr txBox="1"/>
          <p:nvPr/>
        </p:nvSpPr>
        <p:spPr>
          <a:xfrm>
            <a:off x="859536" y="3858768"/>
            <a:ext cx="9692640" cy="713232"/>
          </a:xfrm>
          <a:prstGeom prst="rect">
            <a:avLst/>
          </a:prstGeom>
          <a:noFill/>
        </p:spPr>
        <p:txBody>
          <a:bodyPr wrap="square" anchor="t" lIns="54864" rIns="54864" tIns="54864" bIns="54864">
            <a:spAutoFit/>
          </a:bodyPr>
          <a:lstStyle/>
          <a:p>
            <a:pPr algn="l">
              <a:spcAft>
                <a:spcPts val="400"/>
              </a:spcAft>
            </a:pPr>
            <a:r>
              <a:rPr sz="1600" b="0">
                <a:solidFill>
                  <a:srgbClr val="5B6573"/>
                </a:solidFill>
                <a:latin typeface="Arial"/>
              </a:rPr>
              <a:t>Detailed click-by-click instructions, mock data, workbooks, evidence, and acceptance tests are in each activity folder and the Learner Guide.</a:t>
            </a:r>
          </a:p>
        </p:txBody>
      </p:sp>
      <p:sp>
        <p:nvSpPr>
          <p:cNvPr id="7" name="TextBox 6"/>
          <p:cNvSpPr txBox="1"/>
          <p:nvPr/>
        </p:nvSpPr>
        <p:spPr>
          <a:xfrm>
            <a:off x="9784080" y="566928"/>
            <a:ext cx="1645920" cy="1097280"/>
          </a:xfrm>
          <a:prstGeom prst="rect">
            <a:avLst/>
          </a:prstGeom>
          <a:noFill/>
        </p:spPr>
        <p:txBody>
          <a:bodyPr wrap="square" anchor="t" lIns="54864" rIns="54864" tIns="54864" bIns="54864">
            <a:spAutoFit/>
          </a:bodyPr>
          <a:lstStyle/>
          <a:p>
            <a:pPr algn="r">
              <a:spcAft>
                <a:spcPts val="400"/>
              </a:spcAft>
            </a:pPr>
            <a:r>
              <a:rPr sz="5800" b="1">
                <a:solidFill>
                  <a:srgbClr val="DFE6ED"/>
                </a:solidFill>
                <a:latin typeface="Arial"/>
              </a:rPr>
              <a:t>A10</a:t>
            </a:r>
          </a:p>
        </p:txBody>
      </p:sp>
      <p:sp>
        <p:nvSpPr>
          <p:cNvPr id="8" name="TextBox 7"/>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9" name="TextBox 8"/>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0" name="TextBox 9"/>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91</a:t>
            </a:r>
          </a:p>
        </p:txBody>
      </p:sp>
    </p:spTree>
  </p:cSld>
  <p:transition spd="slow">
    <p:fade/>
  </p:transition>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ACTIVITY 10 · ADVANCED</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Build a Reconciled Financial Reporting Pack</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6629400" cy="169164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29968"/>
            <a:ext cx="6144768" cy="320040"/>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SCENARIO</a:t>
            </a:r>
          </a:p>
        </p:txBody>
      </p:sp>
      <p:sp>
        <p:nvSpPr>
          <p:cNvPr id="9" name="TextBox 8"/>
          <p:cNvSpPr txBox="1"/>
          <p:nvPr/>
        </p:nvSpPr>
        <p:spPr>
          <a:xfrm>
            <a:off x="960120" y="2450592"/>
            <a:ext cx="6144768" cy="822960"/>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Beacon Services needs a monthly pack for directors after rapid growth created ageing, project-margin, and cash-flow concerns.</a:t>
            </a:r>
          </a:p>
        </p:txBody>
      </p:sp>
      <p:sp>
        <p:nvSpPr>
          <p:cNvPr id="10" name="Rounded Rectangle 9"/>
          <p:cNvSpPr/>
          <p:nvPr/>
        </p:nvSpPr>
        <p:spPr>
          <a:xfrm>
            <a:off x="713232" y="3730752"/>
            <a:ext cx="6629400" cy="2057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931920"/>
            <a:ext cx="6144768" cy="320040"/>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GOAL</a:t>
            </a:r>
          </a:p>
        </p:txBody>
      </p:sp>
      <p:sp>
        <p:nvSpPr>
          <p:cNvPr id="12" name="TextBox 11"/>
          <p:cNvSpPr txBox="1"/>
          <p:nvPr/>
        </p:nvSpPr>
        <p:spPr>
          <a:xfrm>
            <a:off x="960120" y="4334256"/>
            <a:ext cx="6144768" cy="1005840"/>
          </a:xfrm>
          <a:prstGeom prst="rect">
            <a:avLst/>
          </a:prstGeom>
          <a:noFill/>
        </p:spPr>
        <p:txBody>
          <a:bodyPr wrap="square" anchor="t" lIns="54864" rIns="54864" tIns="54864" bIns="54864">
            <a:spAutoFit/>
          </a:bodyPr>
          <a:lstStyle/>
          <a:p>
            <a:pPr algn="l">
              <a:spcAft>
                <a:spcPts val="400"/>
              </a:spcAft>
            </a:pPr>
            <a:r>
              <a:rPr sz="1500" b="1">
                <a:solidFill>
                  <a:srgbClr val="17242B"/>
                </a:solidFill>
                <a:latin typeface="Arial"/>
              </a:rPr>
              <a:t>Produce statements and schedules that tie to validated source data, then explain performance drivers and actions.</a:t>
            </a:r>
          </a:p>
        </p:txBody>
      </p:sp>
      <p:sp>
        <p:nvSpPr>
          <p:cNvPr id="13" name="Rounded Rectangle 12"/>
          <p:cNvSpPr/>
          <p:nvPr/>
        </p:nvSpPr>
        <p:spPr>
          <a:xfrm>
            <a:off x="7644383" y="1828800"/>
            <a:ext cx="3867912" cy="395935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9560" y="2057400"/>
            <a:ext cx="3383280" cy="320040"/>
          </a:xfrm>
          <a:prstGeom prst="rect">
            <a:avLst/>
          </a:prstGeom>
          <a:noFill/>
        </p:spPr>
        <p:txBody>
          <a:bodyPr wrap="square" anchor="t" lIns="54864" rIns="54864" tIns="54864" bIns="54864">
            <a:spAutoFit/>
          </a:bodyPr>
          <a:lstStyle/>
          <a:p>
            <a:pPr algn="l">
              <a:spcAft>
                <a:spcPts val="400"/>
              </a:spcAft>
            </a:pPr>
            <a:r>
              <a:rPr sz="1100" b="1">
                <a:solidFill>
                  <a:srgbClr val="F59E0B"/>
                </a:solidFill>
                <a:latin typeface="Arial"/>
              </a:rPr>
              <a:t>DELIVERABLES</a:t>
            </a:r>
          </a:p>
        </p:txBody>
      </p:sp>
      <p:sp>
        <p:nvSpPr>
          <p:cNvPr id="15" name="Oval 14"/>
          <p:cNvSpPr/>
          <p:nvPr/>
        </p:nvSpPr>
        <p:spPr>
          <a:xfrm>
            <a:off x="7909560" y="2633472"/>
            <a:ext cx="329184" cy="32918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60" y="2642615"/>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7" name="TextBox 16"/>
          <p:cNvSpPr txBox="1"/>
          <p:nvPr/>
        </p:nvSpPr>
        <p:spPr>
          <a:xfrm>
            <a:off x="8394192" y="2606040"/>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Reconciled P&amp;L, Balance Sheet, and Cash Flow</a:t>
            </a:r>
          </a:p>
        </p:txBody>
      </p:sp>
      <p:sp>
        <p:nvSpPr>
          <p:cNvPr id="18" name="Oval 17"/>
          <p:cNvSpPr/>
          <p:nvPr/>
        </p:nvSpPr>
        <p:spPr>
          <a:xfrm>
            <a:off x="7909560" y="3529584"/>
            <a:ext cx="329184" cy="32918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9560" y="3538727"/>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0" name="TextBox 19"/>
          <p:cNvSpPr txBox="1"/>
          <p:nvPr/>
        </p:nvSpPr>
        <p:spPr>
          <a:xfrm>
            <a:off x="8394192" y="3502152"/>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AR/AP/project schedules</a:t>
            </a:r>
          </a:p>
        </p:txBody>
      </p:sp>
      <p:sp>
        <p:nvSpPr>
          <p:cNvPr id="21" name="Oval 20"/>
          <p:cNvSpPr/>
          <p:nvPr/>
        </p:nvSpPr>
        <p:spPr>
          <a:xfrm>
            <a:off x="7909560" y="4425696"/>
            <a:ext cx="329184" cy="32918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560" y="4434840"/>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3</a:t>
            </a:r>
          </a:p>
        </p:txBody>
      </p:sp>
      <p:sp>
        <p:nvSpPr>
          <p:cNvPr id="23" name="TextBox 22"/>
          <p:cNvSpPr txBox="1"/>
          <p:nvPr/>
        </p:nvSpPr>
        <p:spPr>
          <a:xfrm>
            <a:off x="8394192" y="4398264"/>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Executive variance and action narrative</a:t>
            </a:r>
          </a:p>
        </p:txBody>
      </p:sp>
      <p:sp>
        <p:nvSpPr>
          <p:cNvPr id="24" name="TextBox 2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5" name="TextBox 2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6" name="TextBox 2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92</a:t>
            </a:r>
          </a:p>
        </p:txBody>
      </p:sp>
    </p:spTree>
  </p:cSld>
  <p:transition spd="slow">
    <p:fade/>
  </p:transition>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NO CLICK-BY-CLICK STEPS ON SLIDES · SEE LEARNER GUIDE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Activity 10 · Acceptance Criteria</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All schedules tie to the GL or explain differences</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Statements are internally consistent</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Conclusions cite quantified drivers</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Actions have owner and date</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93</a:t>
            </a:r>
          </a:p>
        </p:txBody>
      </p:sp>
    </p:spTree>
  </p:cSld>
  <p:transition spd="slow">
    <p:fade/>
  </p:transition>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ACTIVITY 11 · ADVANCED</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Prepare a GST Control and F5 Working Paper</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6629400" cy="169164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29968"/>
            <a:ext cx="6144768" cy="320040"/>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SCENARIO</a:t>
            </a:r>
          </a:p>
        </p:txBody>
      </p:sp>
      <p:sp>
        <p:nvSpPr>
          <p:cNvPr id="9" name="TextBox 8"/>
          <p:cNvSpPr txBox="1"/>
          <p:nvPr/>
        </p:nvSpPr>
        <p:spPr>
          <a:xfrm>
            <a:off x="960120" y="2450592"/>
            <a:ext cx="6144768" cy="822960"/>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Straits Commerce has standard-rated, zero-rated, exempt, out-of-scope, credit-note, and potentially disallowed input-tax transactions for a quarterly GST review.</a:t>
            </a:r>
          </a:p>
        </p:txBody>
      </p:sp>
      <p:sp>
        <p:nvSpPr>
          <p:cNvPr id="10" name="Rounded Rectangle 9"/>
          <p:cNvSpPr/>
          <p:nvPr/>
        </p:nvSpPr>
        <p:spPr>
          <a:xfrm>
            <a:off x="713232" y="3730752"/>
            <a:ext cx="6629400" cy="2057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931920"/>
            <a:ext cx="6144768" cy="320040"/>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GOAL</a:t>
            </a:r>
          </a:p>
        </p:txBody>
      </p:sp>
      <p:sp>
        <p:nvSpPr>
          <p:cNvPr id="12" name="TextBox 11"/>
          <p:cNvSpPr txBox="1"/>
          <p:nvPr/>
        </p:nvSpPr>
        <p:spPr>
          <a:xfrm>
            <a:off x="960120" y="4334256"/>
            <a:ext cx="6144768" cy="1005840"/>
          </a:xfrm>
          <a:prstGeom prst="rect">
            <a:avLst/>
          </a:prstGeom>
          <a:noFill/>
        </p:spPr>
        <p:txBody>
          <a:bodyPr wrap="square" anchor="t" lIns="54864" rIns="54864" tIns="54864" bIns="54864">
            <a:spAutoFit/>
          </a:bodyPr>
          <a:lstStyle/>
          <a:p>
            <a:pPr algn="l">
              <a:spcAft>
                <a:spcPts val="400"/>
              </a:spcAft>
            </a:pPr>
            <a:r>
              <a:rPr sz="1500" b="1">
                <a:solidFill>
                  <a:srgbClr val="17242B"/>
                </a:solidFill>
                <a:latin typeface="Arial"/>
              </a:rPr>
              <a:t>Validate tax coding, reconcile output/input tax, and identify items requiring correction or escalation.</a:t>
            </a:r>
          </a:p>
        </p:txBody>
      </p:sp>
      <p:sp>
        <p:nvSpPr>
          <p:cNvPr id="13" name="Rounded Rectangle 12"/>
          <p:cNvSpPr/>
          <p:nvPr/>
        </p:nvSpPr>
        <p:spPr>
          <a:xfrm>
            <a:off x="7644383" y="1828800"/>
            <a:ext cx="3867912" cy="395935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9560" y="2057400"/>
            <a:ext cx="3383280" cy="320040"/>
          </a:xfrm>
          <a:prstGeom prst="rect">
            <a:avLst/>
          </a:prstGeom>
          <a:noFill/>
        </p:spPr>
        <p:txBody>
          <a:bodyPr wrap="square" anchor="t" lIns="54864" rIns="54864" tIns="54864" bIns="54864">
            <a:spAutoFit/>
          </a:bodyPr>
          <a:lstStyle/>
          <a:p>
            <a:pPr algn="l">
              <a:spcAft>
                <a:spcPts val="400"/>
              </a:spcAft>
            </a:pPr>
            <a:r>
              <a:rPr sz="1100" b="1">
                <a:solidFill>
                  <a:srgbClr val="F59E0B"/>
                </a:solidFill>
                <a:latin typeface="Arial"/>
              </a:rPr>
              <a:t>DELIVERABLES</a:t>
            </a:r>
          </a:p>
        </p:txBody>
      </p:sp>
      <p:sp>
        <p:nvSpPr>
          <p:cNvPr id="15" name="Oval 14"/>
          <p:cNvSpPr/>
          <p:nvPr/>
        </p:nvSpPr>
        <p:spPr>
          <a:xfrm>
            <a:off x="7909560" y="2633472"/>
            <a:ext cx="329184" cy="32918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60" y="2642615"/>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7" name="TextBox 16"/>
          <p:cNvSpPr txBox="1"/>
          <p:nvPr/>
        </p:nvSpPr>
        <p:spPr>
          <a:xfrm>
            <a:off x="8394192" y="2606040"/>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GST transaction review</a:t>
            </a:r>
          </a:p>
        </p:txBody>
      </p:sp>
      <p:sp>
        <p:nvSpPr>
          <p:cNvPr id="18" name="Oval 17"/>
          <p:cNvSpPr/>
          <p:nvPr/>
        </p:nvSpPr>
        <p:spPr>
          <a:xfrm>
            <a:off x="7909560" y="3529584"/>
            <a:ext cx="329184" cy="32918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9560" y="3538727"/>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0" name="TextBox 19"/>
          <p:cNvSpPr txBox="1"/>
          <p:nvPr/>
        </p:nvSpPr>
        <p:spPr>
          <a:xfrm>
            <a:off x="8394192" y="3502152"/>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Control-account reconciliation</a:t>
            </a:r>
          </a:p>
        </p:txBody>
      </p:sp>
      <p:sp>
        <p:nvSpPr>
          <p:cNvPr id="21" name="Oval 20"/>
          <p:cNvSpPr/>
          <p:nvPr/>
        </p:nvSpPr>
        <p:spPr>
          <a:xfrm>
            <a:off x="7909560" y="4425696"/>
            <a:ext cx="329184" cy="32918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560" y="4434840"/>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3</a:t>
            </a:r>
          </a:p>
        </p:txBody>
      </p:sp>
      <p:sp>
        <p:nvSpPr>
          <p:cNvPr id="23" name="TextBox 22"/>
          <p:cNvSpPr txBox="1"/>
          <p:nvPr/>
        </p:nvSpPr>
        <p:spPr>
          <a:xfrm>
            <a:off x="8394192" y="4398264"/>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Draft F5 working paper and error/escalation log</a:t>
            </a:r>
          </a:p>
        </p:txBody>
      </p:sp>
      <p:sp>
        <p:nvSpPr>
          <p:cNvPr id="24" name="TextBox 2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5" name="TextBox 2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6" name="TextBox 2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94</a:t>
            </a:r>
          </a:p>
        </p:txBody>
      </p:sp>
    </p:spTree>
  </p:cSld>
  <p:transition spd="slow">
    <p:fade/>
  </p:transition>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NO CLICK-BY-CLICK STEPS ON SLIDES · SEE LEARNER GUIDE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Activity 11 · Acceptance Criteria</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Output/input tax ties to control accounts</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Rate and coding exceptions are documented</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Disallowed/unsupported input tax is excluded or escalated</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Working paper traces to source</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95</a:t>
            </a:r>
          </a:p>
        </p:txBody>
      </p:sp>
    </p:spTree>
  </p:cSld>
  <p:transition spd="slow">
    <p:fade/>
  </p:transition>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WHAT YOU SHOULD NOW BE ABLE TO DO</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Topic 2 Recap</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Explain</a:t>
            </a:r>
          </a:p>
          <a:p>
            <a:pPr algn="l">
              <a:spcAft>
                <a:spcPts val="400"/>
              </a:spcAft>
            </a:pPr>
            <a:r>
              <a:rPr sz="1250" b="0">
                <a:solidFill>
                  <a:srgbClr val="5B6573"/>
                </a:solidFill>
                <a:latin typeface="Arial"/>
              </a:rPr>
              <a:t>State the accounting logic, not only the QuickBooks action.</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Reconcile</a:t>
            </a:r>
          </a:p>
          <a:p>
            <a:pPr algn="l">
              <a:spcAft>
                <a:spcPts val="400"/>
              </a:spcAft>
            </a:pPr>
            <a:r>
              <a:rPr sz="1250" b="0">
                <a:solidFill>
                  <a:srgbClr val="5B6573"/>
                </a:solidFill>
                <a:latin typeface="Arial"/>
              </a:rPr>
              <a:t>Tie the source, subledger, GL, report, and evidence.</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Challenge</a:t>
            </a:r>
          </a:p>
          <a:p>
            <a:pPr algn="l">
              <a:spcAft>
                <a:spcPts val="400"/>
              </a:spcAft>
            </a:pPr>
            <a:r>
              <a:rPr sz="1250" b="0">
                <a:solidFill>
                  <a:srgbClr val="5B6573"/>
                </a:solidFill>
                <a:latin typeface="Arial"/>
              </a:rPr>
              <a:t>Investigate exceptions, estimates, feature availability, and period effects.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Approve</a:t>
            </a:r>
          </a:p>
          <a:p>
            <a:pPr algn="l">
              <a:spcAft>
                <a:spcPts val="400"/>
              </a:spcAft>
            </a:pPr>
            <a:r>
              <a:rPr sz="1250" b="0">
                <a:solidFill>
                  <a:srgbClr val="5B6573"/>
                </a:solidFill>
                <a:latin typeface="Arial"/>
              </a:rPr>
              <a:t>Record ownership, judgement, conclusion, and sign-off.</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96</a:t>
            </a:r>
          </a:p>
        </p:txBody>
      </p:sp>
    </p:spTree>
  </p:cSld>
  <p:transition spd="slow">
    <p:fade/>
  </p:transition>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166360" y="1417320"/>
            <a:ext cx="1828800" cy="182880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166360" y="1856231"/>
            <a:ext cx="1828800" cy="731520"/>
          </a:xfrm>
          <a:prstGeom prst="rect">
            <a:avLst/>
          </a:prstGeom>
          <a:noFill/>
        </p:spPr>
        <p:txBody>
          <a:bodyPr wrap="square" anchor="ctr" lIns="54864" rIns="54864" tIns="54864" bIns="54864">
            <a:spAutoFit/>
          </a:bodyPr>
          <a:lstStyle/>
          <a:p>
            <a:pPr algn="ctr">
              <a:spcAft>
                <a:spcPts val="400"/>
              </a:spcAft>
            </a:pPr>
            <a:r>
              <a:rPr sz="4000" b="1">
                <a:solidFill>
                  <a:srgbClr val="FFFFFF"/>
                </a:solidFill>
                <a:latin typeface="Arial"/>
              </a:rPr>
              <a:t>☕</a:t>
            </a:r>
          </a:p>
        </p:txBody>
      </p:sp>
      <p:sp>
        <p:nvSpPr>
          <p:cNvPr id="5" name="TextBox 4"/>
          <p:cNvSpPr txBox="1"/>
          <p:nvPr/>
        </p:nvSpPr>
        <p:spPr>
          <a:xfrm>
            <a:off x="914400" y="3703320"/>
            <a:ext cx="10332720" cy="685800"/>
          </a:xfrm>
          <a:prstGeom prst="rect">
            <a:avLst/>
          </a:prstGeom>
          <a:noFill/>
        </p:spPr>
        <p:txBody>
          <a:bodyPr wrap="square" anchor="t" lIns="54864" rIns="54864" tIns="54864" bIns="54864">
            <a:spAutoFit/>
          </a:bodyPr>
          <a:lstStyle/>
          <a:p>
            <a:pPr algn="ctr">
              <a:spcAft>
                <a:spcPts val="400"/>
              </a:spcAft>
            </a:pPr>
            <a:r>
              <a:rPr sz="3400" b="1">
                <a:solidFill>
                  <a:srgbClr val="17242B"/>
                </a:solidFill>
                <a:latin typeface="Arial"/>
              </a:rPr>
              <a:t>Break · Return on time</a:t>
            </a:r>
          </a:p>
        </p:txBody>
      </p:sp>
      <p:sp>
        <p:nvSpPr>
          <p:cNvPr id="6" name="TextBox 5"/>
          <p:cNvSpPr txBox="1"/>
          <p:nvPr/>
        </p:nvSpPr>
        <p:spPr>
          <a:xfrm>
            <a:off x="914400" y="4572000"/>
            <a:ext cx="10332720" cy="502920"/>
          </a:xfrm>
          <a:prstGeom prst="rect">
            <a:avLst/>
          </a:prstGeom>
          <a:noFill/>
        </p:spPr>
        <p:txBody>
          <a:bodyPr wrap="square" anchor="t" lIns="54864" rIns="54864" tIns="54864" bIns="54864">
            <a:spAutoFit/>
          </a:bodyPr>
          <a:lstStyle/>
          <a:p>
            <a:pPr algn="ctr">
              <a:spcAft>
                <a:spcPts val="400"/>
              </a:spcAft>
            </a:pPr>
            <a:r>
              <a:rPr sz="1600" b="0">
                <a:solidFill>
                  <a:srgbClr val="5B6573"/>
                </a:solidFill>
                <a:latin typeface="Arial"/>
              </a:rPr>
              <a:t>Use the activity workbook to record unresolved questions before the next section.</a:t>
            </a:r>
          </a:p>
        </p:txBody>
      </p:sp>
      <p:sp>
        <p:nvSpPr>
          <p:cNvPr id="7" name="TextBox 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8" name="TextBox 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9" name="TextBox 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97</a:t>
            </a:r>
          </a:p>
        </p:txBody>
      </p:sp>
    </p:spTree>
  </p:cSld>
  <p:transition spd="slow">
    <p:fade/>
  </p:transition>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8" y="1920240"/>
            <a:ext cx="9326880" cy="347472"/>
          </a:xfrm>
          <a:prstGeom prst="rect">
            <a:avLst/>
          </a:prstGeom>
          <a:noFill/>
        </p:spPr>
        <p:txBody>
          <a:bodyPr wrap="square" anchor="t" lIns="54864" rIns="54864" tIns="54864" bIns="54864">
            <a:spAutoFit/>
          </a:bodyPr>
          <a:lstStyle/>
          <a:p>
            <a:pPr algn="l">
              <a:spcAft>
                <a:spcPts val="400"/>
              </a:spcAft>
            </a:pPr>
            <a:r>
              <a:rPr sz="1300" b="1">
                <a:solidFill>
                  <a:srgbClr val="7C3AED"/>
                </a:solidFill>
                <a:latin typeface="Arial"/>
              </a:rPr>
              <a:t>TOPIC 3</a:t>
            </a:r>
          </a:p>
        </p:txBody>
      </p:sp>
      <p:sp>
        <p:nvSpPr>
          <p:cNvPr id="5" name="TextBox 4"/>
          <p:cNvSpPr txBox="1"/>
          <p:nvPr/>
        </p:nvSpPr>
        <p:spPr>
          <a:xfrm>
            <a:off x="841248" y="2359152"/>
            <a:ext cx="9875520" cy="1234440"/>
          </a:xfrm>
          <a:prstGeom prst="rect">
            <a:avLst/>
          </a:prstGeom>
          <a:noFill/>
        </p:spPr>
        <p:txBody>
          <a:bodyPr wrap="square" anchor="ctr" lIns="54864" rIns="54864" tIns="54864" bIns="54864">
            <a:spAutoFit/>
          </a:bodyPr>
          <a:lstStyle/>
          <a:p>
            <a:pPr algn="l">
              <a:spcAft>
                <a:spcPts val="400"/>
              </a:spcAft>
            </a:pPr>
            <a:r>
              <a:rPr sz="3900" b="1">
                <a:solidFill>
                  <a:srgbClr val="17242B"/>
                </a:solidFill>
                <a:latin typeface="Arial"/>
              </a:rPr>
              <a:t>Accounting Principles and Standards</a:t>
            </a:r>
          </a:p>
        </p:txBody>
      </p:sp>
      <p:sp>
        <p:nvSpPr>
          <p:cNvPr id="6" name="TextBox 5"/>
          <p:cNvSpPr txBox="1"/>
          <p:nvPr/>
        </p:nvSpPr>
        <p:spPr>
          <a:xfrm>
            <a:off x="859536" y="3858768"/>
            <a:ext cx="9692640" cy="713232"/>
          </a:xfrm>
          <a:prstGeom prst="rect">
            <a:avLst/>
          </a:prstGeom>
          <a:noFill/>
        </p:spPr>
        <p:txBody>
          <a:bodyPr wrap="square" anchor="t" lIns="54864" rIns="54864" tIns="54864" bIns="54864">
            <a:spAutoFit/>
          </a:bodyPr>
          <a:lstStyle/>
          <a:p>
            <a:pPr algn="l">
              <a:spcAft>
                <a:spcPts val="400"/>
              </a:spcAft>
            </a:pPr>
            <a:r>
              <a:rPr sz="1600" b="0">
                <a:solidFill>
                  <a:srgbClr val="5B6573"/>
                </a:solidFill>
                <a:latin typeface="Arial"/>
              </a:rPr>
              <a:t>Singapore reporting framework · recognition and measurement · estimates · disclosures · system-to-standard bridge</a:t>
            </a:r>
          </a:p>
        </p:txBody>
      </p:sp>
      <p:sp>
        <p:nvSpPr>
          <p:cNvPr id="7" name="TextBox 6"/>
          <p:cNvSpPr txBox="1"/>
          <p:nvPr/>
        </p:nvSpPr>
        <p:spPr>
          <a:xfrm>
            <a:off x="9784080" y="566928"/>
            <a:ext cx="1645920" cy="1097280"/>
          </a:xfrm>
          <a:prstGeom prst="rect">
            <a:avLst/>
          </a:prstGeom>
          <a:noFill/>
        </p:spPr>
        <p:txBody>
          <a:bodyPr wrap="square" anchor="t" lIns="54864" rIns="54864" tIns="54864" bIns="54864">
            <a:spAutoFit/>
          </a:bodyPr>
          <a:lstStyle/>
          <a:p>
            <a:pPr algn="r">
              <a:spcAft>
                <a:spcPts val="400"/>
              </a:spcAft>
            </a:pPr>
            <a:r>
              <a:rPr sz="5800" b="1">
                <a:solidFill>
                  <a:srgbClr val="DFE6ED"/>
                </a:solidFill>
                <a:latin typeface="Arial"/>
              </a:rPr>
              <a:t>03</a:t>
            </a:r>
          </a:p>
        </p:txBody>
      </p:sp>
      <p:sp>
        <p:nvSpPr>
          <p:cNvPr id="8" name="TextBox 7"/>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9" name="TextBox 8"/>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0" name="TextBox 9"/>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98</a:t>
            </a:r>
          </a:p>
        </p:txBody>
      </p:sp>
    </p:spTree>
  </p:cSld>
  <p:transition spd="slow">
    <p:fade/>
  </p:transition>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TOPIC 3</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Key Concepts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Singapore context</a:t>
            </a:r>
          </a:p>
          <a:p>
            <a:pPr algn="l">
              <a:spcAft>
                <a:spcPts val="400"/>
              </a:spcAft>
            </a:pPr>
            <a:r>
              <a:rPr sz="1250" b="0">
                <a:solidFill>
                  <a:srgbClr val="5B6573"/>
                </a:solidFill>
                <a:latin typeface="Arial"/>
              </a:rPr>
              <a:t>Use the applicable SFRS(I), FRS, or SFRS for Small Entities framework—not a generic US-GAAP shortcut.</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System is not policy</a:t>
            </a:r>
          </a:p>
          <a:p>
            <a:pPr algn="l">
              <a:spcAft>
                <a:spcPts val="400"/>
              </a:spcAft>
            </a:pPr>
            <a:r>
              <a:rPr sz="1250" b="0">
                <a:solidFill>
                  <a:srgbClr val="5B6573"/>
                </a:solidFill>
                <a:latin typeface="Arial"/>
              </a:rPr>
              <a:t>QuickBooks records approved accounting treatments; it does not choose the reporting framework or judgement.</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Recognition and measurement</a:t>
            </a:r>
          </a:p>
          <a:p>
            <a:pPr algn="l">
              <a:spcAft>
                <a:spcPts val="400"/>
              </a:spcAft>
            </a:pPr>
            <a:r>
              <a:rPr sz="1250" b="0">
                <a:solidFill>
                  <a:srgbClr val="5B6573"/>
                </a:solidFill>
                <a:latin typeface="Arial"/>
              </a:rPr>
              <a:t>Timing, classification, estimates, and measurement bases shape profit, assets, liabilities, and disclosures.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Qualitative characteristics</a:t>
            </a:r>
          </a:p>
          <a:p>
            <a:pPr algn="l">
              <a:spcAft>
                <a:spcPts val="400"/>
              </a:spcAft>
            </a:pPr>
            <a:r>
              <a:rPr sz="1250" b="0">
                <a:solidFill>
                  <a:srgbClr val="5B6573"/>
                </a:solidFill>
                <a:latin typeface="Arial"/>
              </a:rPr>
              <a:t>Relevance, faithful representation, comparability, verifiability, timeliness, and understandability guide choices.</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99</a:t>
            </a:r>
          </a:p>
        </p:txBody>
      </p:sp>
    </p:spTree>
  </p:cSld>
  <p:transition spd="slow">
    <p:fade/>
  </p:transition>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SINGAPORE STANDARDS</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Applicable reporting framework</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Determine whether the entity applies SFRS(I), FRS, SFRS for Small Entities, or another permitted framework.</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Document policy choices, effective dates, transition requirements, materiality, and disclosure obligations.</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Use current ASC/ACRA/IRAS and professional advice where judgement or regulation is consequential.</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QuickBooks account names and reports do not establish compliance by themselves.</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100</a:t>
            </a:r>
          </a:p>
        </p:txBody>
      </p:sp>
    </p:spTree>
  </p:cSld>
  <p:transition spd="slow">
    <p:fade/>
  </p:transition>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SINGAPORE STANDARDS</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400" b="1">
                <a:solidFill>
                  <a:srgbClr val="17242B"/>
                </a:solidFill>
                <a:latin typeface="Arial"/>
              </a:rPr>
              <a:t>Applicable reporting framework · Design vs evidence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303520" cy="432511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5303520" cy="10972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 y="2029968"/>
            <a:ext cx="4800600" cy="384048"/>
          </a:xfrm>
          <a:prstGeom prst="rect">
            <a:avLst/>
          </a:prstGeom>
          <a:noFill/>
        </p:spPr>
        <p:txBody>
          <a:bodyPr wrap="square" anchor="t" lIns="54864" rIns="54864" tIns="54864" bIns="54864">
            <a:spAutoFit/>
          </a:bodyPr>
          <a:lstStyle/>
          <a:p>
            <a:pPr algn="l">
              <a:spcAft>
                <a:spcPts val="400"/>
              </a:spcAft>
            </a:pPr>
            <a:r>
              <a:rPr sz="1700" b="1">
                <a:solidFill>
                  <a:srgbClr val="1F6FEB"/>
                </a:solidFill>
                <a:latin typeface="Arial"/>
              </a:rPr>
              <a:t>DESIGN / DECIDE</a:t>
            </a:r>
          </a:p>
        </p:txBody>
      </p:sp>
      <p:sp>
        <p:nvSpPr>
          <p:cNvPr id="10" name="Oval 9"/>
          <p:cNvSpPr/>
          <p:nvPr/>
        </p:nvSpPr>
        <p:spPr>
          <a:xfrm>
            <a:off x="969264" y="2606040"/>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2615184"/>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2" name="TextBox 11"/>
          <p:cNvSpPr txBox="1"/>
          <p:nvPr/>
        </p:nvSpPr>
        <p:spPr>
          <a:xfrm>
            <a:off x="1426464" y="2578608"/>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Determine whether the entity applies SFRS(I), FRS, SFRS for Small Entities, or another permitted framework.</a:t>
            </a:r>
          </a:p>
        </p:txBody>
      </p:sp>
      <p:sp>
        <p:nvSpPr>
          <p:cNvPr id="13" name="Oval 12"/>
          <p:cNvSpPr/>
          <p:nvPr/>
        </p:nvSpPr>
        <p:spPr>
          <a:xfrm>
            <a:off x="969264" y="3438144"/>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47288"/>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15" name="TextBox 14"/>
          <p:cNvSpPr txBox="1"/>
          <p:nvPr/>
        </p:nvSpPr>
        <p:spPr>
          <a:xfrm>
            <a:off x="1426464" y="3410712"/>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Document policy choices, effective dates, transition requirements, materiality, and disclosure obligations.</a:t>
            </a:r>
          </a:p>
        </p:txBody>
      </p:sp>
      <p:sp>
        <p:nvSpPr>
          <p:cNvPr id="16" name="Rounded Rectangle 15"/>
          <p:cNvSpPr/>
          <p:nvPr/>
        </p:nvSpPr>
        <p:spPr>
          <a:xfrm>
            <a:off x="6199632" y="1783080"/>
            <a:ext cx="5303520" cy="432511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9632" y="1783080"/>
            <a:ext cx="5303520" cy="109728"/>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55664" y="2029968"/>
            <a:ext cx="4800600" cy="384048"/>
          </a:xfrm>
          <a:prstGeom prst="rect">
            <a:avLst/>
          </a:prstGeom>
          <a:noFill/>
        </p:spPr>
        <p:txBody>
          <a:bodyPr wrap="square" anchor="t" lIns="54864" rIns="54864" tIns="54864" bIns="54864">
            <a:spAutoFit/>
          </a:bodyPr>
          <a:lstStyle/>
          <a:p>
            <a:pPr algn="l">
              <a:spcAft>
                <a:spcPts val="400"/>
              </a:spcAft>
            </a:pPr>
            <a:r>
              <a:rPr sz="1700" b="1">
                <a:solidFill>
                  <a:srgbClr val="008E8E"/>
                </a:solidFill>
                <a:latin typeface="Arial"/>
              </a:rPr>
              <a:t>VERIFY / CONTROL</a:t>
            </a:r>
          </a:p>
        </p:txBody>
      </p:sp>
      <p:sp>
        <p:nvSpPr>
          <p:cNvPr id="19" name="Oval 18"/>
          <p:cNvSpPr/>
          <p:nvPr/>
        </p:nvSpPr>
        <p:spPr>
          <a:xfrm>
            <a:off x="6455664" y="2606040"/>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55664" y="2615184"/>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21" name="TextBox 20"/>
          <p:cNvSpPr txBox="1"/>
          <p:nvPr/>
        </p:nvSpPr>
        <p:spPr>
          <a:xfrm>
            <a:off x="6912864" y="2578608"/>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Use current ASC/ACRA/IRAS and professional advice where judgement or regulation is consequential.</a:t>
            </a:r>
          </a:p>
        </p:txBody>
      </p:sp>
      <p:sp>
        <p:nvSpPr>
          <p:cNvPr id="22" name="Oval 21"/>
          <p:cNvSpPr/>
          <p:nvPr/>
        </p:nvSpPr>
        <p:spPr>
          <a:xfrm>
            <a:off x="6455664" y="3438144"/>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5664" y="3447288"/>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4" name="TextBox 23"/>
          <p:cNvSpPr txBox="1"/>
          <p:nvPr/>
        </p:nvSpPr>
        <p:spPr>
          <a:xfrm>
            <a:off x="6912864" y="3410712"/>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QuickBooks account names and reports do not establish compliance by themselves.</a:t>
            </a:r>
          </a:p>
        </p:txBody>
      </p:sp>
      <p:sp>
        <p:nvSpPr>
          <p:cNvPr id="25" name="TextBox 24"/>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6" name="TextBox 25"/>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7" name="TextBox 26"/>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101</a:t>
            </a:r>
          </a:p>
        </p:txBody>
      </p:sp>
    </p:spTree>
  </p:cSld>
  <p:transition spd="slow">
    <p:fade/>
  </p:transition>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WORKED CONTROL CHECK</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Applicable reporting framework · Acceptance logic</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Determine whether the entity applies SFRS(I), FRS, SFRS for Small Entities, or another permitted framework.</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Document policy choices, effective dates, transition requirements, materiality, and disclosure obligations.</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Use current ASC/ACRA/IRAS and professional advice where judgement or regulation is consequential.</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QuickBooks account names and reports do not establish compliance by themselves.</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102</a:t>
            </a:r>
          </a:p>
        </p:txBody>
      </p:sp>
    </p:spTree>
  </p:cSld>
  <p:transition spd="slow">
    <p:fade/>
  </p:transition>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RECOGNITION TIMING</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Accrual and matching</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Recognise income and expenses when the underlying rights, obligations, and performance occur—not merely when cash moves.</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Customer deposits may be contract liabilities; unbilled earned revenue may require receivable/contract-asset analysis.</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Supplier invoices received late do not erase obligations existing at reporting date.</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Use reversal and clearing logic to avoid double counting when source documents arrive after close.</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103</a:t>
            </a:r>
          </a:p>
        </p:txBody>
      </p:sp>
    </p:spTree>
  </p:cSld>
  <p:transition spd="slow">
    <p:fade/>
  </p:transition>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RECOGNITION TIMING</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Accrual and matching · Control flow</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577340" y="2414016"/>
            <a:ext cx="731520" cy="73152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77340"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1</a:t>
            </a:r>
          </a:p>
        </p:txBody>
      </p:sp>
      <p:sp>
        <p:nvSpPr>
          <p:cNvPr id="10" name="TextBox 9"/>
          <p:cNvSpPr txBox="1"/>
          <p:nvPr/>
        </p:nvSpPr>
        <p:spPr>
          <a:xfrm>
            <a:off x="768096"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Recognise income and expenses when the underlying rights, obligations, and performance occur—not merely when cash moves.</a:t>
            </a:r>
          </a:p>
        </p:txBody>
      </p:sp>
      <p:sp>
        <p:nvSpPr>
          <p:cNvPr id="11" name="TextBox 10"/>
          <p:cNvSpPr txBox="1"/>
          <p:nvPr/>
        </p:nvSpPr>
        <p:spPr>
          <a:xfrm>
            <a:off x="3209544"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1F6FEB"/>
                </a:solidFill>
                <a:latin typeface="Arial"/>
              </a:rPr>
              <a:t>▶</a:t>
            </a:r>
          </a:p>
        </p:txBody>
      </p:sp>
      <p:sp>
        <p:nvSpPr>
          <p:cNvPr id="12" name="Rounded Rectangle 11"/>
          <p:cNvSpPr/>
          <p:nvPr/>
        </p:nvSpPr>
        <p:spPr>
          <a:xfrm>
            <a:off x="3429000"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347972" y="2414016"/>
            <a:ext cx="731520" cy="731520"/>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47972"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2</a:t>
            </a:r>
          </a:p>
        </p:txBody>
      </p:sp>
      <p:sp>
        <p:nvSpPr>
          <p:cNvPr id="15" name="TextBox 14"/>
          <p:cNvSpPr txBox="1"/>
          <p:nvPr/>
        </p:nvSpPr>
        <p:spPr>
          <a:xfrm>
            <a:off x="3538728"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Customer deposits may be contract liabilities; unbilled earned revenue may require receivable/contract-asset analysis.</a:t>
            </a:r>
          </a:p>
        </p:txBody>
      </p:sp>
      <p:sp>
        <p:nvSpPr>
          <p:cNvPr id="16" name="TextBox 15"/>
          <p:cNvSpPr txBox="1"/>
          <p:nvPr/>
        </p:nvSpPr>
        <p:spPr>
          <a:xfrm>
            <a:off x="5980176"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008E8E"/>
                </a:solidFill>
                <a:latin typeface="Arial"/>
              </a:rPr>
              <a:t>▶</a:t>
            </a:r>
          </a:p>
        </p:txBody>
      </p:sp>
      <p:sp>
        <p:nvSpPr>
          <p:cNvPr id="17" name="Rounded Rectangle 16"/>
          <p:cNvSpPr/>
          <p:nvPr/>
        </p:nvSpPr>
        <p:spPr>
          <a:xfrm>
            <a:off x="6199632"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18604" y="2414016"/>
            <a:ext cx="731520" cy="73152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18604"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3</a:t>
            </a:r>
          </a:p>
        </p:txBody>
      </p:sp>
      <p:sp>
        <p:nvSpPr>
          <p:cNvPr id="20" name="TextBox 19"/>
          <p:cNvSpPr txBox="1"/>
          <p:nvPr/>
        </p:nvSpPr>
        <p:spPr>
          <a:xfrm>
            <a:off x="6309360" y="3346704"/>
            <a:ext cx="2350008" cy="1481328"/>
          </a:xfrm>
          <a:prstGeom prst="rect">
            <a:avLst/>
          </a:prstGeom>
          <a:noFill/>
        </p:spPr>
        <p:txBody>
          <a:bodyPr wrap="square" anchor="ctr" lIns="54864" rIns="54864" tIns="54864" bIns="54864">
            <a:spAutoFit/>
          </a:bodyPr>
          <a:lstStyle/>
          <a:p>
            <a:pPr algn="ctr">
              <a:spcAft>
                <a:spcPts val="400"/>
              </a:spcAft>
            </a:pPr>
            <a:r>
              <a:rPr sz="1300" b="0">
                <a:solidFill>
                  <a:srgbClr val="17242B"/>
                </a:solidFill>
                <a:latin typeface="Arial"/>
              </a:rPr>
              <a:t>Supplier invoices received late do not erase obligations existing at reporting date.</a:t>
            </a:r>
          </a:p>
        </p:txBody>
      </p:sp>
      <p:sp>
        <p:nvSpPr>
          <p:cNvPr id="21" name="TextBox 20"/>
          <p:cNvSpPr txBox="1"/>
          <p:nvPr/>
        </p:nvSpPr>
        <p:spPr>
          <a:xfrm>
            <a:off x="8750808"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7C3AED"/>
                </a:solidFill>
                <a:latin typeface="Arial"/>
              </a:rPr>
              <a:t>▶</a:t>
            </a:r>
          </a:p>
        </p:txBody>
      </p:sp>
      <p:sp>
        <p:nvSpPr>
          <p:cNvPr id="22" name="Rounded Rectangle 21"/>
          <p:cNvSpPr/>
          <p:nvPr/>
        </p:nvSpPr>
        <p:spPr>
          <a:xfrm>
            <a:off x="8970264"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889236" y="2414016"/>
            <a:ext cx="731520" cy="73152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89236"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4</a:t>
            </a:r>
          </a:p>
        </p:txBody>
      </p:sp>
      <p:sp>
        <p:nvSpPr>
          <p:cNvPr id="25" name="TextBox 24"/>
          <p:cNvSpPr txBox="1"/>
          <p:nvPr/>
        </p:nvSpPr>
        <p:spPr>
          <a:xfrm>
            <a:off x="9079992"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Use reversal and clearing logic to avoid double counting when source documents arrive after close.</a:t>
            </a:r>
          </a:p>
        </p:txBody>
      </p:sp>
      <p:sp>
        <p:nvSpPr>
          <p:cNvPr id="26" name="TextBox 25"/>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7" name="TextBox 26"/>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8" name="TextBox 27"/>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104</a:t>
            </a:r>
          </a:p>
        </p:txBody>
      </p:sp>
    </p:spTree>
  </p:cSld>
  <p:transition spd="slow">
    <p:fade/>
  </p:transition>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PERFORMANCE OBLIGATIONS</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Revenue recognition</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Identify the contract, performance obligations, transaction price, allocation, and satisfaction pattern.</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Invoice date, payment date, and revenue-recognition date can differ.</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Project deposits, progress billing, credits, refunds, and variable consideration require consistent policy mapping.</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QuickBooks forms operationalise the approved policy; they do not replace contract analysis.</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105</a:t>
            </a:r>
          </a:p>
        </p:txBody>
      </p:sp>
    </p:spTree>
  </p:cSld>
  <p:transition spd="slow">
    <p:fade/>
  </p:transition>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PERFORMANCE OBLIGATIONS</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Revenue recognition · Three lenses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874519"/>
            <a:ext cx="3401568" cy="12801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1F6FEB"/>
                </a:solidFill>
                <a:latin typeface="Arial"/>
              </a:rPr>
              <a:t>EVENT</a:t>
            </a:r>
          </a:p>
        </p:txBody>
      </p:sp>
      <p:sp>
        <p:nvSpPr>
          <p:cNvPr id="10" name="TextBox 9"/>
          <p:cNvSpPr txBox="1"/>
          <p:nvPr/>
        </p:nvSpPr>
        <p:spPr>
          <a:xfrm>
            <a:off x="9509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Identify the contract, performance obligations, transaction price, allocation, and satisfaction pattern.</a:t>
            </a:r>
          </a:p>
        </p:txBody>
      </p:sp>
      <p:sp>
        <p:nvSpPr>
          <p:cNvPr id="11" name="Rounded Rectangle 10"/>
          <p:cNvSpPr/>
          <p:nvPr/>
        </p:nvSpPr>
        <p:spPr>
          <a:xfrm>
            <a:off x="43708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2" y="1874519"/>
            <a:ext cx="3401568" cy="128016"/>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008E8E"/>
                </a:solidFill>
                <a:latin typeface="Arial"/>
              </a:rPr>
              <a:t>ACCOUNTING</a:t>
            </a:r>
          </a:p>
        </p:txBody>
      </p:sp>
      <p:sp>
        <p:nvSpPr>
          <p:cNvPr id="14" name="TextBox 13"/>
          <p:cNvSpPr txBox="1"/>
          <p:nvPr/>
        </p:nvSpPr>
        <p:spPr>
          <a:xfrm>
            <a:off x="46085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Invoice date, payment date, and revenue-recognition date can differ.</a:t>
            </a:r>
          </a:p>
        </p:txBody>
      </p:sp>
      <p:sp>
        <p:nvSpPr>
          <p:cNvPr id="15" name="Rounded Rectangle 14"/>
          <p:cNvSpPr/>
          <p:nvPr/>
        </p:nvSpPr>
        <p:spPr>
          <a:xfrm>
            <a:off x="8028431"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28431" y="1874519"/>
            <a:ext cx="3401568" cy="12801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6175"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7C3AED"/>
                </a:solidFill>
                <a:latin typeface="Arial"/>
              </a:rPr>
              <a:t>CONTROL</a:t>
            </a:r>
          </a:p>
        </p:txBody>
      </p:sp>
      <p:sp>
        <p:nvSpPr>
          <p:cNvPr id="18" name="TextBox 17"/>
          <p:cNvSpPr txBox="1"/>
          <p:nvPr/>
        </p:nvSpPr>
        <p:spPr>
          <a:xfrm>
            <a:off x="8266175" y="2999232"/>
            <a:ext cx="2926080" cy="2487168"/>
          </a:xfrm>
          <a:prstGeom prst="rect">
            <a:avLst/>
          </a:prstGeom>
          <a:noFill/>
        </p:spPr>
        <p:txBody>
          <a:bodyPr wrap="square" anchor="t" lIns="54864" rIns="54864" tIns="54864" bIns="54864">
            <a:spAutoFit/>
          </a:bodyPr>
          <a:lstStyle/>
          <a:p>
            <a:pPr algn="l">
              <a:spcAft>
                <a:spcPts val="400"/>
              </a:spcAft>
            </a:pPr>
            <a:r>
              <a:rPr sz="1250" b="0">
                <a:solidFill>
                  <a:srgbClr val="17242B"/>
                </a:solidFill>
                <a:latin typeface="Arial"/>
              </a:rPr>
              <a:t>Project deposits, progress billing, credits, refunds, and variable consideration require consistent policy mapping. QuickBooks forms operationalise the approved policy; they do not replace contract analysis.</a:t>
            </a:r>
          </a:p>
        </p:txBody>
      </p:sp>
      <p:sp>
        <p:nvSpPr>
          <p:cNvPr id="19" name="TextBox 18"/>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0" name="TextBox 19"/>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1" name="TextBox 20"/>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106</a:t>
            </a:r>
          </a:p>
        </p:txBody>
      </p:sp>
    </p:spTree>
  </p:cSld>
  <p:transition spd="slow">
    <p:fade/>
  </p:transition>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WORKED CONTROL CHECK</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Revenue recognition · Acceptance logic</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Identify the contract, performance obligations, transaction price, allocation, and satisfaction pattern.</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Invoice date, payment date, and revenue-recognition date can differ.</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Project deposits, progress billing, credits, refunds, and variable consideration require consistent policy mapping.</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QuickBooks forms operationalise the approved policy; they do not replace contract analysis.</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107</a:t>
            </a:r>
          </a:p>
        </p:txBody>
      </p:sp>
    </p:spTree>
  </p:cSld>
  <p:transition spd="slow">
    <p:fade/>
  </p:transition>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COST AND NRV</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Inventory measurement</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Inventory includes eligible purchase and conversion costs under the applicable policy, not every related expenditure.</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Compare carrying amount with net realisable value and recognise write-downs where required.</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Obsolescence, damage, slow movement, negative quantities, and post-period sales inform the estimate.</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A quantity adjustment changes both operational records and financial results; evidence and approval are essential.</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108</a:t>
            </a:r>
          </a:p>
        </p:txBody>
      </p:sp>
    </p:spTree>
  </p:cSld>
  <p:transition spd="slow">
    <p:fade/>
  </p:transition>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91640"/>
            <a:ext cx="10241280" cy="320040"/>
          </a:xfrm>
          <a:prstGeom prst="rect">
            <a:avLst/>
          </a:prstGeom>
          <a:noFill/>
        </p:spPr>
        <p:txBody>
          <a:bodyPr wrap="square" anchor="t" lIns="54864" rIns="54864" tIns="54864" bIns="54864">
            <a:spAutoFit/>
          </a:bodyPr>
          <a:lstStyle/>
          <a:p>
            <a:pPr algn="l">
              <a:spcAft>
                <a:spcPts val="400"/>
              </a:spcAft>
            </a:pPr>
            <a:r>
              <a:rPr sz="1200" b="1">
                <a:solidFill>
                  <a:srgbClr val="F59E0B"/>
                </a:solidFill>
                <a:latin typeface="Arial"/>
              </a:rPr>
              <a:t>COST AND NRV</a:t>
            </a:r>
          </a:p>
        </p:txBody>
      </p:sp>
      <p:sp>
        <p:nvSpPr>
          <p:cNvPr id="5" name="TextBox 4"/>
          <p:cNvSpPr txBox="1"/>
          <p:nvPr/>
        </p:nvSpPr>
        <p:spPr>
          <a:xfrm>
            <a:off x="914400" y="2194560"/>
            <a:ext cx="10241280" cy="1828800"/>
          </a:xfrm>
          <a:prstGeom prst="rect">
            <a:avLst/>
          </a:prstGeom>
          <a:noFill/>
        </p:spPr>
        <p:txBody>
          <a:bodyPr wrap="square" anchor="ctr" lIns="54864" rIns="54864" tIns="54864" bIns="54864">
            <a:spAutoFit/>
          </a:bodyPr>
          <a:lstStyle/>
          <a:p>
            <a:pPr algn="l">
              <a:spcAft>
                <a:spcPts val="400"/>
              </a:spcAft>
            </a:pPr>
            <a:r>
              <a:rPr sz="3000" b="1">
                <a:solidFill>
                  <a:srgbClr val="17242B"/>
                </a:solidFill>
                <a:latin typeface="Arial"/>
              </a:rPr>
              <a:t>Inventory includes eligible purchase and conversion costs under the applicable policy, not every related expenditure.</a:t>
            </a:r>
          </a:p>
        </p:txBody>
      </p:sp>
      <p:sp>
        <p:nvSpPr>
          <p:cNvPr id="6" name="TextBox 5"/>
          <p:cNvSpPr txBox="1"/>
          <p:nvPr/>
        </p:nvSpPr>
        <p:spPr>
          <a:xfrm>
            <a:off x="932688" y="4224528"/>
            <a:ext cx="9875520" cy="1325880"/>
          </a:xfrm>
          <a:prstGeom prst="rect">
            <a:avLst/>
          </a:prstGeom>
          <a:noFill/>
        </p:spPr>
        <p:txBody>
          <a:bodyPr wrap="square" anchor="t" lIns="54864" rIns="54864" tIns="54864" bIns="54864">
            <a:spAutoFit/>
          </a:bodyPr>
          <a:lstStyle/>
          <a:p>
            <a:pPr algn="l">
              <a:spcAft>
                <a:spcPts val="400"/>
              </a:spcAft>
            </a:pPr>
            <a:r>
              <a:rPr sz="1500" b="0">
                <a:solidFill>
                  <a:srgbClr val="5B6573"/>
                </a:solidFill>
                <a:latin typeface="Arial"/>
              </a:rPr>
              <a:t>Compare carrying amount with net realisable value and recognise write-downs where required. Obsolescence, damage, slow movement, negative quantities, and post-period sales inform the estimate. A quantity adjustment changes both operational records and financial results; evidence and approval are essential.</a:t>
            </a:r>
          </a:p>
        </p:txBody>
      </p:sp>
      <p:sp>
        <p:nvSpPr>
          <p:cNvPr id="7" name="TextBox 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8" name="TextBox 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9" name="TextBox 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109</a:t>
            </a:r>
          </a:p>
        </p:txBody>
      </p:sp>
    </p:spTree>
  </p:cSld>
  <p:transition spd="slow">
    <p:fade/>
  </p:transition>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CAPITALISE, DEPRECIATE, IMPAIR</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Property, plant and equipment</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Capitalise when recognition criteria are met; expense repairs and routine maintenance under the policy.</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Component, useful life, residual value, method, and start date drive depreciation.</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Review indicators of impairment and changes in estimates; apply prospectively where required.</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Maintain a fixed-asset register outside or alongside QuickBooks and reconcile it to cost and accumulated depreciation accounts.</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110</a:t>
            </a:r>
          </a:p>
        </p:txBody>
      </p:sp>
    </p:spTree>
  </p:cSld>
  <p:transition spd="slow">
    <p:fade/>
  </p:transition>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CAPITALISE, DEPRECIATE, IMPAIR</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Property, plant and equipment · Review questions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Capitalise when recognition criteria are met; expense repairs and routine maintenance under the policy.</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Component, useful life, residual value, method, and start date drive depreciation.</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Review indicators of impairment and changes in estimates; apply prospectively where required.</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Maintain a fixed-asset register outside or alongside QuickBooks and reconcile it to cost and accumulated depreciation accounts.</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111</a:t>
            </a:r>
          </a:p>
        </p:txBody>
      </p:sp>
    </p:spTree>
  </p:cSld>
  <p:transition spd="slow">
    <p:fade/>
  </p:transition>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TRANSACTION AND CLOSING-RATE EFFECTS</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Foreign currency</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Record foreign-currency transactions using the applicable transaction-date rate and preserve source evidence.</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Remeasure monetary balances at reporting date where required; recognise exchange differences appropriately.</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Distinguish transaction currency, functional currency, and presentation currency.</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Subscription features and exchange-rate automation do not remove the need for policy, reasonableness, and close review.</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112</a:t>
            </a:r>
          </a:p>
        </p:txBody>
      </p:sp>
    </p:spTree>
  </p:cSld>
  <p:transition spd="slow">
    <p:fade/>
  </p:transition>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TRANSACTION AND CLOSING-RATE EFFECTS</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Foreign currency · Design vs evidence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303520" cy="432511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5303520" cy="10972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 y="2029968"/>
            <a:ext cx="4800600" cy="384048"/>
          </a:xfrm>
          <a:prstGeom prst="rect">
            <a:avLst/>
          </a:prstGeom>
          <a:noFill/>
        </p:spPr>
        <p:txBody>
          <a:bodyPr wrap="square" anchor="t" lIns="54864" rIns="54864" tIns="54864" bIns="54864">
            <a:spAutoFit/>
          </a:bodyPr>
          <a:lstStyle/>
          <a:p>
            <a:pPr algn="l">
              <a:spcAft>
                <a:spcPts val="400"/>
              </a:spcAft>
            </a:pPr>
            <a:r>
              <a:rPr sz="1700" b="1">
                <a:solidFill>
                  <a:srgbClr val="1F6FEB"/>
                </a:solidFill>
                <a:latin typeface="Arial"/>
              </a:rPr>
              <a:t>DESIGN / DECIDE</a:t>
            </a:r>
          </a:p>
        </p:txBody>
      </p:sp>
      <p:sp>
        <p:nvSpPr>
          <p:cNvPr id="10" name="Oval 9"/>
          <p:cNvSpPr/>
          <p:nvPr/>
        </p:nvSpPr>
        <p:spPr>
          <a:xfrm>
            <a:off x="969264" y="2606040"/>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2615184"/>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2" name="TextBox 11"/>
          <p:cNvSpPr txBox="1"/>
          <p:nvPr/>
        </p:nvSpPr>
        <p:spPr>
          <a:xfrm>
            <a:off x="1426464" y="2578608"/>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Record foreign-currency transactions using the applicable transaction-date rate and preserve source evidence.</a:t>
            </a:r>
          </a:p>
        </p:txBody>
      </p:sp>
      <p:sp>
        <p:nvSpPr>
          <p:cNvPr id="13" name="Oval 12"/>
          <p:cNvSpPr/>
          <p:nvPr/>
        </p:nvSpPr>
        <p:spPr>
          <a:xfrm>
            <a:off x="969264" y="3438144"/>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47288"/>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15" name="TextBox 14"/>
          <p:cNvSpPr txBox="1"/>
          <p:nvPr/>
        </p:nvSpPr>
        <p:spPr>
          <a:xfrm>
            <a:off x="1426464" y="3410712"/>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Remeasure monetary balances at reporting date where required; recognise exchange differences appropriately.</a:t>
            </a:r>
          </a:p>
        </p:txBody>
      </p:sp>
      <p:sp>
        <p:nvSpPr>
          <p:cNvPr id="16" name="Rounded Rectangle 15"/>
          <p:cNvSpPr/>
          <p:nvPr/>
        </p:nvSpPr>
        <p:spPr>
          <a:xfrm>
            <a:off x="6199632" y="1783080"/>
            <a:ext cx="5303520" cy="432511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9632" y="1783080"/>
            <a:ext cx="5303520" cy="109728"/>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55664" y="2029968"/>
            <a:ext cx="4800600" cy="384048"/>
          </a:xfrm>
          <a:prstGeom prst="rect">
            <a:avLst/>
          </a:prstGeom>
          <a:noFill/>
        </p:spPr>
        <p:txBody>
          <a:bodyPr wrap="square" anchor="t" lIns="54864" rIns="54864" tIns="54864" bIns="54864">
            <a:spAutoFit/>
          </a:bodyPr>
          <a:lstStyle/>
          <a:p>
            <a:pPr algn="l">
              <a:spcAft>
                <a:spcPts val="400"/>
              </a:spcAft>
            </a:pPr>
            <a:r>
              <a:rPr sz="1700" b="1">
                <a:solidFill>
                  <a:srgbClr val="008E8E"/>
                </a:solidFill>
                <a:latin typeface="Arial"/>
              </a:rPr>
              <a:t>VERIFY / CONTROL</a:t>
            </a:r>
          </a:p>
        </p:txBody>
      </p:sp>
      <p:sp>
        <p:nvSpPr>
          <p:cNvPr id="19" name="Oval 18"/>
          <p:cNvSpPr/>
          <p:nvPr/>
        </p:nvSpPr>
        <p:spPr>
          <a:xfrm>
            <a:off x="6455664" y="2606040"/>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55664" y="2615184"/>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21" name="TextBox 20"/>
          <p:cNvSpPr txBox="1"/>
          <p:nvPr/>
        </p:nvSpPr>
        <p:spPr>
          <a:xfrm>
            <a:off x="6912864" y="2578608"/>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Distinguish transaction currency, functional currency, and presentation currency.</a:t>
            </a:r>
          </a:p>
        </p:txBody>
      </p:sp>
      <p:sp>
        <p:nvSpPr>
          <p:cNvPr id="22" name="Oval 21"/>
          <p:cNvSpPr/>
          <p:nvPr/>
        </p:nvSpPr>
        <p:spPr>
          <a:xfrm>
            <a:off x="6455664" y="3438144"/>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5664" y="3447288"/>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4" name="TextBox 23"/>
          <p:cNvSpPr txBox="1"/>
          <p:nvPr/>
        </p:nvSpPr>
        <p:spPr>
          <a:xfrm>
            <a:off x="6912864" y="3410712"/>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Subscription features and exchange-rate automation do not remove the need for policy, reasonableness, and close review.</a:t>
            </a:r>
          </a:p>
        </p:txBody>
      </p:sp>
      <p:sp>
        <p:nvSpPr>
          <p:cNvPr id="25" name="TextBox 24"/>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6" name="TextBox 25"/>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7" name="TextBox 26"/>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113</a:t>
            </a:r>
          </a:p>
        </p:txBody>
      </p:sp>
    </p:spTree>
  </p:cSld>
  <p:transition spd="slow">
    <p:fade/>
  </p:transition>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CHANGE CLASSIFICATION</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Estimates, errors, and policy changes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A change in estimate reflects new information; a prior-period error corrects information that was available or could reasonably have been obtained.</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A policy change follows the applicable standard and transition rules; do not label every correction an estimate.</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Assess materiality individually and in aggregate, including qualitative effects on users and covenants.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Preserve an adjustment paper: issue, requirement, calculation, entries, statements affected, disclosure, approval, and evidence.</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114</a:t>
            </a:r>
          </a:p>
        </p:txBody>
      </p:sp>
    </p:spTree>
  </p:cSld>
  <p:transition spd="slow">
    <p:fade/>
  </p:transition>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CHANGE CLASSIFICATION</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400" b="1">
                <a:solidFill>
                  <a:srgbClr val="17242B"/>
                </a:solidFill>
                <a:latin typeface="Arial"/>
              </a:rPr>
              <a:t>Estimates, errors, and policy changes · Control flow</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577340" y="2414016"/>
            <a:ext cx="731520" cy="73152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77340"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1</a:t>
            </a:r>
          </a:p>
        </p:txBody>
      </p:sp>
      <p:sp>
        <p:nvSpPr>
          <p:cNvPr id="10" name="TextBox 9"/>
          <p:cNvSpPr txBox="1"/>
          <p:nvPr/>
        </p:nvSpPr>
        <p:spPr>
          <a:xfrm>
            <a:off x="768096" y="3346704"/>
            <a:ext cx="2350008" cy="1481328"/>
          </a:xfrm>
          <a:prstGeom prst="rect">
            <a:avLst/>
          </a:prstGeom>
          <a:noFill/>
        </p:spPr>
        <p:txBody>
          <a:bodyPr wrap="square" anchor="ctr" lIns="54864" rIns="54864" tIns="54864" bIns="54864">
            <a:spAutoFit/>
          </a:bodyPr>
          <a:lstStyle/>
          <a:p>
            <a:pPr algn="ctr">
              <a:spcAft>
                <a:spcPts val="400"/>
              </a:spcAft>
            </a:pPr>
            <a:r>
              <a:rPr sz="1000" b="0">
                <a:solidFill>
                  <a:srgbClr val="17242B"/>
                </a:solidFill>
                <a:latin typeface="Arial"/>
              </a:rPr>
              <a:t>A change in estimate reflects new information; a prior-period error corrects information that was available or could reasonably have been obtained.</a:t>
            </a:r>
          </a:p>
        </p:txBody>
      </p:sp>
      <p:sp>
        <p:nvSpPr>
          <p:cNvPr id="11" name="TextBox 10"/>
          <p:cNvSpPr txBox="1"/>
          <p:nvPr/>
        </p:nvSpPr>
        <p:spPr>
          <a:xfrm>
            <a:off x="3209544"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1F6FEB"/>
                </a:solidFill>
                <a:latin typeface="Arial"/>
              </a:rPr>
              <a:t>▶</a:t>
            </a:r>
          </a:p>
        </p:txBody>
      </p:sp>
      <p:sp>
        <p:nvSpPr>
          <p:cNvPr id="12" name="Rounded Rectangle 11"/>
          <p:cNvSpPr/>
          <p:nvPr/>
        </p:nvSpPr>
        <p:spPr>
          <a:xfrm>
            <a:off x="3429000"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347972" y="2414016"/>
            <a:ext cx="731520" cy="731520"/>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47972"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2</a:t>
            </a:r>
          </a:p>
        </p:txBody>
      </p:sp>
      <p:sp>
        <p:nvSpPr>
          <p:cNvPr id="15" name="TextBox 14"/>
          <p:cNvSpPr txBox="1"/>
          <p:nvPr/>
        </p:nvSpPr>
        <p:spPr>
          <a:xfrm>
            <a:off x="3538728"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A policy change follows the applicable standard and transition rules; do not label every correction an estimate.</a:t>
            </a:r>
          </a:p>
        </p:txBody>
      </p:sp>
      <p:sp>
        <p:nvSpPr>
          <p:cNvPr id="16" name="TextBox 15"/>
          <p:cNvSpPr txBox="1"/>
          <p:nvPr/>
        </p:nvSpPr>
        <p:spPr>
          <a:xfrm>
            <a:off x="5980176"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008E8E"/>
                </a:solidFill>
                <a:latin typeface="Arial"/>
              </a:rPr>
              <a:t>▶</a:t>
            </a:r>
          </a:p>
        </p:txBody>
      </p:sp>
      <p:sp>
        <p:nvSpPr>
          <p:cNvPr id="17" name="Rounded Rectangle 16"/>
          <p:cNvSpPr/>
          <p:nvPr/>
        </p:nvSpPr>
        <p:spPr>
          <a:xfrm>
            <a:off x="6199632"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18604" y="2414016"/>
            <a:ext cx="731520" cy="73152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18604"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3</a:t>
            </a:r>
          </a:p>
        </p:txBody>
      </p:sp>
      <p:sp>
        <p:nvSpPr>
          <p:cNvPr id="20" name="TextBox 19"/>
          <p:cNvSpPr txBox="1"/>
          <p:nvPr/>
        </p:nvSpPr>
        <p:spPr>
          <a:xfrm>
            <a:off x="6309360"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Assess materiality individually and in aggregate, including qualitative effects on users and covenants.</a:t>
            </a:r>
          </a:p>
        </p:txBody>
      </p:sp>
      <p:sp>
        <p:nvSpPr>
          <p:cNvPr id="21" name="TextBox 20"/>
          <p:cNvSpPr txBox="1"/>
          <p:nvPr/>
        </p:nvSpPr>
        <p:spPr>
          <a:xfrm>
            <a:off x="8750808"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7C3AED"/>
                </a:solidFill>
                <a:latin typeface="Arial"/>
              </a:rPr>
              <a:t>▶</a:t>
            </a:r>
          </a:p>
        </p:txBody>
      </p:sp>
      <p:sp>
        <p:nvSpPr>
          <p:cNvPr id="22" name="Rounded Rectangle 21"/>
          <p:cNvSpPr/>
          <p:nvPr/>
        </p:nvSpPr>
        <p:spPr>
          <a:xfrm>
            <a:off x="8970264"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889236" y="2414016"/>
            <a:ext cx="731520" cy="73152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89236"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4</a:t>
            </a:r>
          </a:p>
        </p:txBody>
      </p:sp>
      <p:sp>
        <p:nvSpPr>
          <p:cNvPr id="25" name="TextBox 24"/>
          <p:cNvSpPr txBox="1"/>
          <p:nvPr/>
        </p:nvSpPr>
        <p:spPr>
          <a:xfrm>
            <a:off x="9079992"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Preserve an adjustment paper: issue, requirement, calculation, entries, statements affected, disclosure, approval, and evidence.</a:t>
            </a:r>
          </a:p>
        </p:txBody>
      </p:sp>
      <p:sp>
        <p:nvSpPr>
          <p:cNvPr id="26" name="TextBox 25"/>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7" name="TextBox 26"/>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8" name="TextBox 27"/>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115</a:t>
            </a:r>
          </a:p>
        </p:txBody>
      </p:sp>
    </p:spTree>
  </p:cSld>
  <p:transition spd="slow">
    <p:fade/>
  </p:transition>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WORKED CONTROL CHECK</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400" b="1">
                <a:solidFill>
                  <a:srgbClr val="17242B"/>
                </a:solidFill>
                <a:latin typeface="Arial"/>
              </a:rPr>
              <a:t>Estimates, errors, and policy changes · Acceptance logic</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A change in estimate reflects new information; a prior-period error corrects information that was available or could reasonably have been obtained.</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A policy change follows the applicable standard and transition rules; do not label every correction an estimate.</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Assess materiality individually and in aggregate, including qualitative effects on users and covenants.</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Preserve an adjustment paper: issue, requirement, calculation, entries, statements affected, disclosure, approval, and evidence.</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116</a:t>
            </a:r>
          </a:p>
        </p:txBody>
      </p:sp>
    </p:spTree>
  </p:cSld>
  <p:transition spd="slow">
    <p:fade/>
  </p:transition>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DECISION LENS</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Qualitative characteristics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Relevance: information can influence decisions; materiality is entity-specific.</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Faithful representation: complete, neutral, and free from material error—not merely precise-looking.</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Comparability and consistency help users understand change; consistency is not a reason to preserve a wrong policy.</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Verifiability, timeliness, and understandability constrain how treatments, evidence, and explanations are designed.</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117</a:t>
            </a:r>
          </a:p>
        </p:txBody>
      </p:sp>
    </p:spTree>
  </p:cSld>
  <p:transition spd="slow">
    <p:fade/>
  </p:transition>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DECISION LENS</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Qualitative characteristics · Three lenses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874519"/>
            <a:ext cx="3401568" cy="12801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1F6FEB"/>
                </a:solidFill>
                <a:latin typeface="Arial"/>
              </a:rPr>
              <a:t>EVENT</a:t>
            </a:r>
          </a:p>
        </p:txBody>
      </p:sp>
      <p:sp>
        <p:nvSpPr>
          <p:cNvPr id="10" name="TextBox 9"/>
          <p:cNvSpPr txBox="1"/>
          <p:nvPr/>
        </p:nvSpPr>
        <p:spPr>
          <a:xfrm>
            <a:off x="9509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Relevance: information can influence decisions; materiality is entity-specific.</a:t>
            </a:r>
          </a:p>
        </p:txBody>
      </p:sp>
      <p:sp>
        <p:nvSpPr>
          <p:cNvPr id="11" name="Rounded Rectangle 10"/>
          <p:cNvSpPr/>
          <p:nvPr/>
        </p:nvSpPr>
        <p:spPr>
          <a:xfrm>
            <a:off x="43708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2" y="1874519"/>
            <a:ext cx="3401568" cy="128016"/>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008E8E"/>
                </a:solidFill>
                <a:latin typeface="Arial"/>
              </a:rPr>
              <a:t>ACCOUNTING</a:t>
            </a:r>
          </a:p>
        </p:txBody>
      </p:sp>
      <p:sp>
        <p:nvSpPr>
          <p:cNvPr id="14" name="TextBox 13"/>
          <p:cNvSpPr txBox="1"/>
          <p:nvPr/>
        </p:nvSpPr>
        <p:spPr>
          <a:xfrm>
            <a:off x="46085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Faithful representation: complete, neutral, and free from material error—not merely precise-looking.</a:t>
            </a:r>
          </a:p>
        </p:txBody>
      </p:sp>
      <p:sp>
        <p:nvSpPr>
          <p:cNvPr id="15" name="Rounded Rectangle 14"/>
          <p:cNvSpPr/>
          <p:nvPr/>
        </p:nvSpPr>
        <p:spPr>
          <a:xfrm>
            <a:off x="8028431"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28431" y="1874519"/>
            <a:ext cx="3401568" cy="12801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6175"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7C3AED"/>
                </a:solidFill>
                <a:latin typeface="Arial"/>
              </a:rPr>
              <a:t>CONTROL</a:t>
            </a:r>
          </a:p>
        </p:txBody>
      </p:sp>
      <p:sp>
        <p:nvSpPr>
          <p:cNvPr id="18" name="TextBox 17"/>
          <p:cNvSpPr txBox="1"/>
          <p:nvPr/>
        </p:nvSpPr>
        <p:spPr>
          <a:xfrm>
            <a:off x="8266175" y="2999232"/>
            <a:ext cx="2926080" cy="2487168"/>
          </a:xfrm>
          <a:prstGeom prst="rect">
            <a:avLst/>
          </a:prstGeom>
          <a:noFill/>
        </p:spPr>
        <p:txBody>
          <a:bodyPr wrap="square" anchor="t" lIns="54864" rIns="54864" tIns="54864" bIns="54864">
            <a:spAutoFit/>
          </a:bodyPr>
          <a:lstStyle/>
          <a:p>
            <a:pPr algn="l">
              <a:spcAft>
                <a:spcPts val="400"/>
              </a:spcAft>
            </a:pPr>
            <a:r>
              <a:rPr sz="1250" b="0">
                <a:solidFill>
                  <a:srgbClr val="17242B"/>
                </a:solidFill>
                <a:latin typeface="Arial"/>
              </a:rPr>
              <a:t>Comparability and consistency help users understand change; consistency is not a reason to preserve a wrong policy. Verifiability, timeliness, and understandability constrain how treatments, evidence, and explanations are designed.</a:t>
            </a:r>
          </a:p>
        </p:txBody>
      </p:sp>
      <p:sp>
        <p:nvSpPr>
          <p:cNvPr id="19" name="TextBox 18"/>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0" name="TextBox 19"/>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1" name="TextBox 20"/>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118</a:t>
            </a:r>
          </a:p>
        </p:txBody>
      </p:sp>
    </p:spTree>
  </p:cSld>
  <p:transition spd="slow">
    <p:fade/>
  </p:transition>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WORKED CONTROL CHECK</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Qualitative characteristics · Acceptance logic</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Relevance: information can influence decisions; materiality is entity-specific.</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Faithful representation: complete, neutral, and free from material error—not merely precise-looking.</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Comparability and consistency help users understand change; consistency is not a reason to preserve a wrong policy.</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Verifiability, timeliness, and understandability constrain how treatments, evidence, and explanations are designed.</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119</a:t>
            </a:r>
          </a:p>
        </p:txBody>
      </p:sp>
    </p:spTree>
  </p:cSld>
  <p:transition spd="slow">
    <p:fade/>
  </p:transition>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IMPACT REVIEW</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System-to-standard bridge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Translate a new or changed requirement into affected transactions, masters, estimates, reports, controls, and disclosures.</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Determine opening/transition adjustments, effective date, comparative treatment, and audit evidence.</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Configure accounts, products/services, recurring entries, custom fields, reports, and close checklists only after policy approval.</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Test the full chain in a sample company before production and document residual manual controls.</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120</a:t>
            </a:r>
          </a:p>
        </p:txBody>
      </p:sp>
    </p:spTree>
  </p:cSld>
  <p:transition spd="slow">
    <p:fade/>
  </p:transition>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91640"/>
            <a:ext cx="10241280" cy="320040"/>
          </a:xfrm>
          <a:prstGeom prst="rect">
            <a:avLst/>
          </a:prstGeom>
          <a:noFill/>
        </p:spPr>
        <p:txBody>
          <a:bodyPr wrap="square" anchor="t" lIns="54864" rIns="54864" tIns="54864" bIns="54864">
            <a:spAutoFit/>
          </a:bodyPr>
          <a:lstStyle/>
          <a:p>
            <a:pPr algn="l">
              <a:spcAft>
                <a:spcPts val="400"/>
              </a:spcAft>
            </a:pPr>
            <a:r>
              <a:rPr sz="1200" b="1">
                <a:solidFill>
                  <a:srgbClr val="F59E0B"/>
                </a:solidFill>
                <a:latin typeface="Arial"/>
              </a:rPr>
              <a:t>IMPACT REVIEW</a:t>
            </a:r>
          </a:p>
        </p:txBody>
      </p:sp>
      <p:sp>
        <p:nvSpPr>
          <p:cNvPr id="5" name="TextBox 4"/>
          <p:cNvSpPr txBox="1"/>
          <p:nvPr/>
        </p:nvSpPr>
        <p:spPr>
          <a:xfrm>
            <a:off x="914400" y="2194560"/>
            <a:ext cx="10241280" cy="1828800"/>
          </a:xfrm>
          <a:prstGeom prst="rect">
            <a:avLst/>
          </a:prstGeom>
          <a:noFill/>
        </p:spPr>
        <p:txBody>
          <a:bodyPr wrap="square" anchor="ctr" lIns="54864" rIns="54864" tIns="54864" bIns="54864">
            <a:spAutoFit/>
          </a:bodyPr>
          <a:lstStyle/>
          <a:p>
            <a:pPr algn="l">
              <a:spcAft>
                <a:spcPts val="400"/>
              </a:spcAft>
            </a:pPr>
            <a:r>
              <a:rPr sz="3000" b="1">
                <a:solidFill>
                  <a:srgbClr val="17242B"/>
                </a:solidFill>
                <a:latin typeface="Arial"/>
              </a:rPr>
              <a:t>Translate a new or changed requirement into affected transactions, masters, estimates, reports, controls, and disclosures.</a:t>
            </a:r>
          </a:p>
        </p:txBody>
      </p:sp>
      <p:sp>
        <p:nvSpPr>
          <p:cNvPr id="6" name="TextBox 5"/>
          <p:cNvSpPr txBox="1"/>
          <p:nvPr/>
        </p:nvSpPr>
        <p:spPr>
          <a:xfrm>
            <a:off x="932688" y="4224528"/>
            <a:ext cx="9875520" cy="1325880"/>
          </a:xfrm>
          <a:prstGeom prst="rect">
            <a:avLst/>
          </a:prstGeom>
          <a:noFill/>
        </p:spPr>
        <p:txBody>
          <a:bodyPr wrap="square" anchor="t" lIns="54864" rIns="54864" tIns="54864" bIns="54864">
            <a:spAutoFit/>
          </a:bodyPr>
          <a:lstStyle/>
          <a:p>
            <a:pPr algn="l">
              <a:spcAft>
                <a:spcPts val="400"/>
              </a:spcAft>
            </a:pPr>
            <a:r>
              <a:rPr sz="1500" b="0">
                <a:solidFill>
                  <a:srgbClr val="5B6573"/>
                </a:solidFill>
                <a:latin typeface="Arial"/>
              </a:rPr>
              <a:t>Determine opening/transition adjustments, effective date, comparative treatment, and audit evidence. Configure accounts, products/services, recurring entries, custom fields, reports, and close checklists only after policy approval. Test the full chain in a sample company before production and document residual manual controls.</a:t>
            </a:r>
          </a:p>
        </p:txBody>
      </p:sp>
      <p:sp>
        <p:nvSpPr>
          <p:cNvPr id="7" name="TextBox 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8" name="TextBox 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9" name="TextBox 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121</a:t>
            </a:r>
          </a:p>
        </p:txBody>
      </p:sp>
    </p:spTree>
  </p:cSld>
  <p:transition spd="slow">
    <p:fade/>
  </p:transition>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8" y="1920240"/>
            <a:ext cx="9326880" cy="347472"/>
          </a:xfrm>
          <a:prstGeom prst="rect">
            <a:avLst/>
          </a:prstGeom>
          <a:noFill/>
        </p:spPr>
        <p:txBody>
          <a:bodyPr wrap="square" anchor="t" lIns="54864" rIns="54864" tIns="54864" bIns="54864">
            <a:spAutoFit/>
          </a:bodyPr>
          <a:lstStyle/>
          <a:p>
            <a:pPr algn="l">
              <a:spcAft>
                <a:spcPts val="400"/>
              </a:spcAft>
            </a:pPr>
            <a:r>
              <a:rPr sz="1300" b="1">
                <a:solidFill>
                  <a:srgbClr val="7C3AED"/>
                </a:solidFill>
                <a:latin typeface="Arial"/>
              </a:rPr>
              <a:t>TOPIC 3 PRACTICE</a:t>
            </a:r>
          </a:p>
        </p:txBody>
      </p:sp>
      <p:sp>
        <p:nvSpPr>
          <p:cNvPr id="5" name="TextBox 4"/>
          <p:cNvSpPr txBox="1"/>
          <p:nvPr/>
        </p:nvSpPr>
        <p:spPr>
          <a:xfrm>
            <a:off x="841248" y="2359152"/>
            <a:ext cx="9875520" cy="1234440"/>
          </a:xfrm>
          <a:prstGeom prst="rect">
            <a:avLst/>
          </a:prstGeom>
          <a:noFill/>
        </p:spPr>
        <p:txBody>
          <a:bodyPr wrap="square" anchor="ctr" lIns="54864" rIns="54864" tIns="54864" bIns="54864">
            <a:spAutoFit/>
          </a:bodyPr>
          <a:lstStyle/>
          <a:p>
            <a:pPr algn="l">
              <a:spcAft>
                <a:spcPts val="400"/>
              </a:spcAft>
            </a:pPr>
            <a:r>
              <a:rPr sz="3900" b="1">
                <a:solidFill>
                  <a:srgbClr val="17242B"/>
                </a:solidFill>
                <a:latin typeface="Arial"/>
              </a:rPr>
              <a:t>Progressive Activities</a:t>
            </a:r>
          </a:p>
        </p:txBody>
      </p:sp>
      <p:sp>
        <p:nvSpPr>
          <p:cNvPr id="6" name="TextBox 5"/>
          <p:cNvSpPr txBox="1"/>
          <p:nvPr/>
        </p:nvSpPr>
        <p:spPr>
          <a:xfrm>
            <a:off x="859536" y="3858768"/>
            <a:ext cx="9692640" cy="713232"/>
          </a:xfrm>
          <a:prstGeom prst="rect">
            <a:avLst/>
          </a:prstGeom>
          <a:noFill/>
        </p:spPr>
        <p:txBody>
          <a:bodyPr wrap="square" anchor="t" lIns="54864" rIns="54864" tIns="54864" bIns="54864">
            <a:spAutoFit/>
          </a:bodyPr>
          <a:lstStyle/>
          <a:p>
            <a:pPr algn="l">
              <a:spcAft>
                <a:spcPts val="400"/>
              </a:spcAft>
            </a:pPr>
            <a:r>
              <a:rPr sz="1600" b="0">
                <a:solidFill>
                  <a:srgbClr val="5B6573"/>
                </a:solidFill>
                <a:latin typeface="Arial"/>
              </a:rPr>
              <a:t>Detailed click-by-click instructions, mock data, workbooks, evidence, and acceptance tests are in each activity folder and the Learner Guide.</a:t>
            </a:r>
          </a:p>
        </p:txBody>
      </p:sp>
      <p:sp>
        <p:nvSpPr>
          <p:cNvPr id="7" name="TextBox 6"/>
          <p:cNvSpPr txBox="1"/>
          <p:nvPr/>
        </p:nvSpPr>
        <p:spPr>
          <a:xfrm>
            <a:off x="9784080" y="566928"/>
            <a:ext cx="1645920" cy="1097280"/>
          </a:xfrm>
          <a:prstGeom prst="rect">
            <a:avLst/>
          </a:prstGeom>
          <a:noFill/>
        </p:spPr>
        <p:txBody>
          <a:bodyPr wrap="square" anchor="t" lIns="54864" rIns="54864" tIns="54864" bIns="54864">
            <a:spAutoFit/>
          </a:bodyPr>
          <a:lstStyle/>
          <a:p>
            <a:pPr algn="r">
              <a:spcAft>
                <a:spcPts val="400"/>
              </a:spcAft>
            </a:pPr>
            <a:r>
              <a:rPr sz="5800" b="1">
                <a:solidFill>
                  <a:srgbClr val="DFE6ED"/>
                </a:solidFill>
                <a:latin typeface="Arial"/>
              </a:rPr>
              <a:t>A12</a:t>
            </a:r>
          </a:p>
        </p:txBody>
      </p:sp>
      <p:sp>
        <p:nvSpPr>
          <p:cNvPr id="8" name="TextBox 7"/>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9" name="TextBox 8"/>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0" name="TextBox 9"/>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122</a:t>
            </a:r>
          </a:p>
        </p:txBody>
      </p:sp>
    </p:spTree>
  </p:cSld>
  <p:transition spd="slow">
    <p:fade/>
  </p:transition>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ACTIVITY 12 · CAPSTONE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400" b="1">
                <a:solidFill>
                  <a:srgbClr val="17242B"/>
                </a:solidFill>
                <a:latin typeface="Arial"/>
              </a:rPr>
              <a:t>Capstone: Translate a Reporting Change into Books and Reports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6629400" cy="169164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29968"/>
            <a:ext cx="6144768" cy="320040"/>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SCENARIO</a:t>
            </a:r>
          </a:p>
        </p:txBody>
      </p:sp>
      <p:sp>
        <p:nvSpPr>
          <p:cNvPr id="9" name="TextBox 8"/>
          <p:cNvSpPr txBox="1"/>
          <p:nvPr/>
        </p:nvSpPr>
        <p:spPr>
          <a:xfrm>
            <a:off x="960120" y="2450592"/>
            <a:ext cx="6144768" cy="822960"/>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Evergreen Events moves from cash-basis habits to an accrual reporting framework while introducing deposits, contract milestones, inventory, equipment, and foreign suppliers.</a:t>
            </a:r>
          </a:p>
        </p:txBody>
      </p:sp>
      <p:sp>
        <p:nvSpPr>
          <p:cNvPr id="10" name="Rounded Rectangle 9"/>
          <p:cNvSpPr/>
          <p:nvPr/>
        </p:nvSpPr>
        <p:spPr>
          <a:xfrm>
            <a:off x="713232" y="3730752"/>
            <a:ext cx="6629400" cy="2057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931920"/>
            <a:ext cx="6144768" cy="320040"/>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GOAL</a:t>
            </a:r>
          </a:p>
        </p:txBody>
      </p:sp>
      <p:sp>
        <p:nvSpPr>
          <p:cNvPr id="12" name="TextBox 11"/>
          <p:cNvSpPr txBox="1"/>
          <p:nvPr/>
        </p:nvSpPr>
        <p:spPr>
          <a:xfrm>
            <a:off x="960120" y="4334256"/>
            <a:ext cx="6144768" cy="1005840"/>
          </a:xfrm>
          <a:prstGeom prst="rect">
            <a:avLst/>
          </a:prstGeom>
          <a:noFill/>
        </p:spPr>
        <p:txBody>
          <a:bodyPr wrap="square" anchor="t" lIns="54864" rIns="54864" tIns="54864" bIns="54864">
            <a:spAutoFit/>
          </a:bodyPr>
          <a:lstStyle/>
          <a:p>
            <a:pPr algn="l">
              <a:spcAft>
                <a:spcPts val="400"/>
              </a:spcAft>
            </a:pPr>
            <a:r>
              <a:rPr sz="1500" b="1">
                <a:solidFill>
                  <a:srgbClr val="17242B"/>
                </a:solidFill>
                <a:latin typeface="Arial"/>
              </a:rPr>
              <a:t>Assess policy impacts, post a controlled close, produce corrected statements, and present the qualitative-characteristic effects to management.</a:t>
            </a:r>
          </a:p>
        </p:txBody>
      </p:sp>
      <p:sp>
        <p:nvSpPr>
          <p:cNvPr id="13" name="Rounded Rectangle 12"/>
          <p:cNvSpPr/>
          <p:nvPr/>
        </p:nvSpPr>
        <p:spPr>
          <a:xfrm>
            <a:off x="7644383" y="1828800"/>
            <a:ext cx="3867912" cy="395935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9560" y="2057400"/>
            <a:ext cx="3383280" cy="320040"/>
          </a:xfrm>
          <a:prstGeom prst="rect">
            <a:avLst/>
          </a:prstGeom>
          <a:noFill/>
        </p:spPr>
        <p:txBody>
          <a:bodyPr wrap="square" anchor="t" lIns="54864" rIns="54864" tIns="54864" bIns="54864">
            <a:spAutoFit/>
          </a:bodyPr>
          <a:lstStyle/>
          <a:p>
            <a:pPr algn="l">
              <a:spcAft>
                <a:spcPts val="400"/>
              </a:spcAft>
            </a:pPr>
            <a:r>
              <a:rPr sz="1100" b="1">
                <a:solidFill>
                  <a:srgbClr val="F59E0B"/>
                </a:solidFill>
                <a:latin typeface="Arial"/>
              </a:rPr>
              <a:t>DELIVERABLES</a:t>
            </a:r>
          </a:p>
        </p:txBody>
      </p:sp>
      <p:sp>
        <p:nvSpPr>
          <p:cNvPr id="15" name="Oval 14"/>
          <p:cNvSpPr/>
          <p:nvPr/>
        </p:nvSpPr>
        <p:spPr>
          <a:xfrm>
            <a:off x="7909560" y="2633472"/>
            <a:ext cx="329184" cy="32918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60" y="2642615"/>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7" name="TextBox 16"/>
          <p:cNvSpPr txBox="1"/>
          <p:nvPr/>
        </p:nvSpPr>
        <p:spPr>
          <a:xfrm>
            <a:off x="8394192" y="2606040"/>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Standards impact review</a:t>
            </a:r>
          </a:p>
        </p:txBody>
      </p:sp>
      <p:sp>
        <p:nvSpPr>
          <p:cNvPr id="18" name="Oval 17"/>
          <p:cNvSpPr/>
          <p:nvPr/>
        </p:nvSpPr>
        <p:spPr>
          <a:xfrm>
            <a:off x="7909560" y="3529584"/>
            <a:ext cx="329184" cy="32918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9560" y="3538727"/>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0" name="TextBox 19"/>
          <p:cNvSpPr txBox="1"/>
          <p:nvPr/>
        </p:nvSpPr>
        <p:spPr>
          <a:xfrm>
            <a:off x="8394192" y="3502152"/>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Approved adjustment pack and corrected statements</a:t>
            </a:r>
          </a:p>
        </p:txBody>
      </p:sp>
      <p:sp>
        <p:nvSpPr>
          <p:cNvPr id="21" name="Oval 20"/>
          <p:cNvSpPr/>
          <p:nvPr/>
        </p:nvSpPr>
        <p:spPr>
          <a:xfrm>
            <a:off x="7909560" y="4425696"/>
            <a:ext cx="329184" cy="32918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560" y="4434840"/>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3</a:t>
            </a:r>
          </a:p>
        </p:txBody>
      </p:sp>
      <p:sp>
        <p:nvSpPr>
          <p:cNvPr id="23" name="TextBox 22"/>
          <p:cNvSpPr txBox="1"/>
          <p:nvPr/>
        </p:nvSpPr>
        <p:spPr>
          <a:xfrm>
            <a:off x="8394192" y="4398264"/>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Management presentation with controls and disclosures</a:t>
            </a:r>
          </a:p>
        </p:txBody>
      </p:sp>
      <p:sp>
        <p:nvSpPr>
          <p:cNvPr id="24" name="TextBox 2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5" name="TextBox 2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6" name="TextBox 2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123</a:t>
            </a:r>
          </a:p>
        </p:txBody>
      </p:sp>
    </p:spTree>
  </p:cSld>
  <p:transition spd="slow">
    <p:fade/>
  </p:transition>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NO CLICK-BY-CLICK STEPS ON SLIDES · SEE LEARNER GUIDE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Activity 12 · Acceptance Criteria</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All standards impacts are addressed</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Entries and statements reconcile</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Qualitative-characteristic analysis is specific</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Management actions and controls are implementable</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124</a:t>
            </a:r>
          </a:p>
        </p:txBody>
      </p:sp>
    </p:spTree>
  </p:cSld>
  <p:transition spd="slow">
    <p:fade/>
  </p:transition>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WHAT YOU SHOULD NOW BE ABLE TO DO</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Topic 3 Recap</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Explain</a:t>
            </a:r>
          </a:p>
          <a:p>
            <a:pPr algn="l">
              <a:spcAft>
                <a:spcPts val="400"/>
              </a:spcAft>
            </a:pPr>
            <a:r>
              <a:rPr sz="1250" b="0">
                <a:solidFill>
                  <a:srgbClr val="5B6573"/>
                </a:solidFill>
                <a:latin typeface="Arial"/>
              </a:rPr>
              <a:t>State the accounting logic, not only the QuickBooks action.</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Reconcile</a:t>
            </a:r>
          </a:p>
          <a:p>
            <a:pPr algn="l">
              <a:spcAft>
                <a:spcPts val="400"/>
              </a:spcAft>
            </a:pPr>
            <a:r>
              <a:rPr sz="1250" b="0">
                <a:solidFill>
                  <a:srgbClr val="5B6573"/>
                </a:solidFill>
                <a:latin typeface="Arial"/>
              </a:rPr>
              <a:t>Tie the source, subledger, GL, report, and evidence.</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Challenge</a:t>
            </a:r>
          </a:p>
          <a:p>
            <a:pPr algn="l">
              <a:spcAft>
                <a:spcPts val="400"/>
              </a:spcAft>
            </a:pPr>
            <a:r>
              <a:rPr sz="1250" b="0">
                <a:solidFill>
                  <a:srgbClr val="5B6573"/>
                </a:solidFill>
                <a:latin typeface="Arial"/>
              </a:rPr>
              <a:t>Investigate exceptions, estimates, feature availability, and period effects.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Approve</a:t>
            </a:r>
          </a:p>
          <a:p>
            <a:pPr algn="l">
              <a:spcAft>
                <a:spcPts val="400"/>
              </a:spcAft>
            </a:pPr>
            <a:r>
              <a:rPr sz="1250" b="0">
                <a:solidFill>
                  <a:srgbClr val="5B6573"/>
                </a:solidFill>
                <a:latin typeface="Arial"/>
              </a:rPr>
              <a:t>Record ownership, judgement, conclusion, and sign-off.</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125</a:t>
            </a:r>
          </a:p>
        </p:txBody>
      </p:sp>
    </p:spTree>
  </p:cSld>
  <p:transition spd="slow">
    <p:fade/>
  </p:transition>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COURSE SUMMARY</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What You Achieved</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Transactions</a:t>
            </a:r>
          </a:p>
          <a:p>
            <a:pPr algn="l">
              <a:spcAft>
                <a:spcPts val="400"/>
              </a:spcAft>
            </a:pPr>
            <a:r>
              <a:rPr sz="1250" b="0">
                <a:solidFill>
                  <a:srgbClr val="5B6573"/>
                </a:solidFill>
                <a:latin typeface="Arial"/>
              </a:rPr>
              <a:t>Prepared advanced accounting treatments with control and evidence.</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Statements</a:t>
            </a:r>
          </a:p>
          <a:p>
            <a:pPr algn="l">
              <a:spcAft>
                <a:spcPts val="400"/>
              </a:spcAft>
            </a:pPr>
            <a:r>
              <a:rPr sz="1250" b="0">
                <a:solidFill>
                  <a:srgbClr val="5B6573"/>
                </a:solidFill>
                <a:latin typeface="Arial"/>
              </a:rPr>
              <a:t>Produced reconciled financial statements and supporting schedules.</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Analysis</a:t>
            </a:r>
          </a:p>
          <a:p>
            <a:pPr algn="l">
              <a:spcAft>
                <a:spcPts val="400"/>
              </a:spcAft>
            </a:pPr>
            <a:r>
              <a:rPr sz="1250" b="0">
                <a:solidFill>
                  <a:srgbClr val="5B6573"/>
                </a:solidFill>
                <a:latin typeface="Arial"/>
              </a:rPr>
              <a:t>Analysed drivers, risks, and actions for management.</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Standards</a:t>
            </a:r>
          </a:p>
          <a:p>
            <a:pPr algn="l">
              <a:spcAft>
                <a:spcPts val="400"/>
              </a:spcAft>
            </a:pPr>
            <a:r>
              <a:rPr sz="1250" b="0">
                <a:solidFill>
                  <a:srgbClr val="5B6573"/>
                </a:solidFill>
                <a:latin typeface="Arial"/>
              </a:rPr>
              <a:t>Assessed reporting-standard impacts on financial information quality.</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126</a:t>
            </a:r>
          </a:p>
        </p:txBody>
      </p:sp>
    </p:spTree>
  </p:cSld>
  <p:transition spd="slow">
    <p:fade/>
  </p:transition>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CURRENT SOURCE REGISTER · FULL LINKS IN LEARNER GUIDE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Selected Authoritative Sources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Course page</a:t>
            </a:r>
          </a:p>
          <a:p>
            <a:pPr algn="l">
              <a:spcAft>
                <a:spcPts val="400"/>
              </a:spcAft>
            </a:pPr>
            <a:r>
              <a:rPr sz="1250" b="0">
                <a:solidFill>
                  <a:srgbClr val="5B6573"/>
                </a:solidFill>
                <a:latin typeface="Arial"/>
              </a:rPr>
              <a:t>2 days/15 hours; LO1-LO3; published topics</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Intuit - bank rules</a:t>
            </a:r>
          </a:p>
          <a:p>
            <a:pPr algn="l">
              <a:spcAft>
                <a:spcPts val="400"/>
              </a:spcAft>
            </a:pPr>
            <a:r>
              <a:rPr sz="1250" b="0">
                <a:solidFill>
                  <a:srgbClr val="5B6573"/>
                </a:solidFill>
                <a:latin typeface="Arial"/>
              </a:rPr>
              <a:t>rule conditions, priority, review, auto-add</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Intuit - reconciliation</a:t>
            </a:r>
          </a:p>
          <a:p>
            <a:pPr algn="l">
              <a:spcAft>
                <a:spcPts val="400"/>
              </a:spcAft>
            </a:pPr>
            <a:r>
              <a:rPr sz="1250" b="0">
                <a:solidFill>
                  <a:srgbClr val="5B6573"/>
                </a:solidFill>
                <a:latin typeface="Arial"/>
              </a:rPr>
              <a:t>reconciliation purpose and prerequisites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Intuit - projects</a:t>
            </a:r>
          </a:p>
          <a:p>
            <a:pPr algn="l">
              <a:spcAft>
                <a:spcPts val="400"/>
              </a:spcAft>
            </a:pPr>
            <a:r>
              <a:rPr sz="1250" b="0">
                <a:solidFill>
                  <a:srgbClr val="5B6573"/>
                </a:solidFill>
                <a:latin typeface="Arial"/>
              </a:rPr>
              <a:t>project setup and profitability tracking</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127</a:t>
            </a:r>
          </a:p>
        </p:txBody>
      </p:sp>
    </p:spTree>
  </p:cSld>
  <p:transition spd="slow">
    <p:fade/>
  </p:transition>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COURSE FEEDBACK</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Course Feedback &amp; Certificate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Feedback</a:t>
            </a:r>
          </a:p>
          <a:p>
            <a:pPr algn="l">
              <a:spcAft>
                <a:spcPts val="400"/>
              </a:spcAft>
            </a:pPr>
            <a:r>
              <a:rPr sz="1250" b="0">
                <a:solidFill>
                  <a:srgbClr val="5B6573"/>
                </a:solidFill>
                <a:latin typeface="Arial"/>
              </a:rPr>
              <a:t>Complete the course feedback survey before you leave.</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Improve</a:t>
            </a:r>
          </a:p>
          <a:p>
            <a:pPr algn="l">
              <a:spcAft>
                <a:spcPts val="400"/>
              </a:spcAft>
            </a:pPr>
            <a:r>
              <a:rPr sz="1250" b="0">
                <a:solidFill>
                  <a:srgbClr val="5B6573"/>
                </a:solidFill>
                <a:latin typeface="Arial"/>
              </a:rPr>
              <a:t>Tell us what worked and what to improve — it shapes the next run.</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Support</a:t>
            </a:r>
          </a:p>
          <a:p>
            <a:pPr algn="l">
              <a:spcAft>
                <a:spcPts val="400"/>
              </a:spcAft>
            </a:pPr>
            <a:r>
              <a:rPr sz="1250" b="0">
                <a:solidFill>
                  <a:srgbClr val="5B6573"/>
                </a:solidFill>
                <a:latin typeface="Arial"/>
              </a:rPr>
              <a:t>Ask the trainer if you cannot open the survey or the course files.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Certificate</a:t>
            </a:r>
          </a:p>
          <a:p>
            <a:pPr algn="l">
              <a:spcAft>
                <a:spcPts val="400"/>
              </a:spcAft>
            </a:pPr>
            <a:r>
              <a:rPr sz="1250" b="0">
                <a:solidFill>
                  <a:srgbClr val="5B6573"/>
                </a:solidFill>
                <a:latin typeface="Arial"/>
              </a:rPr>
              <a:t>Your certificate of completion will be emailed to you after the course.</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128</a:t>
            </a:r>
          </a:p>
        </p:txBody>
      </p:sp>
    </p:spTree>
  </p:cSld>
  <p:transition spd="slow">
    <p:fade/>
  </p:transition>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91640"/>
            <a:ext cx="10241280" cy="320040"/>
          </a:xfrm>
          <a:prstGeom prst="rect">
            <a:avLst/>
          </a:prstGeom>
          <a:noFill/>
        </p:spPr>
        <p:txBody>
          <a:bodyPr wrap="square" anchor="t" lIns="54864" rIns="54864" tIns="54864" bIns="54864">
            <a:spAutoFit/>
          </a:bodyPr>
          <a:lstStyle/>
          <a:p>
            <a:pPr algn="l">
              <a:spcAft>
                <a:spcPts val="400"/>
              </a:spcAft>
            </a:pPr>
            <a:r>
              <a:rPr sz="1200" b="1">
                <a:solidFill>
                  <a:srgbClr val="008E8E"/>
                </a:solidFill>
                <a:latin typeface="Arial"/>
              </a:rPr>
              <a:t>QUESTIONS · SUPPORT · NEXT STEPS</a:t>
            </a:r>
          </a:p>
        </p:txBody>
      </p:sp>
      <p:sp>
        <p:nvSpPr>
          <p:cNvPr id="5" name="TextBox 4"/>
          <p:cNvSpPr txBox="1"/>
          <p:nvPr/>
        </p:nvSpPr>
        <p:spPr>
          <a:xfrm>
            <a:off x="914400" y="2194560"/>
            <a:ext cx="10241280" cy="1828800"/>
          </a:xfrm>
          <a:prstGeom prst="rect">
            <a:avLst/>
          </a:prstGeom>
          <a:noFill/>
        </p:spPr>
        <p:txBody>
          <a:bodyPr wrap="square" anchor="ctr" lIns="54864" rIns="54864" tIns="54864" bIns="54864">
            <a:spAutoFit/>
          </a:bodyPr>
          <a:lstStyle/>
          <a:p>
            <a:pPr algn="l">
              <a:spcAft>
                <a:spcPts val="400"/>
              </a:spcAft>
            </a:pPr>
            <a:r>
              <a:rPr sz="3500" b="1">
                <a:solidFill>
                  <a:srgbClr val="17242B"/>
                </a:solidFill>
                <a:latin typeface="Arial"/>
              </a:rPr>
              <a:t>Thank you</a:t>
            </a:r>
          </a:p>
        </p:txBody>
      </p:sp>
      <p:sp>
        <p:nvSpPr>
          <p:cNvPr id="6" name="TextBox 5"/>
          <p:cNvSpPr txBox="1"/>
          <p:nvPr/>
        </p:nvSpPr>
        <p:spPr>
          <a:xfrm>
            <a:off x="932688" y="4224528"/>
            <a:ext cx="9875520" cy="1325880"/>
          </a:xfrm>
          <a:prstGeom prst="rect">
            <a:avLst/>
          </a:prstGeom>
          <a:noFill/>
        </p:spPr>
        <p:txBody>
          <a:bodyPr wrap="square" anchor="t" lIns="54864" rIns="54864" tIns="54864" bIns="54864">
            <a:spAutoFit/>
          </a:bodyPr>
          <a:lstStyle/>
          <a:p>
            <a:pPr algn="l">
              <a:spcAft>
                <a:spcPts val="400"/>
              </a:spcAft>
            </a:pPr>
            <a:r>
              <a:rPr sz="1800" b="0">
                <a:solidFill>
                  <a:srgbClr val="5B6573"/>
                </a:solidFill>
                <a:latin typeface="Arial"/>
              </a:rPr>
              <a:t>Apply the control logic to a QuickBooks Online practice company, retain evidence, and escalate accounting or tax judgement when needed.</a:t>
            </a:r>
          </a:p>
        </p:txBody>
      </p:sp>
      <p:sp>
        <p:nvSpPr>
          <p:cNvPr id="7" name="TextBox 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QuickBooks Accounting Masterclass · C699</a:t>
            </a:r>
          </a:p>
        </p:txBody>
      </p:sp>
      <p:sp>
        <p:nvSpPr>
          <p:cNvPr id="8" name="TextBox 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9" name="TextBox 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129</a:t>
            </a:r>
          </a:p>
        </p:txBody>
      </p:sp>
    </p:spTree>
  </p:cSld>
  <p:transition spd="slow">
    <p:fade/>
  </p:transition>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QuickBooks Accounting Masterclass</dc:title>
  <dc:subject>C699</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